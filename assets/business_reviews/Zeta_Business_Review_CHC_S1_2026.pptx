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Budgeted HC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E-4F0E-A39A-C6CBA2D74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HC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26</c:v>
                </c:pt>
                <c:pt idx="2">
                  <c:v>40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0E-4F0E-A39A-C6CBA2D74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/ Head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</c:v>
                </c:pt>
                <c:pt idx="1">
                  <c:v>300</c:v>
                </c:pt>
                <c:pt idx="2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C-4927-AD7B-6EE2DFC34A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/ Head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240</c:v>
                </c:pt>
                <c:pt idx="1">
                  <c:v>250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C-4927-AD7B-6EE2DFC34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E915-4B05-8EB5-3FB2BCEA4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915-4B05-8EB5-3FB2BCEA4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0F76-42FF-B9A8-1EA3D4FF66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0F76-42FF-B9A8-1EA3D4FF6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Index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4"/>
                <c:pt idx="0">
                  <c:v>Empacoza</c:v>
                </c:pt>
                <c:pt idx="1">
                  <c:v>Empacoza Plus</c:v>
                </c:pt>
                <c:pt idx="2">
                  <c:v>Empacoza Trio</c:v>
                </c:pt>
                <c:pt idx="3">
                  <c:v>Empacompomet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</c:v>
                </c:pt>
                <c:pt idx="1">
                  <c:v>98</c:v>
                </c:pt>
                <c:pt idx="2">
                  <c:v>110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4-4DA3-BAD5-B3C5F8F7B8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 Growth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[COMPETITOR PRODUCT 1]</c:v>
                </c:pt>
                <c:pt idx="1">
                  <c:v>[COMPETITOR PRODUCT 2]</c:v>
                </c:pt>
                <c:pt idx="2">
                  <c:v>[COMPETITOR PRODUCT 3]</c:v>
                </c:pt>
                <c:pt idx="3">
                  <c:v>[COMPETITOR PRODUCT 4]</c:v>
                </c:pt>
                <c:pt idx="4">
                  <c:v>[COMPETITOR PRODUCT 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7-4E32-97A9-DC62E8F1DA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D3-4B61-B394-E71754974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D3-4B61-B394-E71754974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[PRODUCT 1]</c:v>
                </c:pt>
                <c:pt idx="1">
                  <c:v>[PRODUCT 2]</c:v>
                </c:pt>
                <c:pt idx="2">
                  <c:v>[PRODUCT 3]</c:v>
                </c:pt>
                <c:pt idx="3">
                  <c:v>[PRODUCT 4]</c:v>
                </c:pt>
                <c:pt idx="4">
                  <c:v>[PRODUCT 5]</c:v>
                </c:pt>
                <c:pt idx="5">
                  <c:v>[PRODUCT 6]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E-4687-9A7D-48ADD5AD91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A4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07-4A06-8D91-CB35DF65CA1F}"/>
              </c:ext>
            </c:extLst>
          </c:dPt>
          <c:dPt>
            <c:idx val="1"/>
            <c:bubble3D val="0"/>
            <c:spPr>
              <a:solidFill>
                <a:srgbClr val="A9BC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07-4A06-8D91-CB35DF65CA1F}"/>
              </c:ext>
            </c:extLst>
          </c:dPt>
          <c:dPt>
            <c:idx val="2"/>
            <c:bubble3D val="0"/>
            <c:spPr>
              <a:solidFill>
                <a:srgbClr val="C2D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07-4A06-8D91-CB35DF65CA1F}"/>
              </c:ext>
            </c:extLst>
          </c:dPt>
          <c:dPt>
            <c:idx val="3"/>
            <c:bubble3D val="0"/>
            <c:spPr>
              <a:solidFill>
                <a:srgbClr val="DAE3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07-4A06-8D91-CB35DF65CA1F}"/>
              </c:ext>
            </c:extLst>
          </c:dPt>
          <c:dPt>
            <c:idx val="4"/>
            <c:bubble3D val="0"/>
            <c:spPr>
              <a:solidFill>
                <a:srgbClr val="EDF1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07-4A06-8D91-CB35DF65CA1F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07-4A06-8D91-CB35DF65C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7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8C-43C3-A22E-DDFC46783348}"/>
              </c:ext>
            </c:extLst>
          </c:dPt>
          <c:dPt>
            <c:idx val="1"/>
            <c:bubble3D val="0"/>
            <c:spPr>
              <a:solidFill>
                <a:srgbClr val="1E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8C-43C3-A22E-DDFC46783348}"/>
              </c:ext>
            </c:extLst>
          </c:dPt>
          <c:dPt>
            <c:idx val="2"/>
            <c:bubble3D val="0"/>
            <c:spPr>
              <a:solidFill>
                <a:srgbClr val="5C7F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8C-43C3-A22E-DDFC46783348}"/>
              </c:ext>
            </c:extLst>
          </c:dPt>
          <c:dPt>
            <c:idx val="3"/>
            <c:bubble3D val="0"/>
            <c:spPr>
              <a:solidFill>
                <a:srgbClr val="7CC7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8C-43C3-A22E-DDFC46783348}"/>
              </c:ext>
            </c:extLst>
          </c:dPt>
          <c:dPt>
            <c:idx val="4"/>
            <c:bubble3D val="0"/>
            <c:spPr>
              <a:solidFill>
                <a:srgbClr val="D3DC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8C-43C3-A22E-DDFC46783348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8C-43C3-A22E-DDFC46783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Utilization %</c:v>
                </c:pt>
              </c:strCache>
            </c:strRef>
          </c:tx>
          <c:spPr>
            <a:solidFill>
              <a:srgbClr val="7CC7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8-4085-BBC1-7FD19C47C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B8-4085-BBC1-7FD19C47C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90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every [BRACKETED] field with BU-specific detail. Do not add data to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dashboard. Every tile is a placeholder. Set the status dot colour manually against agreed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or delete boxes to match the real BU structure. Dashed red outline = vacant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vacancy directly to coverage and sales gap. Do not present vacancy as an HR statistic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Succession is a risk slide, not an HR formality. Name the positions where a single departure would damage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management question is whether sales moved because of more people or better people. Answer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IQVIA Standard Units throughout this section. Never mix value and unit measures on one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share is the external verdict on the BU. Every red status must reappear in the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 separates real performance from market drift. A growing product in a faster-growing market is still 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competitors by their contribution to market growth, not by their absolute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monthly gaps to the People and Customer sections. A gap in one month usually has an execution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heatmap row-wise for product health and column-wise for line capability. A single red column is a coaching issue; a single red row is a product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Cross-check this slide against slide 10. Internal achievement and market share should tell a consistent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dependency is a strategic risk. Quantify it rather than describing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= data and diagnosis. This slide = insight and decision. Show four to six bars per chart, not the full class or specialty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covered customer contacted below the required frequency is a cost without a return. Name the specific classes and specialties.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one question: where exactly do we redirect field-force effort in S2 2026. Coverage tells us who we reached; RF tells us whether it counted; this tells us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redefine static and dynamic budget. Compare utilization against achievement, never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of this slide is a reallocation decision. Name the products that lose budget and the products that gain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treat the pillars as separate reports. The CEO is looking for the causal chain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action needs a single named owner. Shared ownership means no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commitments, not thanks. Three to five commitments, each measurable and 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637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755648" cy="813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 | 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248716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5295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Root Causes and S2 2026 Commitments  |  Presented to the Chief Executive Officer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69264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56432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02736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Mohamed El-Sayed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9904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36208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NAME]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69680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 MONTH 2026]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5989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management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performance at a glance across the four management pillars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HEADCOUNT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49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51328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1792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851328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44007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1792" y="354065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/ HEAD VS TARGET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792" y="373267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EGP vs 8K EGP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2851328" y="3568086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63392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46272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63392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482264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ACHIEVEMENT 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82264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711800" y="181051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63392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482264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SHARE Ach%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82264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[102.3 %]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711800" y="2688336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63392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482264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CHANGE VS LY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82264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[+/- MS PTS]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5711800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63392" y="4315968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482264" y="4416552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482264" y="4608576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[EI]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711800" y="4443984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23864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6744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223864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6342736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342736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[95.8%]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8572271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23864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342736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%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342736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[80.5%]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8572271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23864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6342736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BELOW RIGHT FREQUENCY 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342736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[AB1] of [AA2]</a:t>
            </a:r>
            <a:endParaRPr lang="en-US" sz="1700" dirty="0"/>
          </a:p>
        </p:txBody>
      </p:sp>
      <p:sp>
        <p:nvSpPr>
          <p:cNvPr id="57" name="Shape 54"/>
          <p:cNvSpPr/>
          <p:nvPr/>
        </p:nvSpPr>
        <p:spPr>
          <a:xfrm>
            <a:off x="8572271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84335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67215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PROMO-BUDGET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9084335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9203207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9203207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EGP</a:t>
            </a:r>
            <a:endParaRPr lang="en-US" sz="1700" dirty="0"/>
          </a:p>
        </p:txBody>
      </p:sp>
      <p:sp>
        <p:nvSpPr>
          <p:cNvPr id="67" name="Shape 64"/>
          <p:cNvSpPr/>
          <p:nvPr/>
        </p:nvSpPr>
        <p:spPr>
          <a:xfrm>
            <a:off x="9084335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9203207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203207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 SPEND]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9084335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9203207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9203207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1700" dirty="0"/>
          </a:p>
        </p:txBody>
      </p:sp>
      <p:sp>
        <p:nvSpPr>
          <p:cNvPr id="73" name="Shape 70"/>
          <p:cNvSpPr/>
          <p:nvPr/>
        </p:nvSpPr>
        <p:spPr>
          <a:xfrm>
            <a:off x="11432743" y="356616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02920" y="521665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58368" y="51755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84248" y="521665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139696" y="51755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3191256" y="521665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346704" y="517550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Required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7315200" y="5175504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 is set manually by the BU against the agreed S1 2026 thresholds.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502920" y="5431536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40080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640080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one or two sentences on the single most important message of the semester]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6086704" y="5541264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9" name="Text 86"/>
          <p:cNvSpPr/>
          <p:nvPr/>
        </p:nvSpPr>
        <p:spPr>
          <a:xfrm>
            <a:off x="6205576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RISK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6205576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the one issue most likely to compromise the full-year result]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0" y="13716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02352" y="143560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Mohamed El-Sayed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02352" y="16093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989320" y="1828800"/>
            <a:ext cx="10973" cy="20116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029968"/>
            <a:ext cx="475488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7063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1]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7063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36676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5236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551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2]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52551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1188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6324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63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31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04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1]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404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349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7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90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2]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90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36676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1812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18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86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59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3]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59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10104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372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9445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[VACANT]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445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063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31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86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1]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386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386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349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17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72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2]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672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672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7818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86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7141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3]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141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141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0104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372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27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4]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9427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9427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502920" y="5413248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0080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640080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what the structure reveals about capacity]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6086704" y="5522976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2" name="Text 79"/>
          <p:cNvSpPr/>
          <p:nvPr/>
        </p:nvSpPr>
        <p:spPr>
          <a:xfrm>
            <a:off x="6205576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6205576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structural or recruitment decision required]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&amp; Vacancy Analysis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HC VS ACTIVE HC BY LINE</a:t>
            </a:r>
            <a:endParaRPr lang="en-US" sz="95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ns3:modId val="1557347207"/>
              </p:ext>
            </p:extLst>
          </p:nvPr>
        </p:nvGraphicFramePr>
        <p:xfrm>
          <a:off x="429768" y="2395728"/>
          <a:ext cx="5532120" cy="23774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8" name="Text 24"/>
          <p:cNvSpPr/>
          <p:nvPr/>
        </p:nvSpPr>
        <p:spPr>
          <a:xfrm>
            <a:off x="502920" y="4754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42" name="Shape 0">
            <a:extLst>
              <a:ext uri="{FF2B5EF4-FFF2-40B4-BE49-F238E27FC236}">
                <ns5:creationId id="{7F83BE89-027B-9199-03D4-34D382EF098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5:creationId id="{35B84C1F-4258-A712-0869-35542479AFA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&amp; Talent Readiness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MATRIX - KEY POSITIONS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572768"/>
          <a:ext cx="8275320" cy="230428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1325880">
                  <a:extLst>
                    <a:ext uri="{9D8B030D-6E8A-4147-A177-3AD203B41FA5}">
                      <ns4:colId val="20001"/>
                    </a:ext>
                  </a:extLst>
                </a:gridCol>
                <a:gridCol w="1325880">
                  <a:extLst>
                    <a:ext uri="{9D8B030D-6E8A-4147-A177-3AD203B41FA5}">
                      <ns4:colId val="20002"/>
                    </a:ext>
                  </a:extLst>
                </a:gridCol>
                <a:gridCol w="1417320">
                  <a:extLst>
                    <a:ext uri="{9D8B030D-6E8A-4147-A177-3AD203B41FA5}">
                      <ns4:colId val="20003"/>
                    </a:ext>
                  </a:extLst>
                </a:gridCol>
                <a:gridCol w="1371600">
                  <a:extLst>
                    <a:ext uri="{9D8B030D-6E8A-4147-A177-3AD203B41FA5}">
                      <ns4:colId val="20004"/>
                    </a:ext>
                  </a:extLst>
                </a:gridCol>
                <a:gridCol w="141732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Holder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NOW]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7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&lt; 1 YEAR]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1-2 YEARS]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 SUCCESSOR]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[READINESS]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5020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row per critical position. Readiness values: Ready Now / Ready &lt; 1 Year / Ready 1-2 Years / No Successor.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9052560" y="1572768"/>
            <a:ext cx="2633472" cy="1298448"/>
          </a:xfrm>
          <a:prstGeom prst="roundRect">
            <a:avLst>
              <a:gd name="adj" fmla="val 493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98864" y="1700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COVERAGE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198864" y="1938528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[COVERAGE %]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9198864" y="246888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critical positions have an identified successor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9052560" y="2980944"/>
            <a:ext cx="26334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98864" y="30906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POSITIONS WITHOUT SUCCESSOR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9235440" y="33832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A]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B]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C]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052560" y="413308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217152" y="422452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MIX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9217152" y="4443984"/>
            <a:ext cx="576072" cy="155448"/>
          </a:xfrm>
          <a:prstGeom prst="rect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93224" y="4443984"/>
            <a:ext cx="576072" cy="155448"/>
          </a:xfrm>
          <a:prstGeom prst="rect">
            <a:avLst/>
          </a:prstGeom>
          <a:solidFill>
            <a:srgbClr val="1078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369296" y="4443984"/>
            <a:ext cx="576072" cy="155448"/>
          </a:xfrm>
          <a:prstGeom prst="rect">
            <a:avLst/>
          </a:prstGeom>
          <a:solidFill>
            <a:srgbClr val="C98A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945368" y="4443984"/>
            <a:ext cx="576072" cy="155448"/>
          </a:xfrm>
          <a:prstGeom prst="rect">
            <a:avLst/>
          </a:prstGeom>
          <a:solidFill>
            <a:srgbClr val="B337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17152" y="46268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/ [N] / [N] / [N] positions across the four readiness bands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widths are illustrative - set them from the matrix.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0292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778508" y="4265676"/>
            <a:ext cx="109728" cy="109728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933956" y="42245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&lt; 1 Year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96996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52444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1-2 Years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84064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239512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Successor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4008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where is the organisation exposed?]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231538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7" name="Text 33"/>
          <p:cNvSpPr/>
          <p:nvPr/>
        </p:nvSpPr>
        <p:spPr>
          <a:xfrm>
            <a:off x="435041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35041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no development plan, no internal pipeline, external dependency]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41869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0" name="Text 36"/>
          <p:cNvSpPr/>
          <p:nvPr/>
        </p:nvSpPr>
        <p:spPr>
          <a:xfrm>
            <a:off x="8060741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8060741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development plan, targeted hire, retention measure for the position at risk]</a:t>
            </a:r>
            <a:endParaRPr lang="en-US" sz="1000" dirty="0"/>
          </a:p>
        </p:txBody>
      </p:sp>
      <p:sp>
        <p:nvSpPr>
          <p:cNvPr id="42" name="Shape 0">
            <a:extLst>
              <a:ext uri="{FF2B5EF4-FFF2-40B4-BE49-F238E27FC236}">
                <ns4:creationId id="{727BCC0C-71A9-58A2-F8D0-ED5B015D0AC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4:creationId id="{2E60DD39-0555-1688-90DC-A15FDBC14F8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per Head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16736"/>
            <a:ext cx="11185855" cy="566928"/>
          </a:xfrm>
          <a:prstGeom prst="roundRect">
            <a:avLst>
              <a:gd name="adj" fmla="val 1129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417320"/>
            <a:ext cx="10783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Productivity / Head  =  Actual Sales ÷ Active Headcount</a:t>
            </a:r>
            <a:r>
              <a:rPr lang="en-US" sz="11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Productivity / Head  =  Target Sales ÷ Budgeted Headcount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PRODUCTIVITY PER HEAD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ns3:modId val="1692972305"/>
              </p:ext>
            </p:extLst>
          </p:nvPr>
        </p:nvGraphicFramePr>
        <p:xfrm>
          <a:off x="429768" y="2267712"/>
          <a:ext cx="5989320" cy="248716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4791456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76656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BY LINE VS LAST YEAR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2267712"/>
          <a:ext cx="4919472" cy="1865376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ns5:colId val="20000"/>
                    </a:ext>
                  </a:extLst>
                </a:gridCol>
                <a:gridCol w="749808">
                  <a:extLst>
                    <a:ext uri="{9D8B030D-6E8A-4147-A177-3AD203B41FA5}">
                      <ns5:colId val="20001"/>
                    </a:ext>
                  </a:extLst>
                </a:gridCol>
                <a:gridCol w="749808">
                  <a:extLst>
                    <a:ext uri="{9D8B030D-6E8A-4147-A177-3AD203B41FA5}">
                      <ns5:colId val="20002"/>
                    </a:ext>
                  </a:extLst>
                </a:gridCol>
                <a:gridCol w="749808">
                  <a:extLst>
                    <a:ext uri="{9D8B030D-6E8A-4147-A177-3AD203B41FA5}">
                      <ns5:colId val="20003"/>
                    </a:ext>
                  </a:extLst>
                </a:gridCol>
                <a:gridCol w="768096">
                  <a:extLst>
                    <a:ext uri="{9D8B030D-6E8A-4147-A177-3AD203B41FA5}">
                      <ns5:colId val="20004"/>
                    </a:ext>
                  </a:extLst>
                </a:gridCol>
                <a:gridCol w="822960">
                  <a:extLst>
                    <a:ext uri="{9D8B030D-6E8A-4147-A177-3AD203B41FA5}">
                      <ns5:colId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CHC_SALES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[ON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[BAND]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766560" y="42839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22008" y="42428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Productivity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8590788" y="42839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746236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9866376" y="4283964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21824" y="42428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625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008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performance driven by headcount, by productivity, or by both?]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231538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435041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35041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941869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7" name="Text 22"/>
          <p:cNvSpPr/>
          <p:nvPr/>
        </p:nvSpPr>
        <p:spPr>
          <a:xfrm>
            <a:off x="8060741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060741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risk if high productivity is being delivered by an under-staffed team]</a:t>
            </a:r>
            <a:endParaRPr lang="en-US" sz="1000" dirty="0"/>
          </a:p>
        </p:txBody>
      </p:sp>
      <p:sp>
        <p:nvSpPr>
          <p:cNvPr id="29" name="Shape 0">
            <a:extLst>
              <a:ext uri="{FF2B5EF4-FFF2-40B4-BE49-F238E27FC236}">
                <ns5:creationId id="{FE1CA3C2-AA17-C3AB-D476-591CA14C690D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ns5:creationId id="{B364F9C3-D9BD-F747-03FF-8DA22E3F751A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Standard Units  |  S1 2026 versus S1 2025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(SU)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18.5M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45104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63976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63976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87288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6160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6160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029471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8343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GROWTH 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8343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EVOLUTION - STANDARD UNITS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ns3:modId val="1407332468"/>
              </p:ext>
            </p:extLst>
          </p:nvPr>
        </p:nvGraphicFramePr>
        <p:xfrm>
          <a:off x="429768" y="2450592"/>
          <a:ext cx="5577840" cy="22402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46725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49224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COMPARISON - MARKET VS COMPANY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92240" y="4653813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492240" y="4797712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market trends:  [TREND 1]  ·  [TREND 2]  ·  [TREND 3]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02920" y="5010912"/>
            <a:ext cx="11185855" cy="1042416"/>
          </a:xfrm>
          <a:prstGeom prst="roundRect">
            <a:avLst>
              <a:gd name="adj" fmla="val 614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DYNAMICS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40080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moved the market: volume, new entrants, pricing, tenders, regulation]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86704" y="5120640"/>
            <a:ext cx="7315" cy="82296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2" name="Text 27"/>
          <p:cNvSpPr/>
          <p:nvPr/>
        </p:nvSpPr>
        <p:spPr>
          <a:xfrm>
            <a:off x="6205576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205576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this means for the BU in S2 2026]</a:t>
            </a:r>
            <a:endParaRPr lang="en-US" sz="1000" dirty="0"/>
          </a:p>
        </p:txBody>
      </p:sp>
      <p:graphicFrame>
        <p:nvGraphicFramePr>
          <p:cNvPr id="34" name="Chart 0">
            <a:extLst>
              <a:ext uri="{FF2B5EF4-FFF2-40B4-BE49-F238E27FC236}">
                <ns5:creationId id="{412D1578-C4DE-A8B9-E989-E7816D384FCA}"/>
              </a:ext>
            </a:extLst>
          </p:cNvPr>
          <p:cNvGraphicFramePr/>
          <p:nvPr>
            <p:extLst>
              <p:ext uri="{D42A27DB-BD31-4B8C-83A1-F6EECF244321}">
                <ns3:modId val="2470900072"/>
              </p:ext>
            </p:extLst>
          </p:nvPr>
        </p:nvGraphicFramePr>
        <p:xfrm>
          <a:off x="6097454" y="2448986"/>
          <a:ext cx="5577840" cy="2240280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Performance by Product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11183112" cy="288950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4:colId val="20000"/>
                    </a:ext>
                  </a:extLst>
                </a:gridCol>
                <a:gridCol w="1600200">
                  <a:extLst>
                    <a:ext uri="{9D8B030D-6E8A-4147-A177-3AD203B41FA5}">
                      <ns4:colId val="20001"/>
                    </a:ext>
                  </a:extLst>
                </a:gridCol>
                <a:gridCol w="1188720">
                  <a:extLst>
                    <a:ext uri="{9D8B030D-6E8A-4147-A177-3AD203B41FA5}">
                      <ns4:colId val="20002"/>
                    </a:ext>
                  </a:extLst>
                </a:gridCol>
                <a:gridCol w="1463040">
                  <a:extLst>
                    <a:ext uri="{9D8B030D-6E8A-4147-A177-3AD203B41FA5}">
                      <ns4:colId val="20003"/>
                    </a:ext>
                  </a:extLst>
                </a:gridCol>
                <a:gridCol w="1463040">
                  <a:extLst>
                    <a:ext uri="{9D8B030D-6E8A-4147-A177-3AD203B41FA5}">
                      <ns4:colId val="20004"/>
                    </a:ext>
                  </a:extLst>
                </a:gridCol>
                <a:gridCol w="1280160">
                  <a:extLst>
                    <a:ext uri="{9D8B030D-6E8A-4147-A177-3AD203B41FA5}">
                      <ns4:colId val="20005"/>
                    </a:ext>
                  </a:extLst>
                </a:gridCol>
                <a:gridCol w="1417320">
                  <a:extLst>
                    <a:ext uri="{9D8B030D-6E8A-4147-A177-3AD203B41FA5}">
                      <ns4:colId val="20006"/>
                    </a:ext>
                  </a:extLst>
                </a:gridCol>
                <a:gridCol w="1170432">
                  <a:extLst>
                    <a:ext uri="{9D8B030D-6E8A-4147-A177-3AD203B41FA5}">
                      <ns4:colId val="20007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/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MS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Actual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Change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[GAINING]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[BELOW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[LOSING]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48513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4439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share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052828" y="448513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2208276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534156" y="448513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89604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share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949440" y="444398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shading bands the two variance columns. Apply the BU's own thresholds.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02920" y="4828032"/>
            <a:ext cx="11185855" cy="1225296"/>
          </a:xfrm>
          <a:prstGeom prst="roundRect">
            <a:avLst>
              <a:gd name="adj" fmla="val 522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008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drive the share picture, positively and negatively?]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31538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5"/>
          <p:cNvSpPr/>
          <p:nvPr/>
        </p:nvSpPr>
        <p:spPr>
          <a:xfrm>
            <a:off x="435041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5041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promotion, coverage, supply, competitor entry, pricing]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41869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8"/>
          <p:cNvSpPr/>
          <p:nvPr/>
        </p:nvSpPr>
        <p:spPr>
          <a:xfrm>
            <a:off x="8060741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060741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defend, invest, reposition or de-prioritise]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4:creationId id="{9FC556F9-B19D-1828-CD0A-AD2F800CE532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4:creationId id="{114C09FD-F654-5032-EC4E-A030B10ABA77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 by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standard EI methodology  |  product growth indexed against market growth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RANKING - PRODUCTS ORDERED BY MOMENTUM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ns3:modId val="3088356421"/>
              </p:ext>
            </p:extLst>
          </p:nvPr>
        </p:nvGraphicFramePr>
        <p:xfrm>
          <a:off x="429768" y="1645920"/>
          <a:ext cx="5989320" cy="299923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62686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products descending by EI and add a reference marker at 100.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76656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DECOMPOSITION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1645920"/>
          <a:ext cx="4919472" cy="2144268"/>
        </p:xfrm>
        <a:graphic>
          <a:graphicData uri="http://schemas.openxmlformats.org/drawingml/2006/table">
            <a:tbl>
              <a:tblPr/>
              <a:tblGrid>
                <a:gridCol w="1444752">
                  <a:extLst>
                    <a:ext uri="{9D8B030D-6E8A-4147-A177-3AD203B41FA5}">
                      <ns5:colId val="20000"/>
                    </a:ext>
                  </a:extLst>
                </a:gridCol>
                <a:gridCol w="1234440">
                  <a:extLst>
                    <a:ext uri="{9D8B030D-6E8A-4147-A177-3AD203B41FA5}">
                      <ns5:colId val="20001"/>
                    </a:ext>
                  </a:extLst>
                </a:gridCol>
                <a:gridCol w="1234440">
                  <a:extLst>
                    <a:ext uri="{9D8B030D-6E8A-4147-A177-3AD203B41FA5}">
                      <ns5:colId val="20002"/>
                    </a:ext>
                  </a:extLst>
                </a:gridCol>
                <a:gridCol w="1005840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6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803136" y="3959352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004304" y="3913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&gt;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Outperforming the market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803136" y="4224528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004304" y="4178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=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the market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03136" y="4489704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004304" y="44439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&lt;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the market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40080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are we gaining or losing momentum?]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6704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3" name="Text 18"/>
          <p:cNvSpPr/>
          <p:nvPr/>
        </p:nvSpPr>
        <p:spPr>
          <a:xfrm>
            <a:off x="6205576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205576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earn additional investment and which require corrective action in S2 2026?]</a:t>
            </a:r>
            <a:endParaRPr lang="en-US" sz="1000" dirty="0"/>
          </a:p>
        </p:txBody>
      </p:sp>
      <p:sp>
        <p:nvSpPr>
          <p:cNvPr id="25" name="Shape 0">
            <a:extLst>
              <a:ext uri="{FF2B5EF4-FFF2-40B4-BE49-F238E27FC236}">
                <ns5:creationId id="{D47C4C67-7C9E-D4B2-9436-261006D3F2D0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ns5:creationId id="{23F90982-4712-450D-7D34-5E2012AD665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growing competitor products in the relevant markets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PRODUCT GROWTH - STANDARD UNITS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45920"/>
          <a:ext cx="5806440" cy="27614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3891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58368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RANKING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6583680" y="1645920"/>
          <a:ext cx="5102352" cy="2204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ns5:colId val="20000"/>
                    </a:ext>
                  </a:extLst>
                </a:gridCol>
                <a:gridCol w="960120">
                  <a:extLst>
                    <a:ext uri="{9D8B030D-6E8A-4147-A177-3AD203B41FA5}">
                      <ns5:colId val="20001"/>
                    </a:ext>
                  </a:extLst>
                </a:gridCol>
                <a:gridCol w="1051560">
                  <a:extLst>
                    <a:ext uri="{9D8B030D-6E8A-4147-A177-3AD203B41FA5}">
                      <ns5:colId val="20002"/>
                    </a:ext>
                  </a:extLst>
                </a:gridCol>
                <a:gridCol w="1353312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Movement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to Market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0" y="3931920"/>
            <a:ext cx="510235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766560" y="401421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COMPETITIVE PRESSURE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one or two competitor products creating the greatest pressure on the BU portfolio]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02920" y="4626864"/>
            <a:ext cx="11185855" cy="1426464"/>
          </a:xfrm>
          <a:prstGeom prst="roundRect">
            <a:avLst>
              <a:gd name="adj" fmla="val 448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4008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competitor moves explain our share loss or gain?]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31538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4"/>
          <p:cNvSpPr/>
          <p:nvPr/>
        </p:nvSpPr>
        <p:spPr>
          <a:xfrm>
            <a:off x="435041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35041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new launch, price move, share of voice, access, tender win]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941869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7"/>
          <p:cNvSpPr/>
          <p:nvPr/>
        </p:nvSpPr>
        <p:spPr>
          <a:xfrm>
            <a:off x="8060741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060741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[Defensive or offensive response for S2 2026]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5:creationId id="{055A175C-6526-1166-A1CE-58DD6B54DB1C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5:creationId id="{2718EA93-4F93-235D-A035-37CC5663EA4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TARGET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369K EGP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776667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95539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ACTUAL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95539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50414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9286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69286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85249" y="146304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24161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43033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S1 2025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43033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158996" y="146304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97908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16780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TARGET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16780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-302K EGP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1432743" y="146304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- TARGET VS ACTUAL, JANUARY TO JUNE 2026</a:t>
            </a:r>
            <a:endParaRPr lang="en-US" sz="9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29768" y="2432304"/>
          <a:ext cx="7589520" cy="239572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480974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36676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MAJOR GAPS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8366760" y="2432304"/>
          <a:ext cx="3319272" cy="12435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ns5:colId val="20000"/>
                    </a:ext>
                  </a:extLst>
                </a:gridCol>
                <a:gridCol w="1005840">
                  <a:extLst>
                    <a:ext uri="{9D8B030D-6E8A-4147-A177-3AD203B41FA5}">
                      <ns5:colId val="20001"/>
                    </a:ext>
                  </a:extLst>
                </a:gridCol>
                <a:gridCol w="1005840">
                  <a:extLst>
                    <a:ext uri="{9D8B030D-6E8A-4147-A177-3AD203B41FA5}">
                      <ns5:colId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8366760" y="3749040"/>
            <a:ext cx="331927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531352" y="384048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GAP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[Explain the specific months that broke the trend and the reason: supply, vacancy, tender timing, competitor action]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6" name="Text 31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9" name="Text 34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  <p:sp>
        <p:nvSpPr>
          <p:cNvPr id="41" name="Shape 0">
            <a:extLst>
              <a:ext uri="{FF2B5EF4-FFF2-40B4-BE49-F238E27FC236}">
                <ns5:creationId id="{855DDA54-D964-1510-8F5D-37B22D2310CC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Line / Team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PERFORMANCE - RANKED BY ACHIEVEMENT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ns3:modId val="4599776"/>
              </p:ext>
            </p:extLst>
          </p:nvPr>
        </p:nvGraphicFramePr>
        <p:xfrm>
          <a:off x="502920" y="1591056"/>
          <a:ext cx="5532120" cy="1810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ns4:colId val="20000"/>
                    </a:ext>
                  </a:extLst>
                </a:gridCol>
                <a:gridCol w="868680">
                  <a:extLst>
                    <a:ext uri="{9D8B030D-6E8A-4147-A177-3AD203B41FA5}">
                      <ns4:colId val="20001"/>
                    </a:ext>
                  </a:extLst>
                </a:gridCol>
                <a:gridCol w="868680">
                  <a:extLst>
                    <a:ext uri="{9D8B030D-6E8A-4147-A177-3AD203B41FA5}">
                      <ns4:colId val="20002"/>
                    </a:ext>
                  </a:extLst>
                </a:gridCol>
                <a:gridCol w="868680">
                  <a:extLst>
                    <a:ext uri="{9D8B030D-6E8A-4147-A177-3AD203B41FA5}">
                      <ns4:colId val="20003"/>
                    </a:ext>
                  </a:extLst>
                </a:gridCol>
                <a:gridCol w="868680">
                  <a:extLst>
                    <a:ext uri="{9D8B030D-6E8A-4147-A177-3AD203B41FA5}">
                      <ns4:colId val="20004"/>
                    </a:ext>
                  </a:extLst>
                </a:gridCol>
                <a:gridCol w="82296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/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CHC_SALES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529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TOTAL BU SALES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2920" y="3749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600200" y="379476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600200" y="3794760"/>
            <a:ext cx="1196950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93792" y="3749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400507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00200" y="4050792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600200" y="4050792"/>
            <a:ext cx="950519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8" name="Text 13"/>
          <p:cNvSpPr/>
          <p:nvPr/>
        </p:nvSpPr>
        <p:spPr>
          <a:xfrm>
            <a:off x="5193792" y="40050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42611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600200" y="4306824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600200" y="4306824"/>
            <a:ext cx="774497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42611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02920" y="451713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600200" y="4562856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00200" y="4562856"/>
            <a:ext cx="598475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93792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02920" y="479145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are illustrative. Set each line's share of total BU sales.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35508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HEATMAP - PRODUCTS × LINES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84555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880567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76579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72591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355080" y="19568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86384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4555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882396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80567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9784080" y="19751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76579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10744200" y="19751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072591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355080" y="23225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786384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4555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882396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80567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978408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76579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1074420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072591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6355080" y="26883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786384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84555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8823960" y="270662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80567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9784080" y="270662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76579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1074420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072591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6355080" y="30540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7863840" y="307238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84555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8823960" y="307238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80567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978408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76579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1074420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1072591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6355080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5]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786384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784555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8823960" y="343814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80567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978408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76579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1074420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072591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6355080" y="37856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6]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786384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84555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8823960" y="38039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80567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2" name="Shape 78"/>
          <p:cNvSpPr/>
          <p:nvPr/>
        </p:nvSpPr>
        <p:spPr>
          <a:xfrm>
            <a:off x="978408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76579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4" name="Shape 80"/>
          <p:cNvSpPr/>
          <p:nvPr/>
        </p:nvSpPr>
        <p:spPr>
          <a:xfrm>
            <a:off x="10744200" y="38039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1072591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6" name="Shape 82"/>
          <p:cNvSpPr/>
          <p:nvPr/>
        </p:nvSpPr>
        <p:spPr>
          <a:xfrm>
            <a:off x="635508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510528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7836408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7991856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9111996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9267444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92" name="Text 88"/>
          <p:cNvSpPr/>
          <p:nvPr/>
        </p:nvSpPr>
        <p:spPr>
          <a:xfrm>
            <a:off x="6355080" y="446227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 is illustrative. Band each cell against the BU's achievement thresholds.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6355080" y="470001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answers a question neither table can: whether a weak product is weak everywhere, or weak on one line only.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96" name="Text 92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result carried by one line, or delivered broadly across the organisation?]</a:t>
            </a:r>
            <a:endParaRPr lang="en-US" sz="1000" dirty="0"/>
          </a:p>
        </p:txBody>
      </p:sp>
      <p:sp>
        <p:nvSpPr>
          <p:cNvPr id="97" name="Shape 93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98" name="Text 94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99" name="Text 95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vacancy, capability, territory potential, target setting]</a:t>
            </a:r>
            <a:endParaRPr lang="en-US" sz="1000" dirty="0"/>
          </a:p>
        </p:txBody>
      </p:sp>
      <p:sp>
        <p:nvSpPr>
          <p:cNvPr id="100" name="Shape 96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01" name="Text 97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02" name="Text 98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coaching, target rebalancing, resource shift between lines]</a:t>
            </a:r>
            <a:endParaRPr lang="en-US" sz="1000" dirty="0"/>
          </a:p>
        </p:txBody>
      </p:sp>
      <p:sp>
        <p:nvSpPr>
          <p:cNvPr id="103" name="Shape 0">
            <a:extLst>
              <a:ext uri="{FF2B5EF4-FFF2-40B4-BE49-F238E27FC236}">
                <ns4:creationId id="{72A77AE2-5D01-4AE9-F4A8-81E28AC7762A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04" name="Text 0">
            <a:extLst>
              <a:ext uri="{FF2B5EF4-FFF2-40B4-BE49-F238E27FC236}">
                <ns4:creationId id="{D06D2B2D-5575-BD7C-A159-6C26214ED881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c="http://schemas.openxmlformats.org/drawingml/2006/chart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7086600" cy="2743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932688">
                  <a:extLst>
                    <a:ext uri="{9D8B030D-6E8A-4147-A177-3AD203B41FA5}">
                      <ns4:colId val="20001"/>
                    </a:ext>
                  </a:extLst>
                </a:gridCol>
                <a:gridCol w="932688">
                  <a:extLst>
                    <a:ext uri="{9D8B030D-6E8A-4147-A177-3AD203B41FA5}">
                      <ns4:colId val="20002"/>
                    </a:ext>
                  </a:extLst>
                </a:gridCol>
                <a:gridCol w="859536">
                  <a:extLst>
                    <a:ext uri="{9D8B030D-6E8A-4147-A177-3AD203B41FA5}">
                      <ns4:colId val="20003"/>
                    </a:ext>
                  </a:extLst>
                </a:gridCol>
                <a:gridCol w="1060704">
                  <a:extLst>
                    <a:ext uri="{9D8B030D-6E8A-4147-A177-3AD203B41FA5}">
                      <ns4:colId val="20004"/>
                    </a:ext>
                  </a:extLst>
                </a:gridCol>
                <a:gridCol w="1060704">
                  <a:extLst>
                    <a:ext uri="{9D8B030D-6E8A-4147-A177-3AD203B41FA5}">
                      <ns4:colId val="20005"/>
                    </a:ext>
                  </a:extLst>
                </a:gridCol>
                <a:gridCol w="822960">
                  <a:extLst>
                    <a:ext uri="{9D8B030D-6E8A-4147-A177-3AD203B41FA5}">
                      <ns4:colId val="2000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DOZOVA ASHWAGANDA 600 MG 60 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DOZOVA MELATONIN 5 MG 60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DOZOVA WOMEN MAX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DOZOVA Q10 COENZYME 30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DOZOVA MELATONIN 5 MG 30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DOZOVA MAN MAX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DOZOVA NAD 30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RANKING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744968" y="1591056"/>
          <a:ext cx="3977640" cy="245059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5"/>
          <p:cNvSpPr/>
          <p:nvPr/>
        </p:nvSpPr>
        <p:spPr>
          <a:xfrm>
            <a:off x="781812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descending by achievement.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20624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121408" y="42473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76856" y="42062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259836" y="42473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7" name="Text 11"/>
          <p:cNvSpPr/>
          <p:nvPr/>
        </p:nvSpPr>
        <p:spPr>
          <a:xfrm>
            <a:off x="3415284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attention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02920" y="4443984"/>
            <a:ext cx="11185855" cy="1609344"/>
          </a:xfrm>
          <a:prstGeom prst="roundRect">
            <a:avLst>
              <a:gd name="adj" fmla="val 397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4008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carried the semester and which destroyed value?]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31538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6"/>
          <p:cNvSpPr/>
          <p:nvPr/>
        </p:nvSpPr>
        <p:spPr>
          <a:xfrm>
            <a:off x="435041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35041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per under-performing product]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41869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8060741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060741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reallocate effort, revise target, review promotional support, address supply]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4:creationId id="{8A1B3477-A595-F3AD-A89E-F7B808C92FC4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4:creationId id="{2F75E294-B73C-EA07-2077-CFA0EA699EE5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 |  S1 2025 versus S1 2026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2025 CONTRIBUTION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82496"/>
          <a:ext cx="3520440" cy="23042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1605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CONTRIBUTION</a:t>
            </a:r>
            <a:endParaRPr lang="en-US" sz="9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087368" y="1682496"/>
          <a:ext cx="3520440" cy="2304288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502920" y="402336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Equal segments are placeholders. Replace with the real portfolio mix.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7882128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SHIFT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7882128" y="1682496"/>
          <a:ext cx="3803904" cy="18379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ns5:colId val="20000"/>
                    </a:ext>
                  </a:extLst>
                </a:gridCol>
                <a:gridCol w="822960">
                  <a:extLst>
                    <a:ext uri="{9D8B030D-6E8A-4147-A177-3AD203B41FA5}">
                      <ns5:colId val="20001"/>
                    </a:ext>
                  </a:extLst>
                </a:gridCol>
                <a:gridCol w="822960">
                  <a:extLst>
                    <a:ext uri="{9D8B030D-6E8A-4147-A177-3AD203B41FA5}">
                      <ns5:colId val="20002"/>
                    </a:ext>
                  </a:extLst>
                </a:gridCol>
                <a:gridCol w="877824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DOZOVA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[BRAND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[BRAND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[BRAND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7882128" y="3621024"/>
            <a:ext cx="3803904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046720" y="37124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CHECK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 = [%] of BU sales  ·  Top 3 brands = [%]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02920" y="4517136"/>
            <a:ext cx="11185855" cy="1536192"/>
          </a:xfrm>
          <a:prstGeom prst="roundRect">
            <a:avLst>
              <a:gd name="adj" fmla="val 416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40080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[Has the portfolio mix moved materially, and in which direction?]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86704" y="4626864"/>
            <a:ext cx="7315" cy="13167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5"/>
          <p:cNvSpPr/>
          <p:nvPr/>
        </p:nvSpPr>
        <p:spPr>
          <a:xfrm>
            <a:off x="6205576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05576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becoming over-dependent on a small number of brands, and what is the risk if one of them is disrupted?]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5:creationId id="{F7DFCBA5-3CEB-3493-B311-4DC362A827DD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5:creationId id="{1636223D-F070-B49C-EA17-096F5EF97A17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0949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Coverage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the right customers across our priority classes and specialties?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the classes and specialties that carry a management message: highest performing, lowest performing, strategically important, or holding a material coverage gap. The Commercial Excellence Dashboard holds the complete list; this slide carries the decision.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CLASS - RANKED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27632" y="2898648"/>
            <a:ext cx="285658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27632" y="3227832"/>
            <a:ext cx="240212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27632" y="3557016"/>
            <a:ext cx="2012594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27632" y="3886200"/>
            <a:ext cx="155813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627632" y="4215384"/>
            <a:ext cx="1136142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SPECIALTY - RANKED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0" y="2898648"/>
            <a:ext cx="271576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80960" y="3227832"/>
            <a:ext cx="2293315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80960" y="3557016"/>
            <a:ext cx="1931213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680960" y="3886200"/>
            <a:ext cx="1357884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680960" y="4215384"/>
            <a:ext cx="965606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2" name="Shape 59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8368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target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39572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51176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target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28853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443984" y="455371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coverage gap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BU's coverage target.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the most important coverage gap - which class or specialty, and how much business does it represent?]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3" name="Text 70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what is driving the gap: vacancy, territory design, list quality, access, target-list accuracy]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6" name="Text 73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coverage should be increased, and where strong coverage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covered customers with the required call frequency?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RIGHT FREQUENCY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major RF gaps, the priority classes and specialties, and the areas where execution is strong enough to be worth protecting. Coverage answers whether we reached the customer; right frequency answers whether we engaged them enough to matter.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CLASS - RANKED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27632" y="2898648"/>
            <a:ext cx="2791663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27632" y="3227832"/>
            <a:ext cx="233720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27632" y="3557016"/>
            <a:ext cx="1882750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27632" y="3886200"/>
            <a:ext cx="1330909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27632" y="4215384"/>
            <a:ext cx="94137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SPECIALTY - RANKED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80960" y="2898648"/>
            <a:ext cx="265541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80960" y="3227832"/>
            <a:ext cx="214243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680960" y="3557016"/>
            <a:ext cx="1659636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80960" y="3886200"/>
            <a:ext cx="114665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680960" y="4215384"/>
            <a:ext cx="78455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8368" y="4553712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required frequency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294436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099816" y="455371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required frequency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524865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04104" y="4553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RF gap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required frequency standard.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frequency execution weakest, and where is it strong enough to protect?]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2" name="Text 69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call planning, field capacity, territory size, vacancy, list quality, execution discipline]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5" name="Text 72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call frequency must be corrected, and where it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Customer Execution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field-force effort be redirected during S2 2026?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02920" y="1389888"/>
          <a:ext cx="11164824" cy="268833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ns3:colId val="20000"/>
                    </a:ext>
                  </a:extLst>
                </a:gridCol>
                <a:gridCol w="1005840">
                  <a:extLst>
                    <a:ext uri="{9D8B030D-6E8A-4147-A177-3AD203B41FA5}">
                      <ns3:colId val="20001"/>
                    </a:ext>
                  </a:extLst>
                </a:gridCol>
                <a:gridCol w="1051560">
                  <a:extLst>
                    <a:ext uri="{9D8B030D-6E8A-4147-A177-3AD203B41FA5}">
                      <ns3:colId val="20002"/>
                    </a:ext>
                  </a:extLst>
                </a:gridCol>
                <a:gridCol w="960120">
                  <a:extLst>
                    <a:ext uri="{9D8B030D-6E8A-4147-A177-3AD203B41FA5}">
                      <ns3:colId val="20003"/>
                    </a:ext>
                  </a:extLst>
                </a:gridCol>
                <a:gridCol w="1417320">
                  <a:extLst>
                    <a:ext uri="{9D8B030D-6E8A-4147-A177-3AD203B41FA5}">
                      <ns3:colId val="20004"/>
                    </a:ext>
                  </a:extLst>
                </a:gridCol>
                <a:gridCol w="3685032">
                  <a:extLst>
                    <a:ext uri="{9D8B030D-6E8A-4147-A177-3AD203B41FA5}">
                      <ns3:colId val="20005"/>
                    </a:ext>
                  </a:extLst>
                </a:gridCol>
                <a:gridCol w="1170432">
                  <a:extLst>
                    <a:ext uri="{9D8B030D-6E8A-4147-A177-3AD203B41FA5}">
                      <ns3:colId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[PROTECT CURRENT EXECUTION]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 / FREQUENCY / 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 / HIGH / MAINTAIN]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15137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six priority areas only. Coverage % and RF % are carried across from the two previous slides, not re-derived.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02920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4498848"/>
            <a:ext cx="137160" cy="137160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05256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areas where customer reach is insufficient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85800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45104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27984" y="4498848"/>
            <a:ext cx="137160" cy="137160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47440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FREQUENCY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27984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covered but required call frequency is not achieved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527984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87288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Shape 17"/>
          <p:cNvSpPr/>
          <p:nvPr/>
        </p:nvSpPr>
        <p:spPr>
          <a:xfrm>
            <a:off x="6370168" y="4498848"/>
            <a:ext cx="137160" cy="1371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9624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EXECUTION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70168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important areas with strong coverage and RF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370168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029471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212351" y="4498848"/>
            <a:ext cx="137160" cy="137160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31807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EXECUTION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212351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coverage and RF materially weak - full reset required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212351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" y="5614416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area on this slide must reappear as an owned, dated action in the S2 2026 Action Plan.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814170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 Performance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16736"/>
            <a:ext cx="11185855" cy="512064"/>
          </a:xfrm>
          <a:prstGeom prst="roundRect">
            <a:avLst>
              <a:gd name="adj" fmla="val 1250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417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promotional budget agreed and approved at the beginning of the year</a:t>
            </a:r>
            <a:r>
              <a:rPr lang="en-US" sz="9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promotional spending incurred up to the end of S1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776667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95539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95539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EGP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050414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69286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BUDGET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69286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EGP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324161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43033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43033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158996" y="210312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97908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716780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ACHIEVEMENT 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716780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1432743" y="210312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SPENDING TRANSLATING INTO BUSINESS PERFORMANCE?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29768" y="3108960"/>
          <a:ext cx="6903720" cy="18745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502920" y="496519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The two bars should be read side by side, not summed.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790688" y="3108960"/>
            <a:ext cx="3895344" cy="1856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973568" y="321868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SPEND-TO-PERFORMANCE READING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973568" y="3520440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174736" y="347472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≈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tracking business delivery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973568" y="4005072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174736" y="39593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is not converting - efficiency issue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973568" y="4489704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174736" y="444398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&lt;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Under-spend - possible missed opportunity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02920" y="5230368"/>
            <a:ext cx="11185855" cy="822960"/>
          </a:xfrm>
          <a:prstGeom prst="roundRect">
            <a:avLst>
              <a:gd name="adj" fmla="val 7778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64008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231538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2" name="Text 38"/>
          <p:cNvSpPr/>
          <p:nvPr/>
        </p:nvSpPr>
        <p:spPr>
          <a:xfrm>
            <a:off x="435041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35041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941869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5" name="Text 41"/>
          <p:cNvSpPr/>
          <p:nvPr/>
        </p:nvSpPr>
        <p:spPr>
          <a:xfrm>
            <a:off x="8060741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8060741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Efficiency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promotional investment earning its return, and where must it be reallocated?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481328"/>
          <a:ext cx="5989320" cy="227228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3:colId val="20000"/>
                    </a:ext>
                  </a:extLst>
                </a:gridCol>
                <a:gridCol w="960120">
                  <a:extLst>
                    <a:ext uri="{9D8B030D-6E8A-4147-A177-3AD203B41FA5}">
                      <ns3:colId val="20001"/>
                    </a:ext>
                  </a:extLst>
                </a:gridCol>
                <a:gridCol w="960120">
                  <a:extLst>
                    <a:ext uri="{9D8B030D-6E8A-4147-A177-3AD203B41FA5}">
                      <ns3:colId val="20002"/>
                    </a:ext>
                  </a:extLst>
                </a:gridCol>
                <a:gridCol w="868680">
                  <a:extLst>
                    <a:ext uri="{9D8B030D-6E8A-4147-A177-3AD203B41FA5}">
                      <ns3:colId val="20003"/>
                    </a:ext>
                  </a:extLst>
                </a:gridCol>
                <a:gridCol w="868680">
                  <a:extLst>
                    <a:ext uri="{9D8B030D-6E8A-4147-A177-3AD203B41FA5}">
                      <ns3:colId val="20004"/>
                    </a:ext>
                  </a:extLst>
                </a:gridCol>
                <a:gridCol w="731520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Ach.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3877056"/>
            <a:ext cx="5989320" cy="1133856"/>
          </a:xfrm>
          <a:prstGeom prst="roundRect">
            <a:avLst>
              <a:gd name="adj" fmla="val 5645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080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investments earned their return and which did not?]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88436" y="3986784"/>
            <a:ext cx="7315" cy="91440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3" name="Text 9"/>
          <p:cNvSpPr/>
          <p:nvPr/>
        </p:nvSpPr>
        <p:spPr>
          <a:xfrm>
            <a:off x="3607308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607308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[Specific reallocation decision for S2 2026]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1645920"/>
            <a:ext cx="1956816" cy="1517904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17736" y="1645920"/>
            <a:ext cx="1956816" cy="1517904"/>
          </a:xfrm>
          <a:prstGeom prst="rect">
            <a:avLst/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60920" y="3163824"/>
            <a:ext cx="1956816" cy="1517904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17736" y="3163824"/>
            <a:ext cx="1956816" cy="1517904"/>
          </a:xfrm>
          <a:prstGeom prst="rect">
            <a:avLst/>
          </a:prstGeom>
          <a:solidFill>
            <a:srgbClr val="F8F5F4"/>
          </a:solidFill>
          <a:ln w="12700">
            <a:solidFill>
              <a:srgbClr val="F8F5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12250" y="1645920"/>
            <a:ext cx="10973" cy="303580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360920" y="3158338"/>
            <a:ext cx="3913632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ln w="9525">
            <a:solidFill>
              <a:srgbClr val="D9E0E6"/>
            </a:solidFill>
            <a:prstDash val="solid"/>
          </a:ln>
        </p:spPr>
      </p:sp>
      <p:sp>
        <p:nvSpPr>
          <p:cNvPr id="8" name="Text 19"/>
          <p:cNvSpPr/>
          <p:nvPr/>
        </p:nvSpPr>
        <p:spPr>
          <a:xfrm>
            <a:off x="7470648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- protect and consider investing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427464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- validate the return level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70648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Under-supported - decide invest or exit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427464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- reallocate the budget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309884" y="2366650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69904" y="233007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0031882" y="224521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191902" y="220864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9953610" y="382383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13630" y="378726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8153339" y="3884554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13359" y="384797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7360920" y="473659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  →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360920" y="14081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SALES ACHIEVEMENT %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360920" y="499262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positions are illustrative only. Plot each product or line using its own utilization and achievement values.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13603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Gaps &amp; Opportunities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 across the four pillars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02920" y="1517904"/>
          <a:ext cx="11073384" cy="30723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ns3:colId val="20000"/>
                    </a:ext>
                  </a:extLst>
                </a:gridCol>
                <a:gridCol w="2834640">
                  <a:extLst>
                    <a:ext uri="{9D8B030D-6E8A-4147-A177-3AD203B41FA5}">
                      <ns3:colId val="20001"/>
                    </a:ext>
                  </a:extLst>
                </a:gridCol>
                <a:gridCol w="2834640">
                  <a:extLst>
                    <a:ext uri="{9D8B030D-6E8A-4147-A177-3AD203B41FA5}">
                      <ns3:colId val="20002"/>
                    </a:ext>
                  </a:extLst>
                </a:gridCol>
                <a:gridCol w="2798064">
                  <a:extLst>
                    <a:ext uri="{9D8B030D-6E8A-4147-A177-3AD203B41FA5}">
                      <ns3:colId val="20003"/>
                    </a:ext>
                  </a:extLst>
                </a:gridCol>
                <a:gridCol w="1280160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7045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6634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709928" y="47045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65376" y="46634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642616" y="4704588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98064" y="4663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949440" y="46634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on this slide must appear as an action on slide 24.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2920" y="4956048"/>
            <a:ext cx="11185855" cy="1097280"/>
          </a:xfrm>
          <a:prstGeom prst="roundRect">
            <a:avLst>
              <a:gd name="adj" fmla="val 5833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047488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STORY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0080" y="5230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causal chain explicitly. For example: vacancies reduced coverage, reduced coverage lowered right frequency in the priority segments, and that shows up as the market share loss on the affected products.]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Action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specific, measurable, owned and time-bound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02920" y="1426464"/>
          <a:ext cx="11183112" cy="3200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ns3:colId val="20000"/>
                    </a:ext>
                  </a:extLst>
                </a:gridCol>
                <a:gridCol w="1828800">
                  <a:extLst>
                    <a:ext uri="{9D8B030D-6E8A-4147-A177-3AD203B41FA5}">
                      <ns3:colId val="20001"/>
                    </a:ext>
                  </a:extLst>
                </a:gridCol>
                <a:gridCol w="1645920">
                  <a:extLst>
                    <a:ext uri="{9D8B030D-6E8A-4147-A177-3AD203B41FA5}">
                      <ns3:colId val="20002"/>
                    </a:ext>
                  </a:extLst>
                </a:gridCol>
                <a:gridCol w="2057400">
                  <a:extLst>
                    <a:ext uri="{9D8B030D-6E8A-4147-A177-3AD203B41FA5}">
                      <ns3:colId val="20003"/>
                    </a:ext>
                  </a:extLst>
                </a:gridCol>
                <a:gridCol w="914400">
                  <a:extLst>
                    <a:ext uri="{9D8B030D-6E8A-4147-A177-3AD203B41FA5}">
                      <ns3:colId val="20004"/>
                    </a:ext>
                  </a:extLst>
                </a:gridCol>
                <a:gridCol w="960120">
                  <a:extLst>
                    <a:ext uri="{9D8B030D-6E8A-4147-A177-3AD203B41FA5}">
                      <ns3:colId val="20005"/>
                    </a:ext>
                  </a:extLst>
                </a:gridCol>
                <a:gridCol w="1764792">
                  <a:extLst>
                    <a:ext uri="{9D8B030D-6E8A-4147-A177-3AD203B41FA5}">
                      <ns3:colId val="20006"/>
                    </a:ext>
                  </a:extLst>
                </a:gridCol>
                <a:gridCol w="1005840">
                  <a:extLst>
                    <a:ext uri="{9D8B030D-6E8A-4147-A177-3AD203B41FA5}">
                      <ns3:colId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 / Opportunity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Expected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7183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rows as required. Actions must trace directly to the findings on slide 23 - avoid generic improvement statements.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8503920" y="4741164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59368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9916668" y="47411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72116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1329416" y="47411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84864" y="47000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5120640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40080" y="5303520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and when will progress against this plan be reviewed - monthly business review, S2 checkpoint, year-end]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Decisions &amp; Support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senior management, and what this Business Unit commits to deliver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CHC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are required from senior management?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0664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3]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3008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52464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REQUIRED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2464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or resources are needed?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70752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3]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12464"/>
            <a:ext cx="11185855" cy="2340864"/>
          </a:xfrm>
          <a:prstGeom prst="roundRect">
            <a:avLst>
              <a:gd name="adj" fmla="val 2734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COMMITMENTS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" y="4133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Business Unit commits to deliver by year-end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8952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5256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1 - measurable and dated]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22971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69275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069275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2 - measurable and dated]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86990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3294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233294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3 - measurable and dated]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51009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97313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97313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4 - optional]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415028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61332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561332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5 - optional]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4756</Words>
  <Application>Microsoft Office PowerPoint</Application>
  <PresentationFormat>Widescreen</PresentationFormat>
  <Paragraphs>1063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[COMPANY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1 2026 Business Review - BU Template</dc:title>
  <dc:subject>Standardized CEO-level Business Review framework</dc:subject>
  <dc:creator>Business Unit Management</dc:creator>
  <cp:lastModifiedBy>Ahmed Hamid</cp:lastModifiedBy>
  <cp:revision>6</cp:revision>
  <dcterms:created xsi:type="dcterms:W3CDTF">2026-08-02T14:24:58Z</dcterms:created>
  <dcterms:modified xsi:type="dcterms:W3CDTF">2026-08-10T12:06:53Z</dcterms:modified>
</cp:coreProperties>
</file>