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2.xml" ContentType="application/vnd.openxmlformats-officedocument.drawingml.chart+xml"/>
  <Override PartName="/ppt/notesSlides/notesSlide7.xml" ContentType="application/vnd.openxmlformats-officedocument.presentationml.notes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5.xml" ContentType="application/vnd.openxmlformats-officedocument.drawingml.chart+xml"/>
  <Override PartName="/ppt/notesSlides/notesSlide10.xml" ContentType="application/vnd.openxmlformats-officedocument.presentationml.notesSlide+xml"/>
  <Override PartName="/ppt/charts/chart6.xml" ContentType="application/vnd.openxmlformats-officedocument.drawingml.chart+xml"/>
  <Override PartName="/ppt/notesSlides/notesSlide11.xml" ContentType="application/vnd.openxmlformats-officedocument.presentationml.notesSlide+xml"/>
  <Override PartName="/ppt/charts/chart7.xml" ContentType="application/vnd.openxmlformats-officedocument.drawingml.char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rts/chart8.xml" ContentType="application/vnd.openxmlformats-officedocument.drawingml.chart+xml"/>
  <Override PartName="/ppt/notesSlides/notesSlide14.xml" ContentType="application/vnd.openxmlformats-officedocument.presentationml.notesSlide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rts/chart11.xml" ContentType="application/vnd.openxmlformats-officedocument.drawingml.chart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9" r:id="rId4"/>
    <p:sldId id="260" r:id="rId5"/>
    <p:sldId id="262" r:id="rId6"/>
    <p:sldId id="263" r:id="rId7"/>
    <p:sldId id="264" r:id="rId8"/>
    <p:sldId id="265" r:id="rId9"/>
    <p:sldId id="266" r:id="rId10"/>
    <p:sldId id="267" r:id="rId11"/>
    <p:sldId id="269" r:id="rId12"/>
    <p:sldId id="271" r:id="rId13"/>
    <p:sldId id="270" r:id="rId14"/>
    <p:sldId id="272" r:id="rId15"/>
    <p:sldId id="273" r:id="rId16"/>
    <p:sldId id="274" r:id="rId17"/>
    <p:sldId id="275" r:id="rId18"/>
    <p:sldId id="276" r:id="rId19"/>
    <p:sldId id="277" r:id="rId20"/>
    <p:sldId id="278" r:id="rId21"/>
    <p:sldId id="279" r:id="rId22"/>
    <p:sldId id="280" r:id="rId2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6" d="100"/>
          <a:sy n="66" d="100"/>
        </p:scale>
        <p:origin x="6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Budgeted HC</c:v>
                </c:pt>
              </c:strCache>
            </c:strRef>
          </c:tx>
          <c:spPr>
            <a:solidFill>
              <a:srgbClr val="0A57A5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[LINE 1]</c:v>
                </c:pt>
                <c:pt idx="1">
                  <c:v>[LINE 2]</c:v>
                </c:pt>
                <c:pt idx="2">
                  <c:v>[LINE 3]</c:v>
                </c:pt>
                <c:pt idx="3">
                  <c:v>[LINE 4]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50</c:v>
                </c:pt>
                <c:pt idx="1">
                  <c:v>30</c:v>
                </c:pt>
                <c:pt idx="2">
                  <c:v>45</c:v>
                </c:pt>
                <c:pt idx="3">
                  <c:v>45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F0E-4F0E-A39A-C6CBA2D741E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Active HC</c:v>
                </c:pt>
              </c:strCache>
            </c:strRef>
          </c:tx>
          <c:spPr>
            <a:solidFill>
              <a:srgbClr val="1E9BD5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[LINE 1]</c:v>
                </c:pt>
                <c:pt idx="1">
                  <c:v>[LINE 2]</c:v>
                </c:pt>
                <c:pt idx="2">
                  <c:v>[LINE 3]</c:v>
                </c:pt>
                <c:pt idx="3">
                  <c:v>[LINE 4]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40</c:v>
                </c:pt>
                <c:pt idx="1">
                  <c:v>26</c:v>
                </c:pt>
                <c:pt idx="2">
                  <c:v>40</c:v>
                </c:pt>
                <c:pt idx="3">
                  <c:v>44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F0E-4F0E-A39A-C6CBA2D741E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5E6E7C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9E0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5E6E7C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363636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850">
              <a:solidFill>
                <a:srgbClr val="5E6E7C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Target / Head</c:v>
                </c:pt>
              </c:strCache>
            </c:strRef>
          </c:tx>
          <c:spPr>
            <a:solidFill>
              <a:srgbClr val="8BA4B8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TOTAL BU</c:v>
                </c:pt>
                <c:pt idx="1">
                  <c:v>[LINE 1]</c:v>
                </c:pt>
                <c:pt idx="2">
                  <c:v>[LINE 2]</c:v>
                </c:pt>
                <c:pt idx="3">
                  <c:v>[LINE 3]</c:v>
                </c:pt>
                <c:pt idx="4">
                  <c:v>[LINE 4]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350</c:v>
                </c:pt>
                <c:pt idx="1">
                  <c:v>300</c:v>
                </c:pt>
                <c:pt idx="2">
                  <c:v>280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AAC-4927-AD7B-6EE2DFC34AC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Actual / Head</c:v>
                </c:pt>
              </c:strCache>
            </c:strRef>
          </c:tx>
          <c:spPr>
            <a:solidFill>
              <a:srgbClr val="0A57A5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TOTAL BU</c:v>
                </c:pt>
                <c:pt idx="1">
                  <c:v>[LINE 1]</c:v>
                </c:pt>
                <c:pt idx="2">
                  <c:v>[LINE 2]</c:v>
                </c:pt>
                <c:pt idx="3">
                  <c:v>[LINE 3]</c:v>
                </c:pt>
                <c:pt idx="4">
                  <c:v>[LINE 4]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240</c:v>
                </c:pt>
                <c:pt idx="1">
                  <c:v>250</c:v>
                </c:pt>
                <c:pt idx="2">
                  <c:v>300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AAC-4927-AD7B-6EE2DFC34AC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5E6E7C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9E0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5E6E7C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363636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850">
              <a:solidFill>
                <a:srgbClr val="5E6E7C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MARKET</c:v>
                </c:pt>
              </c:strCache>
            </c:strRef>
          </c:tx>
          <c:spPr>
            <a:solidFill>
              <a:srgbClr val="8BA4B8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TOTAL MARKET</c:v>
                </c:pt>
                <c:pt idx="1">
                  <c:v>[LINE 1]</c:v>
                </c:pt>
                <c:pt idx="2">
                  <c:v>[LINE 2]</c:v>
                </c:pt>
                <c:pt idx="3">
                  <c:v>[LINE 3]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</c:numCache>
            </c:numRef>
          </c:val>
          <c:extLst>
            <c:ext xmlns:c16="http://schemas.microsoft.com/office/drawing/2014/chart" uri="{C3380CC4-5D6E-409C-BE32-E72D297353CC}">
              <c16:uniqueId val="{00000000-E915-4B05-8EB5-3FB2BCEA4DB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COMPANY</c:v>
                </c:pt>
              </c:strCache>
            </c:strRef>
          </c:tx>
          <c:spPr>
            <a:solidFill>
              <a:srgbClr val="0A57A5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TOTAL MARKET</c:v>
                </c:pt>
                <c:pt idx="1">
                  <c:v>[LINE 1]</c:v>
                </c:pt>
                <c:pt idx="2">
                  <c:v>[LINE 2]</c:v>
                </c:pt>
                <c:pt idx="3">
                  <c:v>[LINE 3]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</c:numCache>
            </c:numRef>
          </c:val>
          <c:extLst>
            <c:ext xmlns:c16="http://schemas.microsoft.com/office/drawing/2014/chart" uri="{C3380CC4-5D6E-409C-BE32-E72D297353CC}">
              <c16:uniqueId val="{00000001-E915-4B05-8EB5-3FB2BCEA4DB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5E6E7C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9E0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5E6E7C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363636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850">
              <a:solidFill>
                <a:srgbClr val="5E6E7C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MARKET</c:v>
                </c:pt>
              </c:strCache>
            </c:strRef>
          </c:tx>
          <c:spPr>
            <a:solidFill>
              <a:srgbClr val="8BA4B8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TOTAL MARKET</c:v>
                </c:pt>
                <c:pt idx="1">
                  <c:v>[LINE 1]</c:v>
                </c:pt>
                <c:pt idx="2">
                  <c:v>[LINE 2]</c:v>
                </c:pt>
                <c:pt idx="3">
                  <c:v>[LINE 3]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</c:numCache>
            </c:numRef>
          </c:val>
          <c:extLst>
            <c:ext xmlns:c16="http://schemas.microsoft.com/office/drawing/2014/chart" uri="{C3380CC4-5D6E-409C-BE32-E72D297353CC}">
              <c16:uniqueId val="{00000000-0F76-42FF-B9A8-1EA3D4FF66D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COMPANY</c:v>
                </c:pt>
              </c:strCache>
            </c:strRef>
          </c:tx>
          <c:spPr>
            <a:solidFill>
              <a:srgbClr val="0A57A5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TOTAL MARKET</c:v>
                </c:pt>
                <c:pt idx="1">
                  <c:v>[LINE 1]</c:v>
                </c:pt>
                <c:pt idx="2">
                  <c:v>[LINE 2]</c:v>
                </c:pt>
                <c:pt idx="3">
                  <c:v>[LINE 3]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</c:numCache>
            </c:numRef>
          </c:val>
          <c:extLst>
            <c:ext xmlns:c16="http://schemas.microsoft.com/office/drawing/2014/chart" uri="{C3380CC4-5D6E-409C-BE32-E72D297353CC}">
              <c16:uniqueId val="{00000001-0F76-42FF-B9A8-1EA3D4FF66D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5E6E7C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9E0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5E6E7C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363636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850">
              <a:solidFill>
                <a:srgbClr val="5E6E7C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Evolution Index</c:v>
                </c:pt>
              </c:strCache>
            </c:strRef>
          </c:tx>
          <c:spPr>
            <a:solidFill>
              <a:srgbClr val="0A57A5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50" b="0" i="0" u="none" strike="noStrike">
                    <a:solidFill>
                      <a:srgbClr val="16222E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4"/>
                <c:pt idx="0">
                  <c:v>Empacoza</c:v>
                </c:pt>
                <c:pt idx="1">
                  <c:v>Empacoza Plus</c:v>
                </c:pt>
                <c:pt idx="2">
                  <c:v>Empacoza Trio</c:v>
                </c:pt>
                <c:pt idx="3">
                  <c:v>Empacompomet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106</c:v>
                </c:pt>
                <c:pt idx="1">
                  <c:v>98</c:v>
                </c:pt>
                <c:pt idx="2">
                  <c:v>110</c:v>
                </c:pt>
                <c:pt idx="3">
                  <c:v>89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BE4-4DA3-BAD5-B3C5F8F7B8B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5E6E7C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D9E0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5E6E7C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363636"/>
          </a:solidFill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SU Growth</c:v>
                </c:pt>
              </c:strCache>
            </c:strRef>
          </c:tx>
          <c:spPr>
            <a:solidFill>
              <a:srgbClr val="1E9BD5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50" b="0" i="0" u="none" strike="noStrike">
                    <a:solidFill>
                      <a:srgbClr val="16222E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[COMPETITOR PRODUCT 1]</c:v>
                </c:pt>
                <c:pt idx="1">
                  <c:v>[COMPETITOR PRODUCT 2]</c:v>
                </c:pt>
                <c:pt idx="2">
                  <c:v>[COMPETITOR PRODUCT 3]</c:v>
                </c:pt>
                <c:pt idx="3">
                  <c:v>[COMPETITOR PRODUCT 4]</c:v>
                </c:pt>
                <c:pt idx="4">
                  <c:v>[COMPETITOR PRODUCT 5]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597-4E32-97A9-DC62E8F1DA8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5E6E7C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D9E0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5E6E7C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363636"/>
          </a:solidFill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Target</c:v>
                </c:pt>
              </c:strCache>
            </c:strRef>
          </c:tx>
          <c:spPr>
            <a:solidFill>
              <a:srgbClr val="8BA4B8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4D3-4B61-B394-E7175497405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0A57A5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4D3-4B61-B394-E7175497405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5E6E7C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9E0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5E6E7C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363636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850">
              <a:solidFill>
                <a:srgbClr val="5E6E7C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Achievement %</c:v>
                </c:pt>
              </c:strCache>
            </c:strRef>
          </c:tx>
          <c:spPr>
            <a:solidFill>
              <a:srgbClr val="0A57A5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16222E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[PRODUCT 1]</c:v>
                </c:pt>
                <c:pt idx="1">
                  <c:v>[PRODUCT 2]</c:v>
                </c:pt>
                <c:pt idx="2">
                  <c:v>[PRODUCT 3]</c:v>
                </c:pt>
                <c:pt idx="3">
                  <c:v>[PRODUCT 4]</c:v>
                </c:pt>
                <c:pt idx="4">
                  <c:v>[PRODUCT 5]</c:v>
                </c:pt>
                <c:pt idx="5">
                  <c:v>[PRODUCT 6]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EDE-4687-9A7D-48ADD5AD911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5E6E7C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D9E0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5E6E7C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363636"/>
          </a:solidFill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S1 2025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8BA4B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A407-4A06-8D91-CB35DF65CA1F}"/>
              </c:ext>
            </c:extLst>
          </c:dPt>
          <c:dPt>
            <c:idx val="1"/>
            <c:bubble3D val="0"/>
            <c:spPr>
              <a:solidFill>
                <a:srgbClr val="A9BCC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A407-4A06-8D91-CB35DF65CA1F}"/>
              </c:ext>
            </c:extLst>
          </c:dPt>
          <c:dPt>
            <c:idx val="2"/>
            <c:bubble3D val="0"/>
            <c:spPr>
              <a:solidFill>
                <a:srgbClr val="C2D0D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A407-4A06-8D91-CB35DF65CA1F}"/>
              </c:ext>
            </c:extLst>
          </c:dPt>
          <c:dPt>
            <c:idx val="3"/>
            <c:bubble3D val="0"/>
            <c:spPr>
              <a:solidFill>
                <a:srgbClr val="DAE3E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A407-4A06-8D91-CB35DF65CA1F}"/>
              </c:ext>
            </c:extLst>
          </c:dPt>
          <c:dPt>
            <c:idx val="4"/>
            <c:bubble3D val="0"/>
            <c:spPr>
              <a:solidFill>
                <a:srgbClr val="EDF1F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A407-4A06-8D91-CB35DF65CA1F}"/>
              </c:ext>
            </c:extLst>
          </c:dPt>
          <c:cat>
            <c:strRef>
              <c:f>Sheet1!$A$2:$A$6</c:f>
              <c:strCache>
                <c:ptCount val="5"/>
                <c:pt idx="0">
                  <c:v>[BRAND 1]</c:v>
                </c:pt>
                <c:pt idx="1">
                  <c:v>[BRAND 2]</c:v>
                </c:pt>
                <c:pt idx="2">
                  <c:v>[BRAND 3]</c:v>
                </c:pt>
                <c:pt idx="3">
                  <c:v>[BRAND 4]</c:v>
                </c:pt>
                <c:pt idx="4">
                  <c:v>Others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20</c:v>
                </c:pt>
                <c:pt idx="1">
                  <c:v>20</c:v>
                </c:pt>
                <c:pt idx="2">
                  <c:v>20</c:v>
                </c:pt>
                <c:pt idx="3">
                  <c:v>20</c:v>
                </c:pt>
                <c:pt idx="4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A407-4A06-8D91-CB35DF65CA1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8"/>
      </c:doughnutChart>
      <c:spPr>
        <a:noFill/>
        <a:ln w="12700" cap="flat">
          <a:solidFill>
            <a:srgbClr val="363636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800">
              <a:solidFill>
                <a:srgbClr val="5E6E7C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S1 2026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A57A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B18C-43C3-A22E-DDFC46783348}"/>
              </c:ext>
            </c:extLst>
          </c:dPt>
          <c:dPt>
            <c:idx val="1"/>
            <c:bubble3D val="0"/>
            <c:spPr>
              <a:solidFill>
                <a:srgbClr val="1E9BD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B18C-43C3-A22E-DDFC46783348}"/>
              </c:ext>
            </c:extLst>
          </c:dPt>
          <c:dPt>
            <c:idx val="2"/>
            <c:bubble3D val="0"/>
            <c:spPr>
              <a:solidFill>
                <a:srgbClr val="5C7F9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B18C-43C3-A22E-DDFC46783348}"/>
              </c:ext>
            </c:extLst>
          </c:dPt>
          <c:dPt>
            <c:idx val="3"/>
            <c:bubble3D val="0"/>
            <c:spPr>
              <a:solidFill>
                <a:srgbClr val="7CC7E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B18C-43C3-A22E-DDFC46783348}"/>
              </c:ext>
            </c:extLst>
          </c:dPt>
          <c:dPt>
            <c:idx val="4"/>
            <c:bubble3D val="0"/>
            <c:spPr>
              <a:solidFill>
                <a:srgbClr val="D3DCE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B18C-43C3-A22E-DDFC46783348}"/>
              </c:ext>
            </c:extLst>
          </c:dPt>
          <c:cat>
            <c:strRef>
              <c:f>Sheet1!$A$2:$A$6</c:f>
              <c:strCache>
                <c:ptCount val="5"/>
                <c:pt idx="0">
                  <c:v>[BRAND 1]</c:v>
                </c:pt>
                <c:pt idx="1">
                  <c:v>[BRAND 2]</c:v>
                </c:pt>
                <c:pt idx="2">
                  <c:v>[BRAND 3]</c:v>
                </c:pt>
                <c:pt idx="3">
                  <c:v>[BRAND 4]</c:v>
                </c:pt>
                <c:pt idx="4">
                  <c:v>Others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20</c:v>
                </c:pt>
                <c:pt idx="1">
                  <c:v>20</c:v>
                </c:pt>
                <c:pt idx="2">
                  <c:v>20</c:v>
                </c:pt>
                <c:pt idx="3">
                  <c:v>20</c:v>
                </c:pt>
                <c:pt idx="4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B18C-43C3-A22E-DDFC4678334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8"/>
      </c:doughnutChart>
      <c:spPr>
        <a:noFill/>
        <a:ln w="12700" cap="flat">
          <a:solidFill>
            <a:srgbClr val="363636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800">
              <a:solidFill>
                <a:srgbClr val="5E6E7C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Budget Utilization %</c:v>
                </c:pt>
              </c:strCache>
            </c:strRef>
          </c:tx>
          <c:spPr>
            <a:solidFill>
              <a:srgbClr val="7CC7E8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TOTAL BU</c:v>
                </c:pt>
                <c:pt idx="1">
                  <c:v>[LINE 1]</c:v>
                </c:pt>
                <c:pt idx="2">
                  <c:v>[LINE 2]</c:v>
                </c:pt>
                <c:pt idx="3">
                  <c:v>[LINE 3]</c:v>
                </c:pt>
                <c:pt idx="4">
                  <c:v>[LINE 4]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5B8-4085-BBC1-7FD19C47C14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Sales Achievement %</c:v>
                </c:pt>
              </c:strCache>
            </c:strRef>
          </c:tx>
          <c:spPr>
            <a:solidFill>
              <a:srgbClr val="0A57A5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TOTAL BU</c:v>
                </c:pt>
                <c:pt idx="1">
                  <c:v>[LINE 1]</c:v>
                </c:pt>
                <c:pt idx="2">
                  <c:v>[LINE 2]</c:v>
                </c:pt>
                <c:pt idx="3">
                  <c:v>[LINE 3]</c:v>
                </c:pt>
                <c:pt idx="4">
                  <c:v>[LINE 4]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5B8-4085-BBC1-7FD19C47C14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5E6E7C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9E0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5E6E7C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363636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850">
              <a:solidFill>
                <a:srgbClr val="5E6E7C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709008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 slide. Replace every [BRACKETED] field with BU-specific detail. Do not add data to this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CEO dashboard. Every tile is a placeholder. Set the status dot colour manually against agreed thresholds.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Duplicate or delete boxes to match the real BU structure. Dashed red outline = vacant position.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Link vacancy directly to coverage and sales gap. Do not present vacancy as an HR statistic in isolation.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Succession is a risk slide, not an HR formality. Name the positions where a single departure would damage the business.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management question is whether sales moved because of more people or better people. Answer it explicitly.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IQVIA Standard Units throughout this section. Never mix value and unit measures on one chart.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Market share is the external verdict on the BU. Every red status must reappear in the action plan.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EI separates real performance from market drift. A growing product in a faster-growing market is still losing.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Rank competitors by their contribution to market growth, not by their absolute size.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Connect the monthly gaps to the People and Customer sections. A gap in one month usually has an execution cause.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heatmap row-wise for product health and column-wise for line capability. A single red column is a coaching issue; a single red row is a product issue.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Cross-check this slide against slide 10. Internal achievement and market share should tell a consistent story.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Portfolio dependency is a strategic risk. Quantify it rather than describing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Dashboard = data and diagnosis. This slide = insight and decision. Show four to six bars per chart, not the full class or specialty list.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covered customer contacted below the required frequency is a cost without a return. Name the specific classes and specialties.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answers one question: where exactly do we redirect field-force effort in S2 2026. Coverage tells us who we reached; RF tells us whether it counted; this tells us what changes.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redefine static and dynamic budget. Compare utilization against achievement, never in isolation.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output of this slide is a reallocation decision. Name the products that lose budget and the products that gain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treat the pillars as separate reports. The CEO is looking for the causal chain between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action needs a single named owner. Shared ownership means no ownership.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commitments, not thanks. Three to five commitments, each measurable and dated.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4.xml"/><Relationship Id="rId4" Type="http://schemas.openxmlformats.org/officeDocument/2006/relationships/chart" Target="../charts/char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10.xml"/><Relationship Id="rId4" Type="http://schemas.openxmlformats.org/officeDocument/2006/relationships/chart" Target="../charts/chart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1">
    <p:bg>
      <p:bgPr>
        <a:solidFill>
          <a:srgbClr val="0637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640080"/>
            <a:ext cx="1755648" cy="81381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21488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500" dirty="0">
                <a:solidFill>
                  <a:srgbClr val="1E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SEMESTER 1  |  2026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822960" y="2487168"/>
            <a:ext cx="10058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REVIEW</a:t>
            </a:r>
            <a:endParaRPr lang="en-US" sz="5400" dirty="0"/>
          </a:p>
        </p:txBody>
      </p:sp>
      <p:sp>
        <p:nvSpPr>
          <p:cNvPr id="5" name="Text 2"/>
          <p:cNvSpPr/>
          <p:nvPr/>
        </p:nvSpPr>
        <p:spPr>
          <a:xfrm>
            <a:off x="822960" y="35295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EC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Performance, Root Causes and S2 2026 Commitments  |  Presented to the Chief Executive Officer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822960" y="4315968"/>
            <a:ext cx="2487168" cy="841248"/>
          </a:xfrm>
          <a:prstGeom prst="roundRect">
            <a:avLst>
              <a:gd name="adj" fmla="val 6522"/>
            </a:avLst>
          </a:prstGeom>
          <a:solidFill>
            <a:srgbClr val="0A57A5"/>
          </a:solidFill>
          <a:ln w="9525">
            <a:solidFill>
              <a:srgbClr val="1E436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69264" y="443484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1E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UNIT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969264" y="4663440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456432" y="4315968"/>
            <a:ext cx="2487168" cy="841248"/>
          </a:xfrm>
          <a:prstGeom prst="roundRect">
            <a:avLst>
              <a:gd name="adj" fmla="val 6522"/>
            </a:avLst>
          </a:prstGeom>
          <a:solidFill>
            <a:srgbClr val="0A57A5"/>
          </a:solidFill>
          <a:ln w="9525">
            <a:solidFill>
              <a:srgbClr val="1E436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602736" y="443484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1E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UNIT MANAGER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3602736" y="4663440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Ahmed Mostafa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089904" y="4315968"/>
            <a:ext cx="2487168" cy="841248"/>
          </a:xfrm>
          <a:prstGeom prst="roundRect">
            <a:avLst>
              <a:gd name="adj" fmla="val 6522"/>
            </a:avLst>
          </a:prstGeom>
          <a:solidFill>
            <a:srgbClr val="0A57A5"/>
          </a:solidFill>
          <a:ln w="9525">
            <a:solidFill>
              <a:srgbClr val="1E436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236208" y="443484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1E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MANAGER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6236208" y="4663440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[SALES MANAGER NAME]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8723376" y="4315968"/>
            <a:ext cx="2487168" cy="841248"/>
          </a:xfrm>
          <a:prstGeom prst="roundRect">
            <a:avLst>
              <a:gd name="adj" fmla="val 6522"/>
            </a:avLst>
          </a:prstGeom>
          <a:solidFill>
            <a:srgbClr val="0A57A5"/>
          </a:solidFill>
          <a:ln w="9525">
            <a:solidFill>
              <a:srgbClr val="1E436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869680" y="443484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1E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DATE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8869680" y="4663440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[DD MONTH 2026]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822960" y="598932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For internal management use only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20" dirty="0">
                <a:solidFill>
                  <a:srgbClr val="1E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OPENING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8778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Business Snapshot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060704"/>
            <a:ext cx="8778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 2026 performance at a glance across the four management pillars</a:t>
            </a:r>
            <a:endParaRPr lang="en-US" sz="11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8323" y="0"/>
            <a:ext cx="1467612" cy="14676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626364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Semester 1 2026 Business Review  |  Cluster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11155680" y="626364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502920" y="1426464"/>
            <a:ext cx="118872" cy="118872"/>
          </a:xfrm>
          <a:prstGeom prst="ellipse">
            <a:avLst/>
          </a:prstGeom>
          <a:solidFill>
            <a:srgbClr val="1E9BD5"/>
          </a:solidFill>
          <a:ln w="12700">
            <a:solidFill>
              <a:srgbClr val="1E9BD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85800" y="1389888"/>
            <a:ext cx="260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502920" y="1682496"/>
            <a:ext cx="260444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  <a:effectLst>
            <a:outerShdw blurRad="101600" dist="12700" dir="5400000" algn="bl" rotWithShape="0">
              <a:srgbClr val="0A57A5">
                <a:alpha val="1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21792" y="1783080"/>
            <a:ext cx="22203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6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HEADCOUNT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621792" y="1975104"/>
            <a:ext cx="23666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45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208 / 240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2851328" y="1810512"/>
            <a:ext cx="128016" cy="128016"/>
          </a:xfrm>
          <a:prstGeom prst="ellipse">
            <a:avLst/>
          </a:prstGeom>
          <a:solidFill>
            <a:srgbClr val="C98A16"/>
          </a:solidFill>
          <a:ln w="12700">
            <a:solidFill>
              <a:srgbClr val="C98A16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02920" y="2560320"/>
            <a:ext cx="260444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  <a:effectLst>
            <a:outerShdw blurRad="101600" dist="12700" dir="5400000" algn="bl" rotWithShape="0">
              <a:srgbClr val="0A57A5">
                <a:alpha val="10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21792" y="2660904"/>
            <a:ext cx="22203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6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VACANCIES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621792" y="2852928"/>
            <a:ext cx="23666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70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700" dirty="0"/>
          </a:p>
        </p:txBody>
      </p:sp>
      <p:sp>
        <p:nvSpPr>
          <p:cNvPr id="17" name="Shape 14"/>
          <p:cNvSpPr/>
          <p:nvPr/>
        </p:nvSpPr>
        <p:spPr>
          <a:xfrm>
            <a:off x="2851328" y="2688336"/>
            <a:ext cx="128016" cy="128016"/>
          </a:xfrm>
          <a:prstGeom prst="ellipse">
            <a:avLst/>
          </a:prstGeom>
          <a:solidFill>
            <a:srgbClr val="B3372C"/>
          </a:solidFill>
          <a:ln w="12700">
            <a:solidFill>
              <a:srgbClr val="B3372C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02920" y="3440070"/>
            <a:ext cx="260444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  <a:effectLst>
            <a:outerShdw blurRad="101600" dist="12700" dir="5400000" algn="bl" rotWithShape="0">
              <a:srgbClr val="0A57A5">
                <a:alpha val="10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621792" y="3540654"/>
            <a:ext cx="22203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6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PRODUCTIVITY / HEAD VS TARGET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621792" y="3732678"/>
            <a:ext cx="23666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70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2K EGP vs 6K EGP</a:t>
            </a:r>
            <a:endParaRPr lang="en-US" sz="1700" dirty="0"/>
          </a:p>
        </p:txBody>
      </p:sp>
      <p:sp>
        <p:nvSpPr>
          <p:cNvPr id="25" name="Shape 22"/>
          <p:cNvSpPr/>
          <p:nvPr/>
        </p:nvSpPr>
        <p:spPr>
          <a:xfrm>
            <a:off x="2851328" y="3568086"/>
            <a:ext cx="128016" cy="128016"/>
          </a:xfrm>
          <a:prstGeom prst="ellipse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3363392" y="1426464"/>
            <a:ext cx="118872" cy="118872"/>
          </a:xfrm>
          <a:prstGeom prst="ellipse">
            <a:avLst/>
          </a:prstGeom>
          <a:solidFill>
            <a:srgbClr val="1E9BD5"/>
          </a:solidFill>
          <a:ln w="12700">
            <a:solidFill>
              <a:srgbClr val="1E9BD5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546272" y="1389888"/>
            <a:ext cx="260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3363392" y="1682496"/>
            <a:ext cx="260444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  <a:effectLst>
            <a:outerShdw blurRad="101600" dist="12700" dir="5400000" algn="bl" rotWithShape="0">
              <a:srgbClr val="0A57A5">
                <a:alpha val="10000"/>
              </a:srgbClr>
            </a:outerShdw>
          </a:effectLst>
        </p:spPr>
      </p:sp>
      <p:sp>
        <p:nvSpPr>
          <p:cNvPr id="29" name="Text 26"/>
          <p:cNvSpPr/>
          <p:nvPr/>
        </p:nvSpPr>
        <p:spPr>
          <a:xfrm>
            <a:off x="3482264" y="1783080"/>
            <a:ext cx="22203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6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SALES ACHIEVEMENT %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3482264" y="1975104"/>
            <a:ext cx="23666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70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30.9%</a:t>
            </a:r>
            <a:endParaRPr lang="en-US" sz="1700" dirty="0"/>
          </a:p>
        </p:txBody>
      </p:sp>
      <p:sp>
        <p:nvSpPr>
          <p:cNvPr id="31" name="Shape 28"/>
          <p:cNvSpPr/>
          <p:nvPr/>
        </p:nvSpPr>
        <p:spPr>
          <a:xfrm>
            <a:off x="5711800" y="1810512"/>
            <a:ext cx="128016" cy="128016"/>
          </a:xfrm>
          <a:prstGeom prst="ellipse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3363392" y="2560320"/>
            <a:ext cx="260444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  <a:effectLst>
            <a:outerShdw blurRad="101600" dist="12700" dir="5400000" algn="bl" rotWithShape="0">
              <a:srgbClr val="0A57A5">
                <a:alpha val="10000"/>
              </a:srgbClr>
            </a:outerShdw>
          </a:effectLst>
        </p:spPr>
      </p:sp>
      <p:sp>
        <p:nvSpPr>
          <p:cNvPr id="33" name="Text 30"/>
          <p:cNvSpPr/>
          <p:nvPr/>
        </p:nvSpPr>
        <p:spPr>
          <a:xfrm>
            <a:off x="3482264" y="2660904"/>
            <a:ext cx="22203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6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MARKET SHARE Ach%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3482264" y="2852928"/>
            <a:ext cx="23666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70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[102.3 %]</a:t>
            </a:r>
            <a:endParaRPr lang="en-US" sz="1700" dirty="0"/>
          </a:p>
        </p:txBody>
      </p:sp>
      <p:sp>
        <p:nvSpPr>
          <p:cNvPr id="35" name="Shape 32"/>
          <p:cNvSpPr/>
          <p:nvPr/>
        </p:nvSpPr>
        <p:spPr>
          <a:xfrm>
            <a:off x="5711800" y="2688336"/>
            <a:ext cx="128016" cy="128016"/>
          </a:xfrm>
          <a:prstGeom prst="ellipse">
            <a:avLst/>
          </a:prstGeom>
          <a:solidFill>
            <a:srgbClr val="C98A16"/>
          </a:solidFill>
          <a:ln w="12700">
            <a:solidFill>
              <a:srgbClr val="C98A16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3363392" y="3438144"/>
            <a:ext cx="260444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  <a:effectLst>
            <a:outerShdw blurRad="101600" dist="12700" dir="5400000" algn="bl" rotWithShape="0">
              <a:srgbClr val="0A57A5">
                <a:alpha val="10000"/>
              </a:srgbClr>
            </a:outerShdw>
          </a:effectLst>
        </p:spPr>
      </p:sp>
      <p:sp>
        <p:nvSpPr>
          <p:cNvPr id="37" name="Text 34"/>
          <p:cNvSpPr/>
          <p:nvPr/>
        </p:nvSpPr>
        <p:spPr>
          <a:xfrm>
            <a:off x="3482264" y="3538728"/>
            <a:ext cx="22203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6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SHARE CHANGE VS LY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3482264" y="3730752"/>
            <a:ext cx="23666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70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[+/- MS PTS]</a:t>
            </a:r>
            <a:endParaRPr lang="en-US" sz="1700" dirty="0"/>
          </a:p>
        </p:txBody>
      </p:sp>
      <p:sp>
        <p:nvSpPr>
          <p:cNvPr id="39" name="Shape 36"/>
          <p:cNvSpPr/>
          <p:nvPr/>
        </p:nvSpPr>
        <p:spPr>
          <a:xfrm>
            <a:off x="5711800" y="3566160"/>
            <a:ext cx="128016" cy="128016"/>
          </a:xfrm>
          <a:prstGeom prst="ellipse">
            <a:avLst/>
          </a:prstGeom>
          <a:solidFill>
            <a:srgbClr val="B3372C"/>
          </a:solidFill>
          <a:ln w="12700">
            <a:solidFill>
              <a:srgbClr val="B3372C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3363392" y="4315968"/>
            <a:ext cx="260444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  <a:effectLst>
            <a:outerShdw blurRad="101600" dist="12700" dir="5400000" algn="bl" rotWithShape="0">
              <a:srgbClr val="0A57A5">
                <a:alpha val="10000"/>
              </a:srgbClr>
            </a:outerShdw>
          </a:effectLst>
        </p:spPr>
      </p:sp>
      <p:sp>
        <p:nvSpPr>
          <p:cNvPr id="41" name="Text 38"/>
          <p:cNvSpPr/>
          <p:nvPr/>
        </p:nvSpPr>
        <p:spPr>
          <a:xfrm>
            <a:off x="3482264" y="4416552"/>
            <a:ext cx="22203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6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EVOLUTION INDEX</a:t>
            </a:r>
            <a:endParaRPr lang="en-US" sz="800" dirty="0"/>
          </a:p>
        </p:txBody>
      </p:sp>
      <p:sp>
        <p:nvSpPr>
          <p:cNvPr id="42" name="Text 39"/>
          <p:cNvSpPr/>
          <p:nvPr/>
        </p:nvSpPr>
        <p:spPr>
          <a:xfrm>
            <a:off x="3482264" y="4608576"/>
            <a:ext cx="23666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70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[EI]</a:t>
            </a:r>
            <a:endParaRPr lang="en-US" sz="1700" dirty="0"/>
          </a:p>
        </p:txBody>
      </p:sp>
      <p:sp>
        <p:nvSpPr>
          <p:cNvPr id="43" name="Shape 40"/>
          <p:cNvSpPr/>
          <p:nvPr/>
        </p:nvSpPr>
        <p:spPr>
          <a:xfrm>
            <a:off x="5711800" y="4443984"/>
            <a:ext cx="128016" cy="128016"/>
          </a:xfrm>
          <a:prstGeom prst="ellipse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6223864" y="1426464"/>
            <a:ext cx="118872" cy="118872"/>
          </a:xfrm>
          <a:prstGeom prst="ellipse">
            <a:avLst/>
          </a:prstGeom>
          <a:solidFill>
            <a:srgbClr val="1E9BD5"/>
          </a:solidFill>
          <a:ln w="12700">
            <a:solidFill>
              <a:srgbClr val="1E9BD5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6406744" y="1389888"/>
            <a:ext cx="260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950" dirty="0"/>
          </a:p>
        </p:txBody>
      </p:sp>
      <p:sp>
        <p:nvSpPr>
          <p:cNvPr id="46" name="Shape 43"/>
          <p:cNvSpPr/>
          <p:nvPr/>
        </p:nvSpPr>
        <p:spPr>
          <a:xfrm>
            <a:off x="6223864" y="1682496"/>
            <a:ext cx="260444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  <a:effectLst>
            <a:outerShdw blurRad="101600" dist="12700" dir="5400000" algn="bl" rotWithShape="0">
              <a:srgbClr val="0A57A5">
                <a:alpha val="10000"/>
              </a:srgbClr>
            </a:outerShdw>
          </a:effectLst>
        </p:spPr>
      </p:sp>
      <p:sp>
        <p:nvSpPr>
          <p:cNvPr id="47" name="Text 44"/>
          <p:cNvSpPr/>
          <p:nvPr/>
        </p:nvSpPr>
        <p:spPr>
          <a:xfrm>
            <a:off x="6342736" y="1783080"/>
            <a:ext cx="22203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6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COVERAGE %</a:t>
            </a:r>
            <a:endParaRPr lang="en-US" sz="800" dirty="0"/>
          </a:p>
        </p:txBody>
      </p:sp>
      <p:sp>
        <p:nvSpPr>
          <p:cNvPr id="48" name="Text 45"/>
          <p:cNvSpPr/>
          <p:nvPr/>
        </p:nvSpPr>
        <p:spPr>
          <a:xfrm>
            <a:off x="6342736" y="1975104"/>
            <a:ext cx="23666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70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[95.8%]</a:t>
            </a:r>
            <a:endParaRPr lang="en-US" sz="1700" dirty="0"/>
          </a:p>
        </p:txBody>
      </p:sp>
      <p:sp>
        <p:nvSpPr>
          <p:cNvPr id="49" name="Shape 46"/>
          <p:cNvSpPr/>
          <p:nvPr/>
        </p:nvSpPr>
        <p:spPr>
          <a:xfrm>
            <a:off x="8572271" y="1810512"/>
            <a:ext cx="128016" cy="128016"/>
          </a:xfrm>
          <a:prstGeom prst="ellipse">
            <a:avLst/>
          </a:prstGeom>
          <a:solidFill>
            <a:srgbClr val="C98A16"/>
          </a:solidFill>
          <a:ln w="12700">
            <a:solidFill>
              <a:srgbClr val="C98A16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6223864" y="2560320"/>
            <a:ext cx="260444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  <a:effectLst>
            <a:outerShdw blurRad="101600" dist="12700" dir="5400000" algn="bl" rotWithShape="0">
              <a:srgbClr val="0A57A5">
                <a:alpha val="10000"/>
              </a:srgbClr>
            </a:outerShdw>
          </a:effectLst>
        </p:spPr>
      </p:sp>
      <p:sp>
        <p:nvSpPr>
          <p:cNvPr id="51" name="Text 48"/>
          <p:cNvSpPr/>
          <p:nvPr/>
        </p:nvSpPr>
        <p:spPr>
          <a:xfrm>
            <a:off x="6342736" y="2660904"/>
            <a:ext cx="22203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6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FREQUENCY %</a:t>
            </a:r>
            <a:endParaRPr lang="en-US" sz="800" dirty="0"/>
          </a:p>
        </p:txBody>
      </p:sp>
      <p:sp>
        <p:nvSpPr>
          <p:cNvPr id="52" name="Text 49"/>
          <p:cNvSpPr/>
          <p:nvPr/>
        </p:nvSpPr>
        <p:spPr>
          <a:xfrm>
            <a:off x="6342736" y="2852928"/>
            <a:ext cx="23666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70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[80.5%]</a:t>
            </a:r>
            <a:endParaRPr lang="en-US" sz="1700" dirty="0"/>
          </a:p>
        </p:txBody>
      </p:sp>
      <p:sp>
        <p:nvSpPr>
          <p:cNvPr id="53" name="Shape 50"/>
          <p:cNvSpPr/>
          <p:nvPr/>
        </p:nvSpPr>
        <p:spPr>
          <a:xfrm>
            <a:off x="8572271" y="2688336"/>
            <a:ext cx="128016" cy="128016"/>
          </a:xfrm>
          <a:prstGeom prst="ellipse">
            <a:avLst/>
          </a:prstGeom>
          <a:solidFill>
            <a:srgbClr val="B3372C"/>
          </a:solidFill>
          <a:ln w="12700">
            <a:solidFill>
              <a:srgbClr val="B3372C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6223864" y="3438144"/>
            <a:ext cx="260444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  <a:effectLst>
            <a:outerShdw blurRad="101600" dist="12700" dir="5400000" algn="bl" rotWithShape="0">
              <a:srgbClr val="0A57A5">
                <a:alpha val="10000"/>
              </a:srgbClr>
            </a:outerShdw>
          </a:effectLst>
        </p:spPr>
      </p:sp>
      <p:sp>
        <p:nvSpPr>
          <p:cNvPr id="55" name="Text 52"/>
          <p:cNvSpPr/>
          <p:nvPr/>
        </p:nvSpPr>
        <p:spPr>
          <a:xfrm>
            <a:off x="6342736" y="3538728"/>
            <a:ext cx="22203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800" b="1" kern="0" spc="6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SEGMENTS BELOW RIGHT FREQUENCY </a:t>
            </a:r>
            <a:endParaRPr lang="en-US" sz="800" dirty="0"/>
          </a:p>
        </p:txBody>
      </p:sp>
      <p:sp>
        <p:nvSpPr>
          <p:cNvPr id="56" name="Text 53"/>
          <p:cNvSpPr/>
          <p:nvPr/>
        </p:nvSpPr>
        <p:spPr>
          <a:xfrm>
            <a:off x="6342736" y="3730752"/>
            <a:ext cx="23666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70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[AB1] of [AA2]</a:t>
            </a:r>
            <a:endParaRPr lang="en-US" sz="1700" dirty="0"/>
          </a:p>
        </p:txBody>
      </p:sp>
      <p:sp>
        <p:nvSpPr>
          <p:cNvPr id="57" name="Shape 54"/>
          <p:cNvSpPr/>
          <p:nvPr/>
        </p:nvSpPr>
        <p:spPr>
          <a:xfrm>
            <a:off x="8572271" y="3566160"/>
            <a:ext cx="128016" cy="128016"/>
          </a:xfrm>
          <a:prstGeom prst="ellipse">
            <a:avLst/>
          </a:prstGeom>
          <a:solidFill>
            <a:srgbClr val="B3372C"/>
          </a:solidFill>
          <a:ln w="12700">
            <a:solidFill>
              <a:srgbClr val="B3372C"/>
            </a:solidFill>
            <a:prstDash val="solid"/>
          </a:ln>
        </p:spPr>
      </p:sp>
      <p:sp>
        <p:nvSpPr>
          <p:cNvPr id="62" name="Shape 59"/>
          <p:cNvSpPr/>
          <p:nvPr/>
        </p:nvSpPr>
        <p:spPr>
          <a:xfrm>
            <a:off x="9084335" y="1426464"/>
            <a:ext cx="118872" cy="118872"/>
          </a:xfrm>
          <a:prstGeom prst="ellipse">
            <a:avLst/>
          </a:prstGeom>
          <a:solidFill>
            <a:srgbClr val="1E9BD5"/>
          </a:solidFill>
          <a:ln w="12700">
            <a:solidFill>
              <a:srgbClr val="1E9BD5"/>
            </a:solidFill>
            <a:prstDash val="solid"/>
          </a:ln>
        </p:spPr>
      </p:sp>
      <p:sp>
        <p:nvSpPr>
          <p:cNvPr id="63" name="Text 60"/>
          <p:cNvSpPr/>
          <p:nvPr/>
        </p:nvSpPr>
        <p:spPr>
          <a:xfrm>
            <a:off x="9267215" y="1389888"/>
            <a:ext cx="260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PROMO-BUDGET</a:t>
            </a:r>
            <a:endParaRPr lang="en-US" sz="950" dirty="0"/>
          </a:p>
        </p:txBody>
      </p:sp>
      <p:sp>
        <p:nvSpPr>
          <p:cNvPr id="64" name="Shape 61"/>
          <p:cNvSpPr/>
          <p:nvPr/>
        </p:nvSpPr>
        <p:spPr>
          <a:xfrm>
            <a:off x="9084335" y="1682496"/>
            <a:ext cx="260444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  <a:effectLst>
            <a:outerShdw blurRad="101600" dist="12700" dir="5400000" algn="bl" rotWithShape="0">
              <a:srgbClr val="0A57A5">
                <a:alpha val="10000"/>
              </a:srgbClr>
            </a:outerShdw>
          </a:effectLst>
        </p:spPr>
      </p:sp>
      <p:sp>
        <p:nvSpPr>
          <p:cNvPr id="65" name="Text 62"/>
          <p:cNvSpPr/>
          <p:nvPr/>
        </p:nvSpPr>
        <p:spPr>
          <a:xfrm>
            <a:off x="9203207" y="1783080"/>
            <a:ext cx="22203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6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BUDGET</a:t>
            </a:r>
            <a:endParaRPr lang="en-US" sz="800" dirty="0"/>
          </a:p>
        </p:txBody>
      </p:sp>
      <p:sp>
        <p:nvSpPr>
          <p:cNvPr id="66" name="Text 63"/>
          <p:cNvSpPr/>
          <p:nvPr/>
        </p:nvSpPr>
        <p:spPr>
          <a:xfrm>
            <a:off x="9203207" y="1975104"/>
            <a:ext cx="23666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70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125K EGP</a:t>
            </a:r>
            <a:endParaRPr lang="en-US" sz="1700" dirty="0"/>
          </a:p>
        </p:txBody>
      </p:sp>
      <p:sp>
        <p:nvSpPr>
          <p:cNvPr id="67" name="Shape 64"/>
          <p:cNvSpPr/>
          <p:nvPr/>
        </p:nvSpPr>
        <p:spPr>
          <a:xfrm>
            <a:off x="9084335" y="2560320"/>
            <a:ext cx="260444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  <a:effectLst>
            <a:outerShdw blurRad="101600" dist="12700" dir="5400000" algn="bl" rotWithShape="0">
              <a:srgbClr val="0A57A5">
                <a:alpha val="10000"/>
              </a:srgbClr>
            </a:outerShdw>
          </a:effectLst>
        </p:spPr>
      </p:sp>
      <p:sp>
        <p:nvSpPr>
          <p:cNvPr id="68" name="Text 65"/>
          <p:cNvSpPr/>
          <p:nvPr/>
        </p:nvSpPr>
        <p:spPr>
          <a:xfrm>
            <a:off x="9203207" y="2660904"/>
            <a:ext cx="22203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6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/ SPENT BUDGET</a:t>
            </a:r>
            <a:endParaRPr lang="en-US" sz="800" dirty="0"/>
          </a:p>
        </p:txBody>
      </p:sp>
      <p:sp>
        <p:nvSpPr>
          <p:cNvPr id="69" name="Text 66"/>
          <p:cNvSpPr/>
          <p:nvPr/>
        </p:nvSpPr>
        <p:spPr>
          <a:xfrm>
            <a:off x="9203207" y="2852928"/>
            <a:ext cx="23666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70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[Actual SPEND]</a:t>
            </a:r>
            <a:endParaRPr lang="en-US" sz="1700" dirty="0"/>
          </a:p>
        </p:txBody>
      </p:sp>
      <p:sp>
        <p:nvSpPr>
          <p:cNvPr id="70" name="Shape 67"/>
          <p:cNvSpPr/>
          <p:nvPr/>
        </p:nvSpPr>
        <p:spPr>
          <a:xfrm>
            <a:off x="9084335" y="3438144"/>
            <a:ext cx="260444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  <a:effectLst>
            <a:outerShdw blurRad="101600" dist="12700" dir="5400000" algn="bl" rotWithShape="0">
              <a:srgbClr val="0A57A5">
                <a:alpha val="10000"/>
              </a:srgbClr>
            </a:outerShdw>
          </a:effectLst>
        </p:spPr>
      </p:sp>
      <p:sp>
        <p:nvSpPr>
          <p:cNvPr id="71" name="Text 68"/>
          <p:cNvSpPr/>
          <p:nvPr/>
        </p:nvSpPr>
        <p:spPr>
          <a:xfrm>
            <a:off x="9203207" y="3538728"/>
            <a:ext cx="22203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6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UTILIZATION %</a:t>
            </a:r>
            <a:endParaRPr lang="en-US" sz="800" dirty="0"/>
          </a:p>
        </p:txBody>
      </p:sp>
      <p:sp>
        <p:nvSpPr>
          <p:cNvPr id="72" name="Text 69"/>
          <p:cNvSpPr/>
          <p:nvPr/>
        </p:nvSpPr>
        <p:spPr>
          <a:xfrm>
            <a:off x="9203207" y="3730752"/>
            <a:ext cx="23666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70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25.1%</a:t>
            </a:r>
            <a:endParaRPr lang="en-US" sz="1700" dirty="0"/>
          </a:p>
        </p:txBody>
      </p:sp>
      <p:sp>
        <p:nvSpPr>
          <p:cNvPr id="73" name="Shape 70"/>
          <p:cNvSpPr/>
          <p:nvPr/>
        </p:nvSpPr>
        <p:spPr>
          <a:xfrm>
            <a:off x="11432743" y="3566160"/>
            <a:ext cx="128016" cy="128016"/>
          </a:xfrm>
          <a:prstGeom prst="ellipse">
            <a:avLst/>
          </a:prstGeom>
          <a:solidFill>
            <a:srgbClr val="C98A16"/>
          </a:solidFill>
          <a:ln w="12700">
            <a:solidFill>
              <a:srgbClr val="C98A16"/>
            </a:solidFill>
            <a:prstDash val="solid"/>
          </a:ln>
        </p:spPr>
      </p:sp>
      <p:sp>
        <p:nvSpPr>
          <p:cNvPr id="78" name="Shape 75"/>
          <p:cNvSpPr/>
          <p:nvPr/>
        </p:nvSpPr>
        <p:spPr>
          <a:xfrm>
            <a:off x="502920" y="5216652"/>
            <a:ext cx="109728" cy="109728"/>
          </a:xfrm>
          <a:prstGeom prst="ellipse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79" name="Text 76"/>
          <p:cNvSpPr/>
          <p:nvPr/>
        </p:nvSpPr>
        <p:spPr>
          <a:xfrm>
            <a:off x="658368" y="5175504"/>
            <a:ext cx="1993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Above Target</a:t>
            </a:r>
            <a:endParaRPr lang="en-US" sz="850" dirty="0"/>
          </a:p>
        </p:txBody>
      </p:sp>
      <p:sp>
        <p:nvSpPr>
          <p:cNvPr id="80" name="Shape 77"/>
          <p:cNvSpPr/>
          <p:nvPr/>
        </p:nvSpPr>
        <p:spPr>
          <a:xfrm>
            <a:off x="1984248" y="5216652"/>
            <a:ext cx="109728" cy="109728"/>
          </a:xfrm>
          <a:prstGeom prst="ellipse">
            <a:avLst/>
          </a:prstGeom>
          <a:solidFill>
            <a:srgbClr val="C98A16"/>
          </a:solidFill>
          <a:ln w="12700">
            <a:solidFill>
              <a:srgbClr val="C98A16"/>
            </a:solidFill>
            <a:prstDash val="solid"/>
          </a:ln>
        </p:spPr>
      </p:sp>
      <p:sp>
        <p:nvSpPr>
          <p:cNvPr id="81" name="Text 78"/>
          <p:cNvSpPr/>
          <p:nvPr/>
        </p:nvSpPr>
        <p:spPr>
          <a:xfrm>
            <a:off x="2139696" y="5175504"/>
            <a:ext cx="1481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Track</a:t>
            </a:r>
            <a:endParaRPr lang="en-US" sz="850" dirty="0"/>
          </a:p>
        </p:txBody>
      </p:sp>
      <p:sp>
        <p:nvSpPr>
          <p:cNvPr id="82" name="Shape 79"/>
          <p:cNvSpPr/>
          <p:nvPr/>
        </p:nvSpPr>
        <p:spPr>
          <a:xfrm>
            <a:off x="3191256" y="5216652"/>
            <a:ext cx="109728" cy="109728"/>
          </a:xfrm>
          <a:prstGeom prst="ellipse">
            <a:avLst/>
          </a:prstGeom>
          <a:solidFill>
            <a:srgbClr val="B3372C"/>
          </a:solidFill>
          <a:ln w="12700">
            <a:solidFill>
              <a:srgbClr val="B3372C"/>
            </a:solidFill>
            <a:prstDash val="solid"/>
          </a:ln>
        </p:spPr>
      </p:sp>
      <p:sp>
        <p:nvSpPr>
          <p:cNvPr id="83" name="Text 80"/>
          <p:cNvSpPr/>
          <p:nvPr/>
        </p:nvSpPr>
        <p:spPr>
          <a:xfrm>
            <a:off x="3346704" y="5175504"/>
            <a:ext cx="2761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Required</a:t>
            </a:r>
            <a:endParaRPr lang="en-US" sz="850" dirty="0"/>
          </a:p>
        </p:txBody>
      </p:sp>
      <p:sp>
        <p:nvSpPr>
          <p:cNvPr id="84" name="Text 81"/>
          <p:cNvSpPr/>
          <p:nvPr/>
        </p:nvSpPr>
        <p:spPr>
          <a:xfrm>
            <a:off x="7315200" y="5175504"/>
            <a:ext cx="4370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i="1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indicator is set manually by the BU against the agreed S1 2026 thresholds.</a:t>
            </a:r>
            <a:endParaRPr lang="en-US" sz="800" dirty="0"/>
          </a:p>
        </p:txBody>
      </p:sp>
      <p:sp>
        <p:nvSpPr>
          <p:cNvPr id="85" name="Shape 82"/>
          <p:cNvSpPr/>
          <p:nvPr/>
        </p:nvSpPr>
        <p:spPr>
          <a:xfrm>
            <a:off x="502920" y="5431536"/>
            <a:ext cx="11185855" cy="694944"/>
          </a:xfrm>
          <a:prstGeom prst="roundRect">
            <a:avLst>
              <a:gd name="adj" fmla="val 9211"/>
            </a:avLst>
          </a:prstGeom>
          <a:solidFill>
            <a:srgbClr val="E9F3FB"/>
          </a:solidFill>
          <a:ln w="9525">
            <a:solidFill>
              <a:srgbClr val="C9DFF1"/>
            </a:solidFill>
            <a:prstDash val="solid"/>
          </a:ln>
        </p:spPr>
      </p:sp>
      <p:sp>
        <p:nvSpPr>
          <p:cNvPr id="86" name="Text 83"/>
          <p:cNvSpPr/>
          <p:nvPr/>
        </p:nvSpPr>
        <p:spPr>
          <a:xfrm>
            <a:off x="640080" y="5522976"/>
            <a:ext cx="534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1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850" dirty="0"/>
          </a:p>
        </p:txBody>
      </p:sp>
      <p:sp>
        <p:nvSpPr>
          <p:cNvPr id="87" name="Text 84"/>
          <p:cNvSpPr/>
          <p:nvPr/>
        </p:nvSpPr>
        <p:spPr>
          <a:xfrm>
            <a:off x="640080" y="5705856"/>
            <a:ext cx="534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[KEY INSIGHT - one or two sentences on the single most important message of the semester]</a:t>
            </a:r>
            <a:endParaRPr lang="en-US" sz="1000" dirty="0"/>
          </a:p>
        </p:txBody>
      </p:sp>
      <p:sp>
        <p:nvSpPr>
          <p:cNvPr id="88" name="Shape 85"/>
          <p:cNvSpPr/>
          <p:nvPr/>
        </p:nvSpPr>
        <p:spPr>
          <a:xfrm>
            <a:off x="6086704" y="5541264"/>
            <a:ext cx="7315" cy="475488"/>
          </a:xfrm>
          <a:prstGeom prst="rect">
            <a:avLst/>
          </a:prstGeom>
          <a:solidFill>
            <a:srgbClr val="C9DFF1"/>
          </a:solidFill>
          <a:ln/>
        </p:spPr>
      </p:sp>
      <p:sp>
        <p:nvSpPr>
          <p:cNvPr id="89" name="Text 86"/>
          <p:cNvSpPr/>
          <p:nvPr/>
        </p:nvSpPr>
        <p:spPr>
          <a:xfrm>
            <a:off x="6205576" y="5522976"/>
            <a:ext cx="534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1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 RISK</a:t>
            </a:r>
            <a:endParaRPr lang="en-US" sz="850" dirty="0"/>
          </a:p>
        </p:txBody>
      </p:sp>
      <p:sp>
        <p:nvSpPr>
          <p:cNvPr id="90" name="Text 87"/>
          <p:cNvSpPr/>
          <p:nvPr/>
        </p:nvSpPr>
        <p:spPr>
          <a:xfrm>
            <a:off x="6205576" y="5705856"/>
            <a:ext cx="534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[ROOT CAUSE - the one issue most likely to compromise the full-year result]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10896"/>
            <a:ext cx="848563" cy="274320"/>
          </a:xfrm>
          <a:prstGeom prst="roundRect">
            <a:avLst>
              <a:gd name="adj" fmla="val 16667"/>
            </a:avLst>
          </a:prstGeom>
          <a:solidFill>
            <a:srgbClr val="0A57A5"/>
          </a:solidFill>
          <a:ln w="12700">
            <a:solidFill>
              <a:srgbClr val="0A57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84856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02920" y="603504"/>
            <a:ext cx="8778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 Structure</a:t>
            </a:r>
            <a:endParaRPr lang="en-US" sz="26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8323" y="0"/>
            <a:ext cx="1467612" cy="14676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626364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Semester 1 2026 Business Review  |  Cluster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11155680" y="626364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5029200" y="1371600"/>
            <a:ext cx="1920240" cy="457200"/>
          </a:xfrm>
          <a:prstGeom prst="roundRect">
            <a:avLst>
              <a:gd name="adj" fmla="val 10000"/>
            </a:avLst>
          </a:prstGeom>
          <a:solidFill>
            <a:srgbClr val="0A57A5"/>
          </a:solidFill>
          <a:ln w="9525">
            <a:solidFill>
              <a:srgbClr val="0A57A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102352" y="1435608"/>
            <a:ext cx="17739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Ahmed Mostafa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5102352" y="1609344"/>
            <a:ext cx="17739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AEC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Unit Manager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5989320" y="1828800"/>
            <a:ext cx="10973" cy="201168"/>
          </a:xfrm>
          <a:prstGeom prst="rect">
            <a:avLst/>
          </a:prstGeom>
          <a:solidFill>
            <a:srgbClr val="B7C3CC"/>
          </a:solidFill>
          <a:ln w="12700">
            <a:solidFill>
              <a:srgbClr val="B7C3C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611880" y="2029968"/>
            <a:ext cx="4754880" cy="10973"/>
          </a:xfrm>
          <a:prstGeom prst="rect">
            <a:avLst/>
          </a:prstGeom>
          <a:solidFill>
            <a:srgbClr val="B7C3CC"/>
          </a:solidFill>
          <a:ln w="12700">
            <a:solidFill>
              <a:srgbClr val="B7C3C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611880" y="2029968"/>
            <a:ext cx="10973" cy="164592"/>
          </a:xfrm>
          <a:prstGeom prst="rect">
            <a:avLst/>
          </a:prstGeom>
          <a:solidFill>
            <a:srgbClr val="B7C3CC"/>
          </a:solidFill>
          <a:ln w="12700">
            <a:solidFill>
              <a:srgbClr val="B7C3CC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697480" y="2194560"/>
            <a:ext cx="1828800" cy="420624"/>
          </a:xfrm>
          <a:prstGeom prst="roundRect">
            <a:avLst>
              <a:gd name="adj" fmla="val 10870"/>
            </a:avLst>
          </a:prstGeom>
          <a:solidFill>
            <a:srgbClr val="0A57A5"/>
          </a:solidFill>
          <a:ln w="9525">
            <a:solidFill>
              <a:srgbClr val="0A57A5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770632" y="2258568"/>
            <a:ext cx="16824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[SALES MANAGER 1]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2770632" y="2432304"/>
            <a:ext cx="16824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AEC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Manager</a:t>
            </a:r>
            <a:endParaRPr lang="en-US" sz="750" dirty="0"/>
          </a:p>
        </p:txBody>
      </p:sp>
      <p:sp>
        <p:nvSpPr>
          <p:cNvPr id="17" name="Shape 14"/>
          <p:cNvSpPr/>
          <p:nvPr/>
        </p:nvSpPr>
        <p:spPr>
          <a:xfrm>
            <a:off x="8366760" y="2029968"/>
            <a:ext cx="10973" cy="164592"/>
          </a:xfrm>
          <a:prstGeom prst="rect">
            <a:avLst/>
          </a:prstGeom>
          <a:solidFill>
            <a:srgbClr val="B7C3CC"/>
          </a:solidFill>
          <a:ln w="12700">
            <a:solidFill>
              <a:srgbClr val="B7C3CC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452360" y="2194560"/>
            <a:ext cx="1828800" cy="420624"/>
          </a:xfrm>
          <a:prstGeom prst="roundRect">
            <a:avLst>
              <a:gd name="adj" fmla="val 10870"/>
            </a:avLst>
          </a:prstGeom>
          <a:solidFill>
            <a:srgbClr val="0A57A5"/>
          </a:solidFill>
          <a:ln w="9525">
            <a:solidFill>
              <a:srgbClr val="0A57A5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525512" y="2258568"/>
            <a:ext cx="16824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[SALES MANAGER 2]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7525512" y="2432304"/>
            <a:ext cx="16824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AEC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Manager</a:t>
            </a:r>
            <a:endParaRPr lang="en-US" sz="750" dirty="0"/>
          </a:p>
        </p:txBody>
      </p:sp>
      <p:sp>
        <p:nvSpPr>
          <p:cNvPr id="21" name="Shape 18"/>
          <p:cNvSpPr/>
          <p:nvPr/>
        </p:nvSpPr>
        <p:spPr>
          <a:xfrm>
            <a:off x="3611880" y="2615184"/>
            <a:ext cx="10973" cy="182880"/>
          </a:xfrm>
          <a:prstGeom prst="rect">
            <a:avLst/>
          </a:prstGeom>
          <a:solidFill>
            <a:srgbClr val="B7C3CC"/>
          </a:solidFill>
          <a:ln w="12700">
            <a:solidFill>
              <a:srgbClr val="B7C3CC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3063240" y="2798064"/>
            <a:ext cx="2286000" cy="10973"/>
          </a:xfrm>
          <a:prstGeom prst="rect">
            <a:avLst/>
          </a:prstGeom>
          <a:solidFill>
            <a:srgbClr val="B7C3CC"/>
          </a:solidFill>
          <a:ln w="12700">
            <a:solidFill>
              <a:srgbClr val="B7C3CC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3063240" y="2798064"/>
            <a:ext cx="10973" cy="164592"/>
          </a:xfrm>
          <a:prstGeom prst="rect">
            <a:avLst/>
          </a:prstGeom>
          <a:solidFill>
            <a:srgbClr val="B7C3CC"/>
          </a:solidFill>
          <a:ln w="12700">
            <a:solidFill>
              <a:srgbClr val="B7C3CC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2331720" y="2962656"/>
            <a:ext cx="1463040" cy="420624"/>
          </a:xfrm>
          <a:prstGeom prst="roundRect">
            <a:avLst>
              <a:gd name="adj" fmla="val 10870"/>
            </a:avLst>
          </a:prstGeom>
          <a:solidFill>
            <a:srgbClr val="0A57A5"/>
          </a:solidFill>
          <a:ln w="9525">
            <a:solidFill>
              <a:srgbClr val="0A57A5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2404872" y="3026664"/>
            <a:ext cx="13167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[FLM 1]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2404872" y="3200400"/>
            <a:ext cx="13167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AEC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Line Manager</a:t>
            </a:r>
            <a:endParaRPr lang="en-US" sz="750" dirty="0"/>
          </a:p>
        </p:txBody>
      </p:sp>
      <p:sp>
        <p:nvSpPr>
          <p:cNvPr id="27" name="Shape 24"/>
          <p:cNvSpPr/>
          <p:nvPr/>
        </p:nvSpPr>
        <p:spPr>
          <a:xfrm>
            <a:off x="5349240" y="2798064"/>
            <a:ext cx="10973" cy="164592"/>
          </a:xfrm>
          <a:prstGeom prst="rect">
            <a:avLst/>
          </a:prstGeom>
          <a:solidFill>
            <a:srgbClr val="B7C3CC"/>
          </a:solidFill>
          <a:ln w="12700">
            <a:solidFill>
              <a:srgbClr val="B7C3CC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4617720" y="2962656"/>
            <a:ext cx="1463040" cy="420624"/>
          </a:xfrm>
          <a:prstGeom prst="roundRect">
            <a:avLst>
              <a:gd name="adj" fmla="val 10870"/>
            </a:avLst>
          </a:prstGeom>
          <a:solidFill>
            <a:srgbClr val="0A57A5"/>
          </a:solidFill>
          <a:ln w="9525">
            <a:solidFill>
              <a:srgbClr val="0A57A5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690872" y="3026664"/>
            <a:ext cx="13167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[FLM 2]</a:t>
            </a:r>
            <a:endParaRPr lang="en-US" sz="850" dirty="0"/>
          </a:p>
        </p:txBody>
      </p:sp>
      <p:sp>
        <p:nvSpPr>
          <p:cNvPr id="30" name="Text 27"/>
          <p:cNvSpPr/>
          <p:nvPr/>
        </p:nvSpPr>
        <p:spPr>
          <a:xfrm>
            <a:off x="4690872" y="3200400"/>
            <a:ext cx="13167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AEC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Line Manager</a:t>
            </a:r>
            <a:endParaRPr lang="en-US" sz="750" dirty="0"/>
          </a:p>
        </p:txBody>
      </p:sp>
      <p:sp>
        <p:nvSpPr>
          <p:cNvPr id="31" name="Shape 28"/>
          <p:cNvSpPr/>
          <p:nvPr/>
        </p:nvSpPr>
        <p:spPr>
          <a:xfrm>
            <a:off x="8366760" y="2615184"/>
            <a:ext cx="10973" cy="182880"/>
          </a:xfrm>
          <a:prstGeom prst="rect">
            <a:avLst/>
          </a:prstGeom>
          <a:solidFill>
            <a:srgbClr val="B7C3CC"/>
          </a:solidFill>
          <a:ln w="12700">
            <a:solidFill>
              <a:srgbClr val="B7C3CC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7818120" y="2798064"/>
            <a:ext cx="2286000" cy="10973"/>
          </a:xfrm>
          <a:prstGeom prst="rect">
            <a:avLst/>
          </a:prstGeom>
          <a:solidFill>
            <a:srgbClr val="B7C3CC"/>
          </a:solidFill>
          <a:ln w="12700">
            <a:solidFill>
              <a:srgbClr val="B7C3CC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7818120" y="2798064"/>
            <a:ext cx="10973" cy="164592"/>
          </a:xfrm>
          <a:prstGeom prst="rect">
            <a:avLst/>
          </a:prstGeom>
          <a:solidFill>
            <a:srgbClr val="B7C3CC"/>
          </a:solidFill>
          <a:ln w="12700">
            <a:solidFill>
              <a:srgbClr val="B7C3CC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7086600" y="2962656"/>
            <a:ext cx="1463040" cy="420624"/>
          </a:xfrm>
          <a:prstGeom prst="roundRect">
            <a:avLst>
              <a:gd name="adj" fmla="val 10870"/>
            </a:avLst>
          </a:prstGeom>
          <a:solidFill>
            <a:srgbClr val="0A57A5"/>
          </a:solidFill>
          <a:ln w="9525">
            <a:solidFill>
              <a:srgbClr val="0A57A5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7159752" y="3026664"/>
            <a:ext cx="13167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[FLM 3]</a:t>
            </a:r>
            <a:endParaRPr lang="en-US" sz="850" dirty="0"/>
          </a:p>
        </p:txBody>
      </p:sp>
      <p:sp>
        <p:nvSpPr>
          <p:cNvPr id="36" name="Text 33"/>
          <p:cNvSpPr/>
          <p:nvPr/>
        </p:nvSpPr>
        <p:spPr>
          <a:xfrm>
            <a:off x="7159752" y="3200400"/>
            <a:ext cx="13167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AEC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Line Manager</a:t>
            </a:r>
            <a:endParaRPr lang="en-US" sz="750" dirty="0"/>
          </a:p>
        </p:txBody>
      </p:sp>
      <p:sp>
        <p:nvSpPr>
          <p:cNvPr id="37" name="Shape 34"/>
          <p:cNvSpPr/>
          <p:nvPr/>
        </p:nvSpPr>
        <p:spPr>
          <a:xfrm>
            <a:off x="10104120" y="2798064"/>
            <a:ext cx="10973" cy="164592"/>
          </a:xfrm>
          <a:prstGeom prst="rect">
            <a:avLst/>
          </a:prstGeom>
          <a:solidFill>
            <a:srgbClr val="B7C3CC"/>
          </a:solidFill>
          <a:ln w="12700">
            <a:solidFill>
              <a:srgbClr val="B7C3CC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9372600" y="2962656"/>
            <a:ext cx="1463040" cy="420624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B3372C"/>
            </a:solidFill>
            <a:prstDash val="dash"/>
          </a:ln>
        </p:spPr>
      </p:sp>
      <p:sp>
        <p:nvSpPr>
          <p:cNvPr id="39" name="Text 36"/>
          <p:cNvSpPr/>
          <p:nvPr/>
        </p:nvSpPr>
        <p:spPr>
          <a:xfrm>
            <a:off x="9445752" y="3026664"/>
            <a:ext cx="13167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B33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[VACANT]</a:t>
            </a:r>
            <a:endParaRPr lang="en-US" sz="850" dirty="0"/>
          </a:p>
        </p:txBody>
      </p:sp>
      <p:sp>
        <p:nvSpPr>
          <p:cNvPr id="40" name="Text 37"/>
          <p:cNvSpPr/>
          <p:nvPr/>
        </p:nvSpPr>
        <p:spPr>
          <a:xfrm>
            <a:off x="9445752" y="3200400"/>
            <a:ext cx="13167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Line Manager</a:t>
            </a:r>
            <a:endParaRPr lang="en-US" sz="750" dirty="0"/>
          </a:p>
        </p:txBody>
      </p:sp>
      <p:sp>
        <p:nvSpPr>
          <p:cNvPr id="41" name="Shape 38"/>
          <p:cNvSpPr/>
          <p:nvPr/>
        </p:nvSpPr>
        <p:spPr>
          <a:xfrm>
            <a:off x="3063240" y="3383280"/>
            <a:ext cx="10973" cy="182880"/>
          </a:xfrm>
          <a:prstGeom prst="rect">
            <a:avLst/>
          </a:prstGeom>
          <a:solidFill>
            <a:srgbClr val="B7C3CC"/>
          </a:solidFill>
          <a:ln w="12700">
            <a:solidFill>
              <a:srgbClr val="B7C3CC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2331720" y="3566160"/>
            <a:ext cx="1463040" cy="658368"/>
          </a:xfrm>
          <a:prstGeom prst="roundRect">
            <a:avLst>
              <a:gd name="adj" fmla="val 6944"/>
            </a:avLst>
          </a:prstGeom>
          <a:solidFill>
            <a:srgbClr val="E9EFF3"/>
          </a:solidFill>
          <a:ln w="9525">
            <a:solidFill>
              <a:srgbClr val="C4D0D9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2386584" y="3639312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[TEAM 1]</a:t>
            </a:r>
            <a:endParaRPr lang="en-US" sz="850" dirty="0"/>
          </a:p>
        </p:txBody>
      </p:sp>
      <p:sp>
        <p:nvSpPr>
          <p:cNvPr id="44" name="Text 41"/>
          <p:cNvSpPr/>
          <p:nvPr/>
        </p:nvSpPr>
        <p:spPr>
          <a:xfrm>
            <a:off x="2386584" y="3813048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/ Sales Representatives</a:t>
            </a:r>
            <a:endParaRPr lang="en-US" sz="750" dirty="0"/>
          </a:p>
        </p:txBody>
      </p:sp>
      <p:sp>
        <p:nvSpPr>
          <p:cNvPr id="45" name="Text 42"/>
          <p:cNvSpPr/>
          <p:nvPr/>
        </p:nvSpPr>
        <p:spPr>
          <a:xfrm>
            <a:off x="2386584" y="4023360"/>
            <a:ext cx="13533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[N] active  /  [N] vacant</a:t>
            </a:r>
            <a:endParaRPr lang="en-US" sz="750" dirty="0"/>
          </a:p>
        </p:txBody>
      </p:sp>
      <p:sp>
        <p:nvSpPr>
          <p:cNvPr id="46" name="Shape 43"/>
          <p:cNvSpPr/>
          <p:nvPr/>
        </p:nvSpPr>
        <p:spPr>
          <a:xfrm>
            <a:off x="5349240" y="3383280"/>
            <a:ext cx="10973" cy="182880"/>
          </a:xfrm>
          <a:prstGeom prst="rect">
            <a:avLst/>
          </a:prstGeom>
          <a:solidFill>
            <a:srgbClr val="B7C3CC"/>
          </a:solidFill>
          <a:ln w="12700">
            <a:solidFill>
              <a:srgbClr val="B7C3CC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4617720" y="3566160"/>
            <a:ext cx="1463040" cy="658368"/>
          </a:xfrm>
          <a:prstGeom prst="roundRect">
            <a:avLst>
              <a:gd name="adj" fmla="val 6944"/>
            </a:avLst>
          </a:prstGeom>
          <a:solidFill>
            <a:srgbClr val="E9EFF3"/>
          </a:solidFill>
          <a:ln w="9525">
            <a:solidFill>
              <a:srgbClr val="C4D0D9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4672584" y="3639312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[TEAM 2]</a:t>
            </a:r>
            <a:endParaRPr lang="en-US" sz="850" dirty="0"/>
          </a:p>
        </p:txBody>
      </p:sp>
      <p:sp>
        <p:nvSpPr>
          <p:cNvPr id="49" name="Text 46"/>
          <p:cNvSpPr/>
          <p:nvPr/>
        </p:nvSpPr>
        <p:spPr>
          <a:xfrm>
            <a:off x="4672584" y="3813048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/ Sales Representatives</a:t>
            </a:r>
            <a:endParaRPr lang="en-US" sz="750" dirty="0"/>
          </a:p>
        </p:txBody>
      </p:sp>
      <p:sp>
        <p:nvSpPr>
          <p:cNvPr id="50" name="Text 47"/>
          <p:cNvSpPr/>
          <p:nvPr/>
        </p:nvSpPr>
        <p:spPr>
          <a:xfrm>
            <a:off x="4672584" y="4023360"/>
            <a:ext cx="13533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[N] active  /  [N] vacant</a:t>
            </a:r>
            <a:endParaRPr lang="en-US" sz="750" dirty="0"/>
          </a:p>
        </p:txBody>
      </p:sp>
      <p:sp>
        <p:nvSpPr>
          <p:cNvPr id="51" name="Shape 48"/>
          <p:cNvSpPr/>
          <p:nvPr/>
        </p:nvSpPr>
        <p:spPr>
          <a:xfrm>
            <a:off x="7818120" y="3383280"/>
            <a:ext cx="10973" cy="182880"/>
          </a:xfrm>
          <a:prstGeom prst="rect">
            <a:avLst/>
          </a:prstGeom>
          <a:solidFill>
            <a:srgbClr val="B7C3CC"/>
          </a:solidFill>
          <a:ln w="12700">
            <a:solidFill>
              <a:srgbClr val="B7C3CC"/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7086600" y="3566160"/>
            <a:ext cx="146304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B3372C"/>
            </a:solidFill>
            <a:prstDash val="dash"/>
          </a:ln>
        </p:spPr>
      </p:sp>
      <p:sp>
        <p:nvSpPr>
          <p:cNvPr id="53" name="Text 50"/>
          <p:cNvSpPr/>
          <p:nvPr/>
        </p:nvSpPr>
        <p:spPr>
          <a:xfrm>
            <a:off x="7141464" y="3639312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B33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[TEAM 3]</a:t>
            </a:r>
            <a:endParaRPr lang="en-US" sz="850" dirty="0"/>
          </a:p>
        </p:txBody>
      </p:sp>
      <p:sp>
        <p:nvSpPr>
          <p:cNvPr id="54" name="Text 51"/>
          <p:cNvSpPr/>
          <p:nvPr/>
        </p:nvSpPr>
        <p:spPr>
          <a:xfrm>
            <a:off x="7141464" y="3813048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/ Sales Representatives</a:t>
            </a:r>
            <a:endParaRPr lang="en-US" sz="750" dirty="0"/>
          </a:p>
        </p:txBody>
      </p:sp>
      <p:sp>
        <p:nvSpPr>
          <p:cNvPr id="55" name="Text 52"/>
          <p:cNvSpPr/>
          <p:nvPr/>
        </p:nvSpPr>
        <p:spPr>
          <a:xfrm>
            <a:off x="7141464" y="4023360"/>
            <a:ext cx="13533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B33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[N] active  /  [N] vacant</a:t>
            </a:r>
            <a:endParaRPr lang="en-US" sz="750" dirty="0"/>
          </a:p>
        </p:txBody>
      </p:sp>
      <p:sp>
        <p:nvSpPr>
          <p:cNvPr id="56" name="Shape 53"/>
          <p:cNvSpPr/>
          <p:nvPr/>
        </p:nvSpPr>
        <p:spPr>
          <a:xfrm>
            <a:off x="10104120" y="3383280"/>
            <a:ext cx="10973" cy="182880"/>
          </a:xfrm>
          <a:prstGeom prst="rect">
            <a:avLst/>
          </a:prstGeom>
          <a:solidFill>
            <a:srgbClr val="B7C3CC"/>
          </a:solidFill>
          <a:ln w="12700">
            <a:solidFill>
              <a:srgbClr val="B7C3CC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9372600" y="3566160"/>
            <a:ext cx="1463040" cy="658368"/>
          </a:xfrm>
          <a:prstGeom prst="roundRect">
            <a:avLst>
              <a:gd name="adj" fmla="val 6944"/>
            </a:avLst>
          </a:prstGeom>
          <a:solidFill>
            <a:srgbClr val="E9EFF3"/>
          </a:solidFill>
          <a:ln w="9525">
            <a:solidFill>
              <a:srgbClr val="C4D0D9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9427464" y="3639312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[TEAM 4]</a:t>
            </a:r>
            <a:endParaRPr lang="en-US" sz="850" dirty="0"/>
          </a:p>
        </p:txBody>
      </p:sp>
      <p:sp>
        <p:nvSpPr>
          <p:cNvPr id="59" name="Text 56"/>
          <p:cNvSpPr/>
          <p:nvPr/>
        </p:nvSpPr>
        <p:spPr>
          <a:xfrm>
            <a:off x="9427464" y="3813048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/ Sales Representatives</a:t>
            </a:r>
            <a:endParaRPr lang="en-US" sz="750" dirty="0"/>
          </a:p>
        </p:txBody>
      </p:sp>
      <p:sp>
        <p:nvSpPr>
          <p:cNvPr id="60" name="Text 57"/>
          <p:cNvSpPr/>
          <p:nvPr/>
        </p:nvSpPr>
        <p:spPr>
          <a:xfrm>
            <a:off x="9427464" y="4023360"/>
            <a:ext cx="13533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[N] active  /  [N] vacant</a:t>
            </a:r>
            <a:endParaRPr lang="en-US" sz="750" dirty="0"/>
          </a:p>
        </p:txBody>
      </p:sp>
      <p:sp>
        <p:nvSpPr>
          <p:cNvPr id="78" name="Shape 75"/>
          <p:cNvSpPr/>
          <p:nvPr/>
        </p:nvSpPr>
        <p:spPr>
          <a:xfrm>
            <a:off x="502920" y="5413248"/>
            <a:ext cx="11185855" cy="694944"/>
          </a:xfrm>
          <a:prstGeom prst="roundRect">
            <a:avLst>
              <a:gd name="adj" fmla="val 9211"/>
            </a:avLst>
          </a:prstGeom>
          <a:solidFill>
            <a:srgbClr val="E9F3FB"/>
          </a:solidFill>
          <a:ln w="9525">
            <a:solidFill>
              <a:srgbClr val="C9DFF1"/>
            </a:solidFill>
            <a:prstDash val="solid"/>
          </a:ln>
        </p:spPr>
      </p:sp>
      <p:sp>
        <p:nvSpPr>
          <p:cNvPr id="79" name="Text 76"/>
          <p:cNvSpPr/>
          <p:nvPr/>
        </p:nvSpPr>
        <p:spPr>
          <a:xfrm>
            <a:off x="640080" y="5504688"/>
            <a:ext cx="534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1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850" dirty="0"/>
          </a:p>
        </p:txBody>
      </p:sp>
      <p:sp>
        <p:nvSpPr>
          <p:cNvPr id="80" name="Text 77"/>
          <p:cNvSpPr/>
          <p:nvPr/>
        </p:nvSpPr>
        <p:spPr>
          <a:xfrm>
            <a:off x="640080" y="5687568"/>
            <a:ext cx="534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[KEY INSIGHT - what the structure reveals about capacity]</a:t>
            </a:r>
            <a:endParaRPr lang="en-US" sz="1000" dirty="0"/>
          </a:p>
        </p:txBody>
      </p:sp>
      <p:sp>
        <p:nvSpPr>
          <p:cNvPr id="81" name="Shape 78"/>
          <p:cNvSpPr/>
          <p:nvPr/>
        </p:nvSpPr>
        <p:spPr>
          <a:xfrm>
            <a:off x="6086704" y="5522976"/>
            <a:ext cx="7315" cy="475488"/>
          </a:xfrm>
          <a:prstGeom prst="rect">
            <a:avLst/>
          </a:prstGeom>
          <a:solidFill>
            <a:srgbClr val="C9DFF1"/>
          </a:solidFill>
          <a:ln/>
        </p:spPr>
      </p:sp>
      <p:sp>
        <p:nvSpPr>
          <p:cNvPr id="82" name="Text 79"/>
          <p:cNvSpPr/>
          <p:nvPr/>
        </p:nvSpPr>
        <p:spPr>
          <a:xfrm>
            <a:off x="6205576" y="5504688"/>
            <a:ext cx="534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1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/ IMPLICATION</a:t>
            </a:r>
            <a:endParaRPr lang="en-US" sz="850" dirty="0"/>
          </a:p>
        </p:txBody>
      </p:sp>
      <p:sp>
        <p:nvSpPr>
          <p:cNvPr id="83" name="Text 80"/>
          <p:cNvSpPr/>
          <p:nvPr/>
        </p:nvSpPr>
        <p:spPr>
          <a:xfrm>
            <a:off x="6205576" y="5687568"/>
            <a:ext cx="534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[ACTION - structural or recruitment decision required]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c="http://schemas.openxmlformats.org/drawingml/2006/chart" xmlns:ns3="http://schemas.microsoft.com/office/powerpoint/2010/main" xmlns:ns5="http://schemas.microsoft.com/office/drawing/2014/main" xmlns:p="http://schemas.openxmlformats.org/presentationml/2006/main" xmlns:r="http://schemas.openxmlformats.org/officeDocument/2006/relationships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02920" y="603504"/>
            <a:ext cx="8778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Headcount &amp; Vacancy Analysis</a:t>
            </a:r>
            <a:endParaRPr lang="en-US" sz="2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8323" y="0"/>
            <a:ext cx="1467612" cy="146761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26364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Semester 1 2026 Business Review  |  Cluster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1155680" y="626364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502920" y="217627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HC VS ACTIVE HC BY LINE</a:t>
            </a:r>
            <a:endParaRPr lang="en-US" sz="950" dirty="0"/>
          </a:p>
        </p:txBody>
      </p:sp>
      <p:graphicFrame>
        <p:nvGraphicFramePr>
          <p:cNvPr id="27" name="Chart 0"/>
          <p:cNvGraphicFramePr/>
          <p:nvPr>
            <p:extLst>
              <p:ext uri="{D42A27DB-BD31-4B8C-83A1-F6EECF244321}">
                <ns3:modId val="1557347207"/>
              </p:ext>
            </p:extLst>
          </p:nvPr>
        </p:nvGraphicFramePr>
        <p:xfrm>
          <a:off x="429768" y="2395728"/>
          <a:ext cx="5532120" cy="2377440"/>
        </p:xfrm>
        <a:graphic>
          <a:graphicData uri="http://schemas.openxmlformats.org/drawingml/2006/chart">
            <c:chart r:id="rId4"/>
          </a:graphicData>
        </a:graphic>
      </p:graphicFrame>
      <p:sp>
        <p:nvSpPr>
          <p:cNvPr id="28" name="Text 24"/>
          <p:cNvSpPr/>
          <p:nvPr/>
        </p:nvSpPr>
        <p:spPr>
          <a:xfrm>
            <a:off x="502920" y="475488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structure only. Values are placeholders. Replace with BU data before use.</a:t>
            </a:r>
            <a:endParaRPr lang="en-US" sz="750" dirty="0"/>
          </a:p>
        </p:txBody>
      </p:sp>
      <p:sp>
        <p:nvSpPr>
          <p:cNvPr id="42" name="Shape 0">
            <a:extLst>
              <a:ext uri="{FF2B5EF4-FFF2-40B4-BE49-F238E27FC236}">
                <ns5:creationId id="{7F83BE89-027B-9199-03D4-34D382EF0985}"/>
              </a:ext>
            </a:extLst>
          </p:cNvPr>
          <p:cNvSpPr/>
          <p:nvPr/>
        </p:nvSpPr>
        <p:spPr>
          <a:xfrm>
            <a:off x="502920" y="310896"/>
            <a:ext cx="848563" cy="274320"/>
          </a:xfrm>
          <a:prstGeom prst="roundRect">
            <a:avLst>
              <a:gd name="adj" fmla="val 16667"/>
            </a:avLst>
          </a:prstGeom>
          <a:solidFill>
            <a:srgbClr val="0A57A5"/>
          </a:solidFill>
          <a:ln w="12700">
            <a:solidFill>
              <a:srgbClr val="0A57A5"/>
            </a:solidFill>
            <a:prstDash val="solid"/>
          </a:ln>
        </p:spPr>
      </p:sp>
      <p:sp>
        <p:nvSpPr>
          <p:cNvPr id="43" name="Text 1">
            <a:extLst>
              <a:ext uri="{FF2B5EF4-FFF2-40B4-BE49-F238E27FC236}">
                <ns5:creationId id="{35B84C1F-4258-A712-0869-35542479AFA5}"/>
              </a:ext>
            </a:extLst>
          </p:cNvPr>
          <p:cNvSpPr/>
          <p:nvPr/>
        </p:nvSpPr>
        <p:spPr>
          <a:xfrm>
            <a:off x="502920" y="310896"/>
            <a:ext cx="84856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ns3="http://schemas.microsoft.com/office/powerpoint/2010/main" xmlns:ns4="http://schemas.microsoft.com/office/drawing/2014/main" xmlns:p="http://schemas.openxmlformats.org/presentationml/2006/main" xmlns:r="http://schemas.openxmlformats.org/officeDocument/2006/relationships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02920" y="603504"/>
            <a:ext cx="8778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Succession &amp; Talent Readiness</a:t>
            </a:r>
            <a:endParaRPr lang="en-US" sz="2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8323" y="0"/>
            <a:ext cx="1467612" cy="146761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26364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Semester 1 2026 Business Review  |  Cluster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1155680" y="626364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502920" y="135331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SUCCESSION MATRIX - KEY POSITIONS</a:t>
            </a:r>
            <a:endParaRPr lang="en-US" sz="9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ns3:modId val="1579011935"/>
              </p:ext>
            </p:extLst>
          </p:nvPr>
        </p:nvGraphicFramePr>
        <p:xfrm>
          <a:off x="502920" y="1572768"/>
          <a:ext cx="8275320" cy="2304288"/>
        </p:xfrm>
        <a:graphic>
          <a:graphicData uri="http://schemas.openxmlformats.org/drawingml/2006/table">
            <a:tbl>
              <a:tblPr/>
              <a:tblGrid>
                <a:gridCol w="1417320">
                  <a:extLst>
                    <a:ext uri="{9D8B030D-6E8A-4147-A177-3AD203B41FA5}">
                      <ns4:colId val="20000"/>
                    </a:ext>
                  </a:extLst>
                </a:gridCol>
                <a:gridCol w="1325880">
                  <a:extLst>
                    <a:ext uri="{9D8B030D-6E8A-4147-A177-3AD203B41FA5}">
                      <ns4:colId val="20001"/>
                    </a:ext>
                  </a:extLst>
                </a:gridCol>
                <a:gridCol w="1325880">
                  <a:extLst>
                    <a:ext uri="{9D8B030D-6E8A-4147-A177-3AD203B41FA5}">
                      <ns4:colId val="20002"/>
                    </a:ext>
                  </a:extLst>
                </a:gridCol>
                <a:gridCol w="1417320">
                  <a:extLst>
                    <a:ext uri="{9D8B030D-6E8A-4147-A177-3AD203B41FA5}">
                      <ns4:colId val="20003"/>
                    </a:ext>
                  </a:extLst>
                </a:gridCol>
                <a:gridCol w="1371600">
                  <a:extLst>
                    <a:ext uri="{9D8B030D-6E8A-4147-A177-3AD203B41FA5}">
                      <ns4:colId val="20004"/>
                    </a:ext>
                  </a:extLst>
                </a:gridCol>
                <a:gridCol w="1417320">
                  <a:extLst>
                    <a:ext uri="{9D8B030D-6E8A-4147-A177-3AD203B41FA5}">
                      <ns4:colId val="20005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Current Holder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Successor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Readiness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Development Gap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Required Action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extLst>
                  <a:ext uri="{0D108BD9-81ED-4DB2-BD59-A6C34878D82A}">
                    <ns4:rowId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[POSITION 1]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[NAME]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[NAME]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E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[READY NOW]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-1.1M EGP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[ACTION]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4:rowId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[POSITION 2]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[NAME]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[NAME]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078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[READY &lt; 1 YEAR]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-1.1M EGP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[ACTION]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ns4:rowId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[POSITION 3]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[NAME]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[NAME]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C98A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[READY 1-2 YEARS]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-1.1M EGP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[ACTION]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4:rowId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[POSITION 4]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[NAME]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B337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[NONE]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B337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[NO SUCCESSOR]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-1.1M EGP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[ACTION]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ns4:rowId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[POSITION 5]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[NAME]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[NAME]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[READINESS]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-1.1M EGP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[ACTION]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4:rowId val="10005"/>
                  </a:ext>
                </a:extLst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502920" y="3950208"/>
            <a:ext cx="8275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one row per critical position. Readiness values: Ready Now / Ready &lt; 1 Year / Ready 1-2 Years / No Successor.</a:t>
            </a:r>
            <a:endParaRPr lang="en-US" sz="750" dirty="0"/>
          </a:p>
        </p:txBody>
      </p:sp>
      <p:sp>
        <p:nvSpPr>
          <p:cNvPr id="10" name="Shape 6"/>
          <p:cNvSpPr/>
          <p:nvPr/>
        </p:nvSpPr>
        <p:spPr>
          <a:xfrm>
            <a:off x="9052560" y="1572768"/>
            <a:ext cx="2633472" cy="1298448"/>
          </a:xfrm>
          <a:prstGeom prst="roundRect">
            <a:avLst>
              <a:gd name="adj" fmla="val 4930"/>
            </a:avLst>
          </a:prstGeom>
          <a:solidFill>
            <a:srgbClr val="0A57A5"/>
          </a:solidFill>
          <a:ln w="9525">
            <a:solidFill>
              <a:srgbClr val="0A57A5"/>
            </a:solidFill>
            <a:prstDash val="solid"/>
          </a:ln>
          <a:effectLst>
            <a:outerShdw blurRad="101600" dist="12700" dir="5400000" algn="bl" rotWithShape="0">
              <a:srgbClr val="0A57A5">
                <a:alpha val="10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9198864" y="1700784"/>
            <a:ext cx="23408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1E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SUCCESSION COVERAGE</a:t>
            </a:r>
            <a:endParaRPr lang="en-US" sz="850" dirty="0"/>
          </a:p>
        </p:txBody>
      </p:sp>
      <p:sp>
        <p:nvSpPr>
          <p:cNvPr id="12" name="Text 8"/>
          <p:cNvSpPr/>
          <p:nvPr/>
        </p:nvSpPr>
        <p:spPr>
          <a:xfrm>
            <a:off x="9198864" y="1938528"/>
            <a:ext cx="23408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[COVERAGE %]</a:t>
            </a:r>
            <a:endParaRPr lang="en-US" sz="3000" dirty="0"/>
          </a:p>
        </p:txBody>
      </p:sp>
      <p:sp>
        <p:nvSpPr>
          <p:cNvPr id="13" name="Text 9"/>
          <p:cNvSpPr/>
          <p:nvPr/>
        </p:nvSpPr>
        <p:spPr>
          <a:xfrm>
            <a:off x="9198864" y="2468880"/>
            <a:ext cx="23408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EC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critical positions have an identified successor</a:t>
            </a:r>
            <a:endParaRPr lang="en-US" sz="850" dirty="0"/>
          </a:p>
        </p:txBody>
      </p:sp>
      <p:sp>
        <p:nvSpPr>
          <p:cNvPr id="14" name="Shape 10"/>
          <p:cNvSpPr/>
          <p:nvPr/>
        </p:nvSpPr>
        <p:spPr>
          <a:xfrm>
            <a:off x="9052560" y="2980944"/>
            <a:ext cx="2633472" cy="1060704"/>
          </a:xfrm>
          <a:prstGeom prst="roundRect">
            <a:avLst>
              <a:gd name="adj" fmla="val 6034"/>
            </a:avLst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  <a:effectLst>
            <a:outerShdw blurRad="101600" dist="12700" dir="5400000" algn="bl" rotWithShape="0">
              <a:srgbClr val="0A57A5">
                <a:alpha val="10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9198864" y="3090672"/>
            <a:ext cx="23408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80" dirty="0">
                <a:solidFill>
                  <a:srgbClr val="B33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POSITIONS WITHOUT SUCCESSOR</a:t>
            </a:r>
            <a:endParaRPr lang="en-US" sz="850" dirty="0"/>
          </a:p>
        </p:txBody>
      </p:sp>
      <p:sp>
        <p:nvSpPr>
          <p:cNvPr id="16" name="Text 12"/>
          <p:cNvSpPr/>
          <p:nvPr/>
        </p:nvSpPr>
        <p:spPr>
          <a:xfrm>
            <a:off x="9235440" y="3383280"/>
            <a:ext cx="230428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[POSITION A]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[POSITION B]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[POSITION C]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9052560" y="4133088"/>
            <a:ext cx="2633472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  <a:effectLst>
            <a:outerShdw blurRad="101600" dist="12700" dir="5400000" algn="bl" rotWithShape="0">
              <a:srgbClr val="0A57A5">
                <a:alpha val="10000"/>
              </a:srgbClr>
            </a:outerShdw>
          </a:effectLst>
        </p:spPr>
      </p:sp>
      <p:sp>
        <p:nvSpPr>
          <p:cNvPr id="18" name="Text 14"/>
          <p:cNvSpPr/>
          <p:nvPr/>
        </p:nvSpPr>
        <p:spPr>
          <a:xfrm>
            <a:off x="9217152" y="4224528"/>
            <a:ext cx="23042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READINESS MIX</a:t>
            </a:r>
            <a:endParaRPr lang="en-US" sz="850" dirty="0"/>
          </a:p>
        </p:txBody>
      </p:sp>
      <p:sp>
        <p:nvSpPr>
          <p:cNvPr id="19" name="Shape 15"/>
          <p:cNvSpPr/>
          <p:nvPr/>
        </p:nvSpPr>
        <p:spPr>
          <a:xfrm>
            <a:off x="9217152" y="4443984"/>
            <a:ext cx="576072" cy="155448"/>
          </a:xfrm>
          <a:prstGeom prst="rect">
            <a:avLst/>
          </a:prstGeom>
          <a:solidFill>
            <a:srgbClr val="2E7D4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9793224" y="4443984"/>
            <a:ext cx="576072" cy="155448"/>
          </a:xfrm>
          <a:prstGeom prst="rect">
            <a:avLst/>
          </a:prstGeom>
          <a:solidFill>
            <a:srgbClr val="1078B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10369296" y="4443984"/>
            <a:ext cx="576072" cy="155448"/>
          </a:xfrm>
          <a:prstGeom prst="rect">
            <a:avLst/>
          </a:prstGeom>
          <a:solidFill>
            <a:srgbClr val="C98A1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10945368" y="4443984"/>
            <a:ext cx="576072" cy="155448"/>
          </a:xfrm>
          <a:prstGeom prst="rect">
            <a:avLst/>
          </a:prstGeom>
          <a:solidFill>
            <a:srgbClr val="B3372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9217152" y="4626864"/>
            <a:ext cx="23042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[N] / [N] / [N] / [N] positions across the four readiness bands</a:t>
            </a:r>
            <a:endParaRPr lang="en-US" sz="750" dirty="0"/>
          </a:p>
        </p:txBody>
      </p:sp>
      <p:sp>
        <p:nvSpPr>
          <p:cNvPr id="24" name="Text 20"/>
          <p:cNvSpPr/>
          <p:nvPr/>
        </p:nvSpPr>
        <p:spPr>
          <a:xfrm>
            <a:off x="502920" y="4517136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widths are illustrative - set them from the matrix.</a:t>
            </a:r>
            <a:endParaRPr lang="en-US" sz="750" dirty="0"/>
          </a:p>
        </p:txBody>
      </p:sp>
      <p:sp>
        <p:nvSpPr>
          <p:cNvPr id="25" name="Shape 21"/>
          <p:cNvSpPr/>
          <p:nvPr/>
        </p:nvSpPr>
        <p:spPr>
          <a:xfrm>
            <a:off x="502920" y="4265676"/>
            <a:ext cx="109728" cy="109728"/>
          </a:xfrm>
          <a:prstGeom prst="ellipse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658368" y="4224528"/>
            <a:ext cx="1609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Now</a:t>
            </a:r>
            <a:endParaRPr lang="en-US" sz="850" dirty="0"/>
          </a:p>
        </p:txBody>
      </p:sp>
      <p:sp>
        <p:nvSpPr>
          <p:cNvPr id="27" name="Shape 23"/>
          <p:cNvSpPr/>
          <p:nvPr/>
        </p:nvSpPr>
        <p:spPr>
          <a:xfrm>
            <a:off x="1778508" y="4265676"/>
            <a:ext cx="109728" cy="109728"/>
          </a:xfrm>
          <a:prstGeom prst="ellipse">
            <a:avLst/>
          </a:prstGeom>
          <a:solidFill>
            <a:srgbClr val="1078B8"/>
          </a:solidFill>
          <a:ln w="12700">
            <a:solidFill>
              <a:srgbClr val="1078B8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1933956" y="4224528"/>
            <a:ext cx="22494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&lt; 1 Year</a:t>
            </a:r>
            <a:endParaRPr lang="en-US" sz="850" dirty="0"/>
          </a:p>
        </p:txBody>
      </p:sp>
      <p:sp>
        <p:nvSpPr>
          <p:cNvPr id="29" name="Shape 25"/>
          <p:cNvSpPr/>
          <p:nvPr/>
        </p:nvSpPr>
        <p:spPr>
          <a:xfrm>
            <a:off x="3396996" y="4265676"/>
            <a:ext cx="109728" cy="109728"/>
          </a:xfrm>
          <a:prstGeom prst="ellipse">
            <a:avLst/>
          </a:prstGeom>
          <a:solidFill>
            <a:srgbClr val="C98A16"/>
          </a:solidFill>
          <a:ln w="12700">
            <a:solidFill>
              <a:srgbClr val="C98A16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3552444" y="422452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1-2 Years</a:t>
            </a:r>
            <a:endParaRPr lang="en-US" sz="850" dirty="0"/>
          </a:p>
        </p:txBody>
      </p:sp>
      <p:sp>
        <p:nvSpPr>
          <p:cNvPr id="31" name="Shape 27"/>
          <p:cNvSpPr/>
          <p:nvPr/>
        </p:nvSpPr>
        <p:spPr>
          <a:xfrm>
            <a:off x="5084064" y="4265676"/>
            <a:ext cx="109728" cy="109728"/>
          </a:xfrm>
          <a:prstGeom prst="ellipse">
            <a:avLst/>
          </a:prstGeom>
          <a:solidFill>
            <a:srgbClr val="B3372C"/>
          </a:solidFill>
          <a:ln w="12700">
            <a:solidFill>
              <a:srgbClr val="B3372C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5239512" y="4224528"/>
            <a:ext cx="1993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Successor</a:t>
            </a:r>
            <a:endParaRPr lang="en-US" sz="850" dirty="0"/>
          </a:p>
        </p:txBody>
      </p:sp>
      <p:sp>
        <p:nvSpPr>
          <p:cNvPr id="33" name="Shape 29"/>
          <p:cNvSpPr/>
          <p:nvPr/>
        </p:nvSpPr>
        <p:spPr>
          <a:xfrm>
            <a:off x="502920" y="4974336"/>
            <a:ext cx="11185855" cy="1078992"/>
          </a:xfrm>
          <a:prstGeom prst="roundRect">
            <a:avLst>
              <a:gd name="adj" fmla="val 5932"/>
            </a:avLst>
          </a:prstGeom>
          <a:solidFill>
            <a:srgbClr val="E9F3FB"/>
          </a:solidFill>
          <a:ln w="9525">
            <a:solidFill>
              <a:srgbClr val="C9DFF1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640080" y="5065776"/>
            <a:ext cx="34908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1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850" dirty="0"/>
          </a:p>
        </p:txBody>
      </p:sp>
      <p:sp>
        <p:nvSpPr>
          <p:cNvPr id="35" name="Text 31"/>
          <p:cNvSpPr/>
          <p:nvPr/>
        </p:nvSpPr>
        <p:spPr>
          <a:xfrm>
            <a:off x="640080" y="5248656"/>
            <a:ext cx="349087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[KEY INSIGHT - where is the organisation exposed?]</a:t>
            </a:r>
            <a:endParaRPr lang="en-US" sz="1000" dirty="0"/>
          </a:p>
        </p:txBody>
      </p:sp>
      <p:sp>
        <p:nvSpPr>
          <p:cNvPr id="36" name="Shape 32"/>
          <p:cNvSpPr/>
          <p:nvPr/>
        </p:nvSpPr>
        <p:spPr>
          <a:xfrm>
            <a:off x="4231538" y="5084064"/>
            <a:ext cx="7315" cy="859536"/>
          </a:xfrm>
          <a:prstGeom prst="rect">
            <a:avLst/>
          </a:prstGeom>
          <a:solidFill>
            <a:srgbClr val="C9DFF1"/>
          </a:solidFill>
          <a:ln/>
        </p:spPr>
      </p:sp>
      <p:sp>
        <p:nvSpPr>
          <p:cNvPr id="37" name="Text 33"/>
          <p:cNvSpPr/>
          <p:nvPr/>
        </p:nvSpPr>
        <p:spPr>
          <a:xfrm>
            <a:off x="4350410" y="5065776"/>
            <a:ext cx="34908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1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</a:t>
            </a:r>
            <a:endParaRPr lang="en-US" sz="850" dirty="0"/>
          </a:p>
        </p:txBody>
      </p:sp>
      <p:sp>
        <p:nvSpPr>
          <p:cNvPr id="38" name="Text 34"/>
          <p:cNvSpPr/>
          <p:nvPr/>
        </p:nvSpPr>
        <p:spPr>
          <a:xfrm>
            <a:off x="4350410" y="5248656"/>
            <a:ext cx="349087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[ROOT CAUSE - no development plan, no internal pipeline, external dependency]</a:t>
            </a:r>
            <a:endParaRPr lang="en-US" sz="1000" dirty="0"/>
          </a:p>
        </p:txBody>
      </p:sp>
      <p:sp>
        <p:nvSpPr>
          <p:cNvPr id="39" name="Shape 35"/>
          <p:cNvSpPr/>
          <p:nvPr/>
        </p:nvSpPr>
        <p:spPr>
          <a:xfrm>
            <a:off x="7941869" y="5084064"/>
            <a:ext cx="7315" cy="859536"/>
          </a:xfrm>
          <a:prstGeom prst="rect">
            <a:avLst/>
          </a:prstGeom>
          <a:solidFill>
            <a:srgbClr val="C9DFF1"/>
          </a:solidFill>
          <a:ln/>
        </p:spPr>
      </p:sp>
      <p:sp>
        <p:nvSpPr>
          <p:cNvPr id="40" name="Text 36"/>
          <p:cNvSpPr/>
          <p:nvPr/>
        </p:nvSpPr>
        <p:spPr>
          <a:xfrm>
            <a:off x="8060741" y="5065776"/>
            <a:ext cx="34908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1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/ IMPLICATION</a:t>
            </a:r>
            <a:endParaRPr lang="en-US" sz="850" dirty="0"/>
          </a:p>
        </p:txBody>
      </p:sp>
      <p:sp>
        <p:nvSpPr>
          <p:cNvPr id="41" name="Text 37"/>
          <p:cNvSpPr/>
          <p:nvPr/>
        </p:nvSpPr>
        <p:spPr>
          <a:xfrm>
            <a:off x="8060741" y="5248656"/>
            <a:ext cx="349087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[ACTION - development plan, targeted hire, retention measure for the position at risk]</a:t>
            </a:r>
            <a:endParaRPr lang="en-US" sz="1000" dirty="0"/>
          </a:p>
        </p:txBody>
      </p:sp>
      <p:sp>
        <p:nvSpPr>
          <p:cNvPr id="42" name="Shape 0">
            <a:extLst>
              <a:ext uri="{FF2B5EF4-FFF2-40B4-BE49-F238E27FC236}">
                <ns4:creationId id="{727BCC0C-71A9-58A2-F8D0-ED5B015D0AC8}"/>
              </a:ext>
            </a:extLst>
          </p:cNvPr>
          <p:cNvSpPr/>
          <p:nvPr/>
        </p:nvSpPr>
        <p:spPr>
          <a:xfrm>
            <a:off x="502920" y="310896"/>
            <a:ext cx="848563" cy="274320"/>
          </a:xfrm>
          <a:prstGeom prst="roundRect">
            <a:avLst>
              <a:gd name="adj" fmla="val 16667"/>
            </a:avLst>
          </a:prstGeom>
          <a:solidFill>
            <a:srgbClr val="0A57A5"/>
          </a:solidFill>
          <a:ln w="12700">
            <a:solidFill>
              <a:srgbClr val="0A57A5"/>
            </a:solidFill>
            <a:prstDash val="solid"/>
          </a:ln>
        </p:spPr>
      </p:sp>
      <p:sp>
        <p:nvSpPr>
          <p:cNvPr id="43" name="Text 1">
            <a:extLst>
              <a:ext uri="{FF2B5EF4-FFF2-40B4-BE49-F238E27FC236}">
                <ns4:creationId id="{2E60DD39-0555-1688-90DC-A15FDBC14F88}"/>
              </a:ext>
            </a:extLst>
          </p:cNvPr>
          <p:cNvSpPr/>
          <p:nvPr/>
        </p:nvSpPr>
        <p:spPr>
          <a:xfrm>
            <a:off x="502920" y="310896"/>
            <a:ext cx="84856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c="http://schemas.openxmlformats.org/drawingml/2006/chart" xmlns:ns3="http://schemas.microsoft.com/office/powerpoint/2010/main" xmlns:ns5="http://schemas.microsoft.com/office/drawing/2014/main" xmlns:p="http://schemas.openxmlformats.org/presentationml/2006/main" xmlns:r="http://schemas.openxmlformats.org/officeDocument/2006/relationships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02920" y="603504"/>
            <a:ext cx="8778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Productivity per Head</a:t>
            </a:r>
            <a:endParaRPr lang="en-US" sz="2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8323" y="0"/>
            <a:ext cx="1467612" cy="146761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26364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Semester 1 2026 Business Review  |  Cluster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1155680" y="626364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502920" y="1316736"/>
            <a:ext cx="11185855" cy="566928"/>
          </a:xfrm>
          <a:prstGeom prst="roundRect">
            <a:avLst>
              <a:gd name="adj" fmla="val 11290"/>
            </a:avLst>
          </a:prstGeom>
          <a:solidFill>
            <a:srgbClr val="E9EFF3"/>
          </a:solidFill>
          <a:ln w="9525">
            <a:solidFill>
              <a:srgbClr val="D9E0E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04088" y="1417320"/>
            <a:ext cx="1078351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Productivity / Head  =  Actual Sales ÷ Active Headcount</a:t>
            </a:r>
            <a:r>
              <a:rPr lang="en-US" sz="1150" dirty="0">
                <a:solidFill>
                  <a:srgbClr val="B7C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|          </a:t>
            </a:r>
            <a:r>
              <a:rPr lang="en-US" sz="115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Productivity / Head  =  Target Sales ÷ Budgeted Headcount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502920" y="204825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VS TARGET PRODUCTIVITY PER HEAD</a:t>
            </a:r>
            <a:endParaRPr lang="en-US" sz="950" dirty="0"/>
          </a:p>
        </p:txBody>
      </p:sp>
      <p:graphicFrame>
        <p:nvGraphicFramePr>
          <p:cNvPr id="10" name="Chart 0"/>
          <p:cNvGraphicFramePr/>
          <p:nvPr>
            <p:extLst>
              <p:ext uri="{D42A27DB-BD31-4B8C-83A1-F6EECF244321}">
                <ns3:modId val="1692972305"/>
              </p:ext>
            </p:extLst>
          </p:nvPr>
        </p:nvGraphicFramePr>
        <p:xfrm>
          <a:off x="429768" y="2267712"/>
          <a:ext cx="5989320" cy="2487168"/>
        </p:xfrm>
        <a:graphic>
          <a:graphicData uri="http://schemas.openxmlformats.org/drawingml/2006/chart">
            <c:chart r:id="rId4"/>
          </a:graphicData>
        </a:graphic>
      </p:graphicFrame>
      <p:sp>
        <p:nvSpPr>
          <p:cNvPr id="11" name="Text 7"/>
          <p:cNvSpPr/>
          <p:nvPr/>
        </p:nvSpPr>
        <p:spPr>
          <a:xfrm>
            <a:off x="502920" y="4791456"/>
            <a:ext cx="5852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structure only. Values are placeholders. Replace with BU data before use.</a:t>
            </a:r>
            <a:endParaRPr lang="en-US" sz="750" dirty="0"/>
          </a:p>
        </p:txBody>
      </p:sp>
      <p:sp>
        <p:nvSpPr>
          <p:cNvPr id="12" name="Text 8"/>
          <p:cNvSpPr/>
          <p:nvPr/>
        </p:nvSpPr>
        <p:spPr>
          <a:xfrm>
            <a:off x="6766560" y="204825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PRODUCTIVITY BY LINE VS LAST YEAR</a:t>
            </a:r>
            <a:endParaRPr lang="en-US" sz="9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ns3:modId val="1579011935"/>
              </p:ext>
            </p:extLst>
          </p:nvPr>
        </p:nvGraphicFramePr>
        <p:xfrm>
          <a:off x="6766560" y="2267712"/>
          <a:ext cx="4919472" cy="1865376"/>
        </p:xfrm>
        <a:graphic>
          <a:graphicData uri="http://schemas.openxmlformats.org/drawingml/2006/table">
            <a:tbl>
              <a:tblPr/>
              <a:tblGrid>
                <a:gridCol w="1078992">
                  <a:extLst>
                    <a:ext uri="{9D8B030D-6E8A-4147-A177-3AD203B41FA5}">
                      <ns5:colId val="20000"/>
                    </a:ext>
                  </a:extLst>
                </a:gridCol>
                <a:gridCol w="749808">
                  <a:extLst>
                    <a:ext uri="{9D8B030D-6E8A-4147-A177-3AD203B41FA5}">
                      <ns5:colId val="20001"/>
                    </a:ext>
                  </a:extLst>
                </a:gridCol>
                <a:gridCol w="749808">
                  <a:extLst>
                    <a:ext uri="{9D8B030D-6E8A-4147-A177-3AD203B41FA5}">
                      <ns5:colId val="20002"/>
                    </a:ext>
                  </a:extLst>
                </a:gridCol>
                <a:gridCol w="749808">
                  <a:extLst>
                    <a:ext uri="{9D8B030D-6E8A-4147-A177-3AD203B41FA5}">
                      <ns5:colId val="20003"/>
                    </a:ext>
                  </a:extLst>
                </a:gridCol>
                <a:gridCol w="768096">
                  <a:extLst>
                    <a:ext uri="{9D8B030D-6E8A-4147-A177-3AD203B41FA5}">
                      <ns5:colId val="20004"/>
                    </a:ext>
                  </a:extLst>
                </a:gridCol>
                <a:gridCol w="822960">
                  <a:extLst>
                    <a:ext uri="{9D8B030D-6E8A-4147-A177-3AD203B41FA5}">
                      <ns5:colId val="20005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 2025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Actual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vs Target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extLst>
                  <a:ext uri="{0D108BD9-81ED-4DB2-BD59-A6C34878D82A}">
                    <ns5:rowId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PEDIA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617K EGP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160K EGP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25.8%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33.1%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5:rowId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CVM-I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216K EGP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109K EGP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50.7%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E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22.7%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ns5:rowId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CVM-II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396K EGP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103K EGP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26.1%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C98A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21.4%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5:rowId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ORTHO-II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241K EGP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58K EGP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B337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ns5:rowId val="10004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ORTHO-I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88K EGP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52K EGP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59.0%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5:rowId val="10005"/>
                  </a:ext>
                </a:extLst>
              </a:tr>
            </a:tbl>
          </a:graphicData>
        </a:graphic>
      </p:graphicFrame>
      <p:sp>
        <p:nvSpPr>
          <p:cNvPr id="14" name="Shape 9"/>
          <p:cNvSpPr/>
          <p:nvPr/>
        </p:nvSpPr>
        <p:spPr>
          <a:xfrm>
            <a:off x="6766560" y="4283964"/>
            <a:ext cx="109728" cy="109728"/>
          </a:xfrm>
          <a:prstGeom prst="ellipse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6922008" y="4242816"/>
            <a:ext cx="2633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Productivity</a:t>
            </a:r>
            <a:endParaRPr lang="en-US" sz="850" dirty="0"/>
          </a:p>
        </p:txBody>
      </p:sp>
      <p:sp>
        <p:nvSpPr>
          <p:cNvPr id="16" name="Shape 11"/>
          <p:cNvSpPr/>
          <p:nvPr/>
        </p:nvSpPr>
        <p:spPr>
          <a:xfrm>
            <a:off x="8590788" y="4283964"/>
            <a:ext cx="109728" cy="109728"/>
          </a:xfrm>
          <a:prstGeom prst="ellipse">
            <a:avLst/>
          </a:prstGeom>
          <a:solidFill>
            <a:srgbClr val="C98A16"/>
          </a:solidFill>
          <a:ln w="12700">
            <a:solidFill>
              <a:srgbClr val="C98A16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8746236" y="4242816"/>
            <a:ext cx="1609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Target</a:t>
            </a:r>
            <a:endParaRPr lang="en-US" sz="850" dirty="0"/>
          </a:p>
        </p:txBody>
      </p:sp>
      <p:sp>
        <p:nvSpPr>
          <p:cNvPr id="18" name="Shape 13"/>
          <p:cNvSpPr/>
          <p:nvPr/>
        </p:nvSpPr>
        <p:spPr>
          <a:xfrm>
            <a:off x="9866376" y="4283964"/>
            <a:ext cx="109728" cy="109728"/>
          </a:xfrm>
          <a:prstGeom prst="ellipse">
            <a:avLst/>
          </a:prstGeom>
          <a:solidFill>
            <a:srgbClr val="B3372C"/>
          </a:solidFill>
          <a:ln w="12700">
            <a:solidFill>
              <a:srgbClr val="B3372C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10021824" y="4242816"/>
            <a:ext cx="2505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Productivity Gap</a:t>
            </a:r>
            <a:endParaRPr lang="en-US" sz="850" dirty="0"/>
          </a:p>
        </p:txBody>
      </p:sp>
      <p:sp>
        <p:nvSpPr>
          <p:cNvPr id="20" name="Shape 15"/>
          <p:cNvSpPr/>
          <p:nvPr/>
        </p:nvSpPr>
        <p:spPr>
          <a:xfrm>
            <a:off x="502920" y="5029200"/>
            <a:ext cx="11185855" cy="1024128"/>
          </a:xfrm>
          <a:prstGeom prst="roundRect">
            <a:avLst>
              <a:gd name="adj" fmla="val 6250"/>
            </a:avLst>
          </a:prstGeom>
          <a:solidFill>
            <a:srgbClr val="E9F3FB"/>
          </a:solidFill>
          <a:ln w="9525">
            <a:solidFill>
              <a:srgbClr val="C9DFF1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640080" y="5120640"/>
            <a:ext cx="34908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1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850" dirty="0"/>
          </a:p>
        </p:txBody>
      </p:sp>
      <p:sp>
        <p:nvSpPr>
          <p:cNvPr id="22" name="Text 17"/>
          <p:cNvSpPr/>
          <p:nvPr/>
        </p:nvSpPr>
        <p:spPr>
          <a:xfrm>
            <a:off x="640080" y="5303520"/>
            <a:ext cx="349087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[Is performance driven by headcount, by productivity, or by both?]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4231538" y="5138928"/>
            <a:ext cx="7315" cy="804672"/>
          </a:xfrm>
          <a:prstGeom prst="rect">
            <a:avLst/>
          </a:prstGeom>
          <a:solidFill>
            <a:srgbClr val="C9DFF1"/>
          </a:solidFill>
          <a:ln/>
        </p:spPr>
      </p:sp>
      <p:sp>
        <p:nvSpPr>
          <p:cNvPr id="24" name="Text 19"/>
          <p:cNvSpPr/>
          <p:nvPr/>
        </p:nvSpPr>
        <p:spPr>
          <a:xfrm>
            <a:off x="4350410" y="5120640"/>
            <a:ext cx="34908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1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</a:t>
            </a:r>
            <a:endParaRPr lang="en-US" sz="850" dirty="0"/>
          </a:p>
        </p:txBody>
      </p:sp>
      <p:sp>
        <p:nvSpPr>
          <p:cNvPr id="25" name="Text 20"/>
          <p:cNvSpPr/>
          <p:nvPr/>
        </p:nvSpPr>
        <p:spPr>
          <a:xfrm>
            <a:off x="4350410" y="5303520"/>
            <a:ext cx="349087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[ROOT CAUSE]</a:t>
            </a:r>
            <a:endParaRPr lang="en-US" sz="1000" dirty="0"/>
          </a:p>
        </p:txBody>
      </p:sp>
      <p:sp>
        <p:nvSpPr>
          <p:cNvPr id="26" name="Shape 21"/>
          <p:cNvSpPr/>
          <p:nvPr/>
        </p:nvSpPr>
        <p:spPr>
          <a:xfrm>
            <a:off x="7941869" y="5138928"/>
            <a:ext cx="7315" cy="804672"/>
          </a:xfrm>
          <a:prstGeom prst="rect">
            <a:avLst/>
          </a:prstGeom>
          <a:solidFill>
            <a:srgbClr val="C9DFF1"/>
          </a:solidFill>
          <a:ln/>
        </p:spPr>
      </p:sp>
      <p:sp>
        <p:nvSpPr>
          <p:cNvPr id="27" name="Text 22"/>
          <p:cNvSpPr/>
          <p:nvPr/>
        </p:nvSpPr>
        <p:spPr>
          <a:xfrm>
            <a:off x="8060741" y="5120640"/>
            <a:ext cx="34908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1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/ IMPLICATION</a:t>
            </a:r>
            <a:endParaRPr lang="en-US" sz="850" dirty="0"/>
          </a:p>
        </p:txBody>
      </p:sp>
      <p:sp>
        <p:nvSpPr>
          <p:cNvPr id="28" name="Text 23"/>
          <p:cNvSpPr/>
          <p:nvPr/>
        </p:nvSpPr>
        <p:spPr>
          <a:xfrm>
            <a:off x="8060741" y="5303520"/>
            <a:ext cx="349087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[Capacity risk if high productivity is being delivered by an under-staffed team]</a:t>
            </a:r>
            <a:endParaRPr lang="en-US" sz="1000" dirty="0"/>
          </a:p>
        </p:txBody>
      </p:sp>
      <p:sp>
        <p:nvSpPr>
          <p:cNvPr id="29" name="Shape 0">
            <a:extLst>
              <a:ext uri="{FF2B5EF4-FFF2-40B4-BE49-F238E27FC236}">
                <ns5:creationId id="{FE1CA3C2-AA17-C3AB-D476-591CA14C690D}"/>
              </a:ext>
            </a:extLst>
          </p:cNvPr>
          <p:cNvSpPr/>
          <p:nvPr/>
        </p:nvSpPr>
        <p:spPr>
          <a:xfrm>
            <a:off x="502920" y="310896"/>
            <a:ext cx="848563" cy="274320"/>
          </a:xfrm>
          <a:prstGeom prst="roundRect">
            <a:avLst>
              <a:gd name="adj" fmla="val 16667"/>
            </a:avLst>
          </a:prstGeom>
          <a:solidFill>
            <a:srgbClr val="0A57A5"/>
          </a:solidFill>
          <a:ln w="12700">
            <a:solidFill>
              <a:srgbClr val="0A57A5"/>
            </a:solidFill>
            <a:prstDash val="solid"/>
          </a:ln>
        </p:spPr>
      </p:sp>
      <p:sp>
        <p:nvSpPr>
          <p:cNvPr id="30" name="Text 1">
            <a:extLst>
              <a:ext uri="{FF2B5EF4-FFF2-40B4-BE49-F238E27FC236}">
                <ns5:creationId id="{B364F9C3-D9BD-F747-03FF-8DA22E3F751A}"/>
              </a:ext>
            </a:extLst>
          </p:cNvPr>
          <p:cNvSpPr/>
          <p:nvPr/>
        </p:nvSpPr>
        <p:spPr>
          <a:xfrm>
            <a:off x="502920" y="310896"/>
            <a:ext cx="84856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c="http://schemas.openxmlformats.org/drawingml/2006/chart" xmlns:ns3="http://schemas.microsoft.com/office/powerpoint/2010/main" xmlns:ns5="http://schemas.microsoft.com/office/drawing/2014/main" xmlns:p="http://schemas.openxmlformats.org/presentationml/2006/main" xmlns:r="http://schemas.openxmlformats.org/officeDocument/2006/relationships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10896"/>
            <a:ext cx="3423514" cy="274320"/>
          </a:xfrm>
          <a:prstGeom prst="roundRect">
            <a:avLst>
              <a:gd name="adj" fmla="val 16667"/>
            </a:avLst>
          </a:prstGeom>
          <a:solidFill>
            <a:srgbClr val="0A57A5"/>
          </a:solidFill>
          <a:ln w="12700">
            <a:solidFill>
              <a:srgbClr val="0A57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34235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 ·  EXTERNAL MARKET  ·  IQVIA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02920" y="603504"/>
            <a:ext cx="8778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Dynamics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02920" y="1060704"/>
            <a:ext cx="8778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IQVIA Standard Units  |  S1 2026 versus S1 2025</a:t>
            </a:r>
            <a:endParaRPr lang="en-US" sz="11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8323" y="0"/>
            <a:ext cx="1467612" cy="14676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626364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Semester 1 2026 Business Review  |  Cluster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11155680" y="626364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502920" y="1371600"/>
            <a:ext cx="2659304" cy="676656"/>
          </a:xfrm>
          <a:prstGeom prst="roundRect">
            <a:avLst>
              <a:gd name="adj" fmla="val 9459"/>
            </a:avLst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  <a:effectLst>
            <a:outerShdw blurRad="101600" dist="12700" dir="5400000" algn="bl" rotWithShape="0">
              <a:srgbClr val="0A57A5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21792" y="1472184"/>
            <a:ext cx="22752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6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SIZE (SU)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621792" y="1591056"/>
            <a:ext cx="242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70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18.5M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3345104" y="1371600"/>
            <a:ext cx="2659304" cy="676656"/>
          </a:xfrm>
          <a:prstGeom prst="roundRect">
            <a:avLst>
              <a:gd name="adj" fmla="val 9459"/>
            </a:avLst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  <a:effectLst>
            <a:outerShdw blurRad="101600" dist="12700" dir="5400000" algn="bl" rotWithShape="0">
              <a:srgbClr val="0A57A5">
                <a:alpha val="1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3463976" y="1472184"/>
            <a:ext cx="22752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6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GROWTH %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3463976" y="1591056"/>
            <a:ext cx="242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45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14.5%</a:t>
            </a:r>
            <a:endParaRPr lang="en-US" sz="1450" dirty="0"/>
          </a:p>
        </p:txBody>
      </p:sp>
      <p:sp>
        <p:nvSpPr>
          <p:cNvPr id="15" name="Shape 12"/>
          <p:cNvSpPr/>
          <p:nvPr/>
        </p:nvSpPr>
        <p:spPr>
          <a:xfrm>
            <a:off x="6187288" y="1371600"/>
            <a:ext cx="2659304" cy="676656"/>
          </a:xfrm>
          <a:prstGeom prst="roundRect">
            <a:avLst>
              <a:gd name="adj" fmla="val 9459"/>
            </a:avLst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  <a:effectLst>
            <a:outerShdw blurRad="101600" dist="12700" dir="5400000" algn="bl" rotWithShape="0">
              <a:srgbClr val="0A57A5">
                <a:alpha val="10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6306160" y="1472184"/>
            <a:ext cx="22752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6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EVOLUTION INDEX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6306160" y="1591056"/>
            <a:ext cx="242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45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]</a:t>
            </a:r>
            <a:endParaRPr lang="en-US" sz="1450" dirty="0"/>
          </a:p>
        </p:txBody>
      </p:sp>
      <p:sp>
        <p:nvSpPr>
          <p:cNvPr id="18" name="Shape 15"/>
          <p:cNvSpPr/>
          <p:nvPr/>
        </p:nvSpPr>
        <p:spPr>
          <a:xfrm>
            <a:off x="9029471" y="1371600"/>
            <a:ext cx="2659304" cy="676656"/>
          </a:xfrm>
          <a:prstGeom prst="roundRect">
            <a:avLst>
              <a:gd name="adj" fmla="val 9459"/>
            </a:avLst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  <a:effectLst>
            <a:outerShdw blurRad="101600" dist="12700" dir="5400000" algn="bl" rotWithShape="0">
              <a:srgbClr val="0A57A5">
                <a:alpha val="10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9148343" y="1472184"/>
            <a:ext cx="22752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6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GROWTH %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9148343" y="1591056"/>
            <a:ext cx="242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45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0.0%</a:t>
            </a:r>
            <a:endParaRPr lang="en-US" sz="1450" dirty="0"/>
          </a:p>
        </p:txBody>
      </p:sp>
      <p:sp>
        <p:nvSpPr>
          <p:cNvPr id="21" name="Text 18"/>
          <p:cNvSpPr/>
          <p:nvPr/>
        </p:nvSpPr>
        <p:spPr>
          <a:xfrm>
            <a:off x="502920" y="223113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SIZE EVOLUTION - STANDARD UNITS</a:t>
            </a:r>
            <a:endParaRPr lang="en-US" sz="950" dirty="0"/>
          </a:p>
        </p:txBody>
      </p:sp>
      <p:graphicFrame>
        <p:nvGraphicFramePr>
          <p:cNvPr id="22" name="Chart 0"/>
          <p:cNvGraphicFramePr/>
          <p:nvPr>
            <p:extLst>
              <p:ext uri="{D42A27DB-BD31-4B8C-83A1-F6EECF244321}">
                <ns3:modId val="1407332468"/>
              </p:ext>
            </p:extLst>
          </p:nvPr>
        </p:nvGraphicFramePr>
        <p:xfrm>
          <a:off x="429768" y="2450592"/>
          <a:ext cx="5577840" cy="2240280"/>
        </p:xfrm>
        <a:graphic>
          <a:graphicData uri="http://schemas.openxmlformats.org/drawingml/2006/chart">
            <c:chart r:id="rId4"/>
          </a:graphicData>
        </a:graphic>
      </p:graphicFrame>
      <p:sp>
        <p:nvSpPr>
          <p:cNvPr id="23" name="Text 19"/>
          <p:cNvSpPr/>
          <p:nvPr/>
        </p:nvSpPr>
        <p:spPr>
          <a:xfrm>
            <a:off x="502920" y="4672584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structure only. Values are placeholders. Replace with BU data before use.</a:t>
            </a:r>
            <a:endParaRPr lang="en-US" sz="750" dirty="0"/>
          </a:p>
        </p:txBody>
      </p:sp>
      <p:sp>
        <p:nvSpPr>
          <p:cNvPr id="24" name="Text 20"/>
          <p:cNvSpPr/>
          <p:nvPr/>
        </p:nvSpPr>
        <p:spPr>
          <a:xfrm>
            <a:off x="6492240" y="223113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COMPARISON - MARKET VS COMPANY</a:t>
            </a:r>
            <a:endParaRPr lang="en-US" sz="950" dirty="0"/>
          </a:p>
        </p:txBody>
      </p:sp>
      <p:sp>
        <p:nvSpPr>
          <p:cNvPr id="26" name="Text 21"/>
          <p:cNvSpPr/>
          <p:nvPr/>
        </p:nvSpPr>
        <p:spPr>
          <a:xfrm>
            <a:off x="6492240" y="4653813"/>
            <a:ext cx="5120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structure only. Values are placeholders. Replace with BU data before use.</a:t>
            </a:r>
            <a:endParaRPr lang="en-US" sz="750" dirty="0"/>
          </a:p>
        </p:txBody>
      </p:sp>
      <p:sp>
        <p:nvSpPr>
          <p:cNvPr id="27" name="Text 22"/>
          <p:cNvSpPr/>
          <p:nvPr/>
        </p:nvSpPr>
        <p:spPr>
          <a:xfrm>
            <a:off x="6492240" y="4797712"/>
            <a:ext cx="5175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 market trends:  [TREND 1]  ·  [TREND 2]  ·  [TREND 3]</a:t>
            </a:r>
            <a:endParaRPr lang="en-US" sz="950" dirty="0"/>
          </a:p>
        </p:txBody>
      </p:sp>
      <p:sp>
        <p:nvSpPr>
          <p:cNvPr id="28" name="Shape 23"/>
          <p:cNvSpPr/>
          <p:nvPr/>
        </p:nvSpPr>
        <p:spPr>
          <a:xfrm>
            <a:off x="502920" y="5010912"/>
            <a:ext cx="11185855" cy="1042416"/>
          </a:xfrm>
          <a:prstGeom prst="roundRect">
            <a:avLst>
              <a:gd name="adj" fmla="val 6140"/>
            </a:avLst>
          </a:prstGeom>
          <a:solidFill>
            <a:srgbClr val="E9F3FB"/>
          </a:solidFill>
          <a:ln w="9525">
            <a:solidFill>
              <a:srgbClr val="C9DFF1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640080" y="5102352"/>
            <a:ext cx="534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1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MARKET DYNAMICS</a:t>
            </a:r>
            <a:endParaRPr lang="en-US" sz="850" dirty="0"/>
          </a:p>
        </p:txBody>
      </p:sp>
      <p:sp>
        <p:nvSpPr>
          <p:cNvPr id="30" name="Text 25"/>
          <p:cNvSpPr/>
          <p:nvPr/>
        </p:nvSpPr>
        <p:spPr>
          <a:xfrm>
            <a:off x="640080" y="5285232"/>
            <a:ext cx="5346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[What moved the market: volume, new entrants, pricing, tenders, regulation]</a:t>
            </a:r>
            <a:endParaRPr lang="en-US" sz="1000" dirty="0"/>
          </a:p>
        </p:txBody>
      </p:sp>
      <p:sp>
        <p:nvSpPr>
          <p:cNvPr id="31" name="Shape 26"/>
          <p:cNvSpPr/>
          <p:nvPr/>
        </p:nvSpPr>
        <p:spPr>
          <a:xfrm>
            <a:off x="6086704" y="5120640"/>
            <a:ext cx="7315" cy="822960"/>
          </a:xfrm>
          <a:prstGeom prst="rect">
            <a:avLst/>
          </a:prstGeom>
          <a:solidFill>
            <a:srgbClr val="C9DFF1"/>
          </a:solidFill>
          <a:ln/>
        </p:spPr>
      </p:sp>
      <p:sp>
        <p:nvSpPr>
          <p:cNvPr id="32" name="Text 27"/>
          <p:cNvSpPr/>
          <p:nvPr/>
        </p:nvSpPr>
        <p:spPr>
          <a:xfrm>
            <a:off x="6205576" y="5102352"/>
            <a:ext cx="534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1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IMPLICATIONS</a:t>
            </a:r>
            <a:endParaRPr lang="en-US" sz="850" dirty="0"/>
          </a:p>
        </p:txBody>
      </p:sp>
      <p:sp>
        <p:nvSpPr>
          <p:cNvPr id="33" name="Text 28"/>
          <p:cNvSpPr/>
          <p:nvPr/>
        </p:nvSpPr>
        <p:spPr>
          <a:xfrm>
            <a:off x="6205576" y="5285232"/>
            <a:ext cx="5346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[What this means for the BU in S2 2026]</a:t>
            </a:r>
            <a:endParaRPr lang="en-US" sz="1000" dirty="0"/>
          </a:p>
        </p:txBody>
      </p:sp>
      <p:graphicFrame>
        <p:nvGraphicFramePr>
          <p:cNvPr id="34" name="Chart 0">
            <a:extLst>
              <a:ext uri="{FF2B5EF4-FFF2-40B4-BE49-F238E27FC236}">
                <ns5:creationId id="{412D1578-C4DE-A8B9-E989-E7816D384FCA}"/>
              </a:ext>
            </a:extLst>
          </p:cNvPr>
          <p:cNvGraphicFramePr/>
          <p:nvPr>
            <p:extLst>
              <p:ext uri="{D42A27DB-BD31-4B8C-83A1-F6EECF244321}">
                <ns3:modId val="2470900072"/>
              </p:ext>
            </p:extLst>
          </p:nvPr>
        </p:nvGraphicFramePr>
        <p:xfrm>
          <a:off x="6097454" y="2448986"/>
          <a:ext cx="5577840" cy="2240280"/>
        </p:xfrm>
        <a:graphic>
          <a:graphicData uri="http://schemas.openxmlformats.org/drawingml/2006/chart">
            <c:chart r:id="rId5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ns3="http://schemas.microsoft.com/office/powerpoint/2010/main" xmlns:ns4="http://schemas.microsoft.com/office/drawing/2014/main" xmlns:p="http://schemas.openxmlformats.org/presentationml/2006/main" xmlns:r="http://schemas.openxmlformats.org/officeDocument/2006/relationships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02920" y="603504"/>
            <a:ext cx="8778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Share Performance by Product</a:t>
            </a:r>
            <a:endParaRPr lang="en-US" sz="2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8323" y="0"/>
            <a:ext cx="1467612" cy="146761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26364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Semester 1 2026 Business Review  |  Cluster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1155680" y="626364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ns3:modId val="1579011935"/>
              </p:ext>
            </p:extLst>
          </p:nvPr>
        </p:nvGraphicFramePr>
        <p:xfrm>
          <a:off x="502920" y="1371600"/>
          <a:ext cx="11183112" cy="2889504"/>
        </p:xfrm>
        <a:graphic>
          <a:graphicData uri="http://schemas.openxmlformats.org/drawingml/2006/table">
            <a:tbl>
              <a:tblPr/>
              <a:tblGrid>
                <a:gridCol w="1600200">
                  <a:extLst>
                    <a:ext uri="{9D8B030D-6E8A-4147-A177-3AD203B41FA5}">
                      <ns4:colId val="20000"/>
                    </a:ext>
                  </a:extLst>
                </a:gridCol>
                <a:gridCol w="1600200">
                  <a:extLst>
                    <a:ext uri="{9D8B030D-6E8A-4147-A177-3AD203B41FA5}">
                      <ns4:colId val="20001"/>
                    </a:ext>
                  </a:extLst>
                </a:gridCol>
                <a:gridCol w="1188720">
                  <a:extLst>
                    <a:ext uri="{9D8B030D-6E8A-4147-A177-3AD203B41FA5}">
                      <ns4:colId val="20002"/>
                    </a:ext>
                  </a:extLst>
                </a:gridCol>
                <a:gridCol w="1463040">
                  <a:extLst>
                    <a:ext uri="{9D8B030D-6E8A-4147-A177-3AD203B41FA5}">
                      <ns4:colId val="20003"/>
                    </a:ext>
                  </a:extLst>
                </a:gridCol>
                <a:gridCol w="1463040">
                  <a:extLst>
                    <a:ext uri="{9D8B030D-6E8A-4147-A177-3AD203B41FA5}">
                      <ns4:colId val="20004"/>
                    </a:ext>
                  </a:extLst>
                </a:gridCol>
                <a:gridCol w="1280160">
                  <a:extLst>
                    <a:ext uri="{9D8B030D-6E8A-4147-A177-3AD203B41FA5}">
                      <ns4:colId val="20005"/>
                    </a:ext>
                  </a:extLst>
                </a:gridCol>
                <a:gridCol w="1417320">
                  <a:extLst>
                    <a:ext uri="{9D8B030D-6E8A-4147-A177-3AD203B41FA5}">
                      <ns4:colId val="20006"/>
                    </a:ext>
                  </a:extLst>
                </a:gridCol>
                <a:gridCol w="1170432">
                  <a:extLst>
                    <a:ext uri="{9D8B030D-6E8A-4147-A177-3AD203B41FA5}">
                      <ns4:colId val="20007"/>
                    </a:ext>
                  </a:extLst>
                </a:gridCol>
              </a:tblGrid>
              <a:tr h="3611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Market / Segment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 2025 MS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 2026 MS Target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 2026 Actual MS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Gap vs Target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MS Change vs LY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extLst>
                  <a:ext uri="{0D108BD9-81ED-4DB2-BD59-A6C34878D82A}">
                    <ns4:rowId val="10000"/>
                  </a:ext>
                </a:extLst>
              </a:tr>
              <a:tr h="3611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[PRODUCT 1]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[SEGMENT]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[+/- pts]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E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[+/- pts]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E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E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[GAINING]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4:rowId val="10001"/>
                  </a:ext>
                </a:extLst>
              </a:tr>
              <a:tr h="3611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[PRODUCT 2]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[SEGMENT]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[+/- pts]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F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[+/- pts]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F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C98A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[BELOW TARGET]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ns4:rowId val="10002"/>
                  </a:ext>
                </a:extLst>
              </a:tr>
              <a:tr h="3611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[PRODUCT 3]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[SEGMENT]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[+/- pts]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F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[+/- pts]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F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B337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[LOSING]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4:rowId val="10003"/>
                  </a:ext>
                </a:extLst>
              </a:tr>
              <a:tr h="3611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[PRODUCT 4]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[SEGMENT]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[+/- pts]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[+/- pts]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[STATUS]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ns4:rowId val="10004"/>
                  </a:ext>
                </a:extLst>
              </a:tr>
              <a:tr h="3611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[PRODUCT 5]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[SEGMENT]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[+/- pts]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[+/- pts]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[STATUS]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4:rowId val="10005"/>
                  </a:ext>
                </a:extLst>
              </a:tr>
              <a:tr h="3611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[PRODUCT 6]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[SEGMENT]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[+/- pts]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[+/- pts]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[STATUS]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ns4:rowId val="10006"/>
                  </a:ext>
                </a:extLst>
              </a:tr>
              <a:tr h="3611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BU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[+/- pts]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[+/- pts]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4:rowId val="10007"/>
                  </a:ext>
                </a:extLst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502920" y="4485132"/>
            <a:ext cx="109728" cy="109728"/>
          </a:xfrm>
          <a:prstGeom prst="ellipse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658368" y="4443984"/>
            <a:ext cx="2121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Gaining share</a:t>
            </a:r>
            <a:endParaRPr lang="en-US" sz="850" dirty="0"/>
          </a:p>
        </p:txBody>
      </p:sp>
      <p:sp>
        <p:nvSpPr>
          <p:cNvPr id="10" name="Shape 6"/>
          <p:cNvSpPr/>
          <p:nvPr/>
        </p:nvSpPr>
        <p:spPr>
          <a:xfrm>
            <a:off x="2052828" y="4485132"/>
            <a:ext cx="109728" cy="109728"/>
          </a:xfrm>
          <a:prstGeom prst="ellipse">
            <a:avLst/>
          </a:prstGeom>
          <a:solidFill>
            <a:srgbClr val="C98A16"/>
          </a:solidFill>
          <a:ln w="12700">
            <a:solidFill>
              <a:srgbClr val="C98A16"/>
            </a:solidFill>
            <a:prstDash val="solid"/>
          </a:ln>
        </p:spPr>
      </p:sp>
      <p:sp>
        <p:nvSpPr>
          <p:cNvPr id="7" name="Text 7"/>
          <p:cNvSpPr/>
          <p:nvPr/>
        </p:nvSpPr>
        <p:spPr>
          <a:xfrm>
            <a:off x="2208276" y="4443984"/>
            <a:ext cx="1993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target</a:t>
            </a:r>
            <a:endParaRPr lang="en-US" sz="850" dirty="0"/>
          </a:p>
        </p:txBody>
      </p:sp>
      <p:sp>
        <p:nvSpPr>
          <p:cNvPr id="12" name="Shape 8"/>
          <p:cNvSpPr/>
          <p:nvPr/>
        </p:nvSpPr>
        <p:spPr>
          <a:xfrm>
            <a:off x="3534156" y="4485132"/>
            <a:ext cx="109728" cy="109728"/>
          </a:xfrm>
          <a:prstGeom prst="ellipse">
            <a:avLst/>
          </a:prstGeom>
          <a:solidFill>
            <a:srgbClr val="B3372C"/>
          </a:solidFill>
          <a:ln w="12700">
            <a:solidFill>
              <a:srgbClr val="B3372C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689604" y="4443984"/>
            <a:ext cx="1993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Losing share</a:t>
            </a:r>
            <a:endParaRPr lang="en-US" sz="850" dirty="0"/>
          </a:p>
        </p:txBody>
      </p:sp>
      <p:sp>
        <p:nvSpPr>
          <p:cNvPr id="14" name="Text 10"/>
          <p:cNvSpPr/>
          <p:nvPr/>
        </p:nvSpPr>
        <p:spPr>
          <a:xfrm>
            <a:off x="6949440" y="4443984"/>
            <a:ext cx="4736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i="1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 shading bands the two variance columns. Apply the BU's own thresholds.</a:t>
            </a:r>
            <a:endParaRPr lang="en-US" sz="750" dirty="0"/>
          </a:p>
        </p:txBody>
      </p:sp>
      <p:sp>
        <p:nvSpPr>
          <p:cNvPr id="15" name="Shape 11"/>
          <p:cNvSpPr/>
          <p:nvPr/>
        </p:nvSpPr>
        <p:spPr>
          <a:xfrm>
            <a:off x="502920" y="4828032"/>
            <a:ext cx="11185855" cy="1225296"/>
          </a:xfrm>
          <a:prstGeom prst="roundRect">
            <a:avLst>
              <a:gd name="adj" fmla="val 5224"/>
            </a:avLst>
          </a:prstGeom>
          <a:solidFill>
            <a:srgbClr val="E9F3FB"/>
          </a:solidFill>
          <a:ln w="9525">
            <a:solidFill>
              <a:srgbClr val="C9DFF1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640080" y="4919472"/>
            <a:ext cx="34908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1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850" dirty="0"/>
          </a:p>
        </p:txBody>
      </p:sp>
      <p:sp>
        <p:nvSpPr>
          <p:cNvPr id="17" name="Text 13"/>
          <p:cNvSpPr/>
          <p:nvPr/>
        </p:nvSpPr>
        <p:spPr>
          <a:xfrm>
            <a:off x="640080" y="5102352"/>
            <a:ext cx="349087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[Which products drive the share picture, positively and negatively?]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4231538" y="4937760"/>
            <a:ext cx="7315" cy="1005840"/>
          </a:xfrm>
          <a:prstGeom prst="rect">
            <a:avLst/>
          </a:prstGeom>
          <a:solidFill>
            <a:srgbClr val="C9DFF1"/>
          </a:solidFill>
          <a:ln/>
        </p:spPr>
      </p:sp>
      <p:sp>
        <p:nvSpPr>
          <p:cNvPr id="19" name="Text 15"/>
          <p:cNvSpPr/>
          <p:nvPr/>
        </p:nvSpPr>
        <p:spPr>
          <a:xfrm>
            <a:off x="4350410" y="4919472"/>
            <a:ext cx="34908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1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</a:t>
            </a:r>
            <a:endParaRPr lang="en-US" sz="850" dirty="0"/>
          </a:p>
        </p:txBody>
      </p:sp>
      <p:sp>
        <p:nvSpPr>
          <p:cNvPr id="20" name="Text 16"/>
          <p:cNvSpPr/>
          <p:nvPr/>
        </p:nvSpPr>
        <p:spPr>
          <a:xfrm>
            <a:off x="4350410" y="5102352"/>
            <a:ext cx="349087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[ROOT CAUSE - promotion, coverage, supply, competitor entry, pricing]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7941869" y="4937760"/>
            <a:ext cx="7315" cy="1005840"/>
          </a:xfrm>
          <a:prstGeom prst="rect">
            <a:avLst/>
          </a:prstGeom>
          <a:solidFill>
            <a:srgbClr val="C9DFF1"/>
          </a:solidFill>
          <a:ln/>
        </p:spPr>
      </p:sp>
      <p:sp>
        <p:nvSpPr>
          <p:cNvPr id="22" name="Text 18"/>
          <p:cNvSpPr/>
          <p:nvPr/>
        </p:nvSpPr>
        <p:spPr>
          <a:xfrm>
            <a:off x="8060741" y="4919472"/>
            <a:ext cx="34908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1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/ IMPLICATION</a:t>
            </a:r>
            <a:endParaRPr lang="en-US" sz="850" dirty="0"/>
          </a:p>
        </p:txBody>
      </p:sp>
      <p:sp>
        <p:nvSpPr>
          <p:cNvPr id="23" name="Text 19"/>
          <p:cNvSpPr/>
          <p:nvPr/>
        </p:nvSpPr>
        <p:spPr>
          <a:xfrm>
            <a:off x="8060741" y="5102352"/>
            <a:ext cx="349087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[ACTION - defend, invest, reposition or de-prioritise]</a:t>
            </a:r>
            <a:endParaRPr lang="en-US" sz="1000" dirty="0"/>
          </a:p>
        </p:txBody>
      </p:sp>
      <p:sp>
        <p:nvSpPr>
          <p:cNvPr id="24" name="Shape 0">
            <a:extLst>
              <a:ext uri="{FF2B5EF4-FFF2-40B4-BE49-F238E27FC236}">
                <ns4:creationId id="{9FC556F9-B19D-1828-CD0A-AD2F800CE532}"/>
              </a:ext>
            </a:extLst>
          </p:cNvPr>
          <p:cNvSpPr/>
          <p:nvPr/>
        </p:nvSpPr>
        <p:spPr>
          <a:xfrm>
            <a:off x="502920" y="310896"/>
            <a:ext cx="3423514" cy="274320"/>
          </a:xfrm>
          <a:prstGeom prst="roundRect">
            <a:avLst>
              <a:gd name="adj" fmla="val 16667"/>
            </a:avLst>
          </a:prstGeom>
          <a:solidFill>
            <a:srgbClr val="0A57A5"/>
          </a:solidFill>
          <a:ln w="12700">
            <a:solidFill>
              <a:srgbClr val="0A57A5"/>
            </a:solidFill>
            <a:prstDash val="solid"/>
          </a:ln>
        </p:spPr>
      </p:sp>
      <p:sp>
        <p:nvSpPr>
          <p:cNvPr id="25" name="Text 1">
            <a:extLst>
              <a:ext uri="{FF2B5EF4-FFF2-40B4-BE49-F238E27FC236}">
                <ns4:creationId id="{114C09FD-F654-5032-EC4E-A030B10ABA77}"/>
              </a:ext>
            </a:extLst>
          </p:cNvPr>
          <p:cNvSpPr/>
          <p:nvPr/>
        </p:nvSpPr>
        <p:spPr>
          <a:xfrm>
            <a:off x="502920" y="310896"/>
            <a:ext cx="34235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 ·  EXTERNAL MARKET  ·  IQVIA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c="http://schemas.openxmlformats.org/drawingml/2006/chart" xmlns:ns3="http://schemas.microsoft.com/office/powerpoint/2010/main" xmlns:ns5="http://schemas.microsoft.com/office/drawing/2014/main" xmlns:p="http://schemas.openxmlformats.org/presentationml/2006/main" xmlns:r="http://schemas.openxmlformats.org/officeDocument/2006/relationships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02920" y="603504"/>
            <a:ext cx="8778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Evolution Index by Product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060704"/>
            <a:ext cx="8778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standard EI methodology  |  product growth indexed against market growth</a:t>
            </a:r>
            <a:endParaRPr lang="en-US" sz="11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8323" y="0"/>
            <a:ext cx="1467612" cy="14676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626364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Semester 1 2026 Business Review  |  Cluster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11155680" y="626364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02920" y="142646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 RANKING - PRODUCTS ORDERED BY MOMENTUM</a:t>
            </a:r>
            <a:endParaRPr lang="en-US" sz="950" dirty="0"/>
          </a:p>
        </p:txBody>
      </p:sp>
      <p:graphicFrame>
        <p:nvGraphicFramePr>
          <p:cNvPr id="9" name="Chart 0"/>
          <p:cNvGraphicFramePr/>
          <p:nvPr>
            <p:extLst>
              <p:ext uri="{D42A27DB-BD31-4B8C-83A1-F6EECF244321}">
                <ns3:modId val="3088356421"/>
              </p:ext>
            </p:extLst>
          </p:nvPr>
        </p:nvGraphicFramePr>
        <p:xfrm>
          <a:off x="429768" y="1645920"/>
          <a:ext cx="5989320" cy="2999232"/>
        </p:xfrm>
        <a:graphic>
          <a:graphicData uri="http://schemas.openxmlformats.org/drawingml/2006/chart">
            <c:chart r:id="rId4"/>
          </a:graphicData>
        </a:graphic>
      </p:graphicFrame>
      <p:sp>
        <p:nvSpPr>
          <p:cNvPr id="10" name="Text 6"/>
          <p:cNvSpPr/>
          <p:nvPr/>
        </p:nvSpPr>
        <p:spPr>
          <a:xfrm>
            <a:off x="502920" y="4626864"/>
            <a:ext cx="5852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structure only. Sort products descending by EI and add a reference marker at 100.</a:t>
            </a:r>
            <a:endParaRPr lang="en-US" sz="750" dirty="0"/>
          </a:p>
        </p:txBody>
      </p:sp>
      <p:sp>
        <p:nvSpPr>
          <p:cNvPr id="11" name="Text 7"/>
          <p:cNvSpPr/>
          <p:nvPr/>
        </p:nvSpPr>
        <p:spPr>
          <a:xfrm>
            <a:off x="6766560" y="142646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DECOMPOSITION</a:t>
            </a:r>
            <a:endParaRPr lang="en-US" sz="9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ns3:modId val="1579011935"/>
              </p:ext>
            </p:extLst>
          </p:nvPr>
        </p:nvGraphicFramePr>
        <p:xfrm>
          <a:off x="6766560" y="1645920"/>
          <a:ext cx="4919472" cy="2144268"/>
        </p:xfrm>
        <a:graphic>
          <a:graphicData uri="http://schemas.openxmlformats.org/drawingml/2006/table">
            <a:tbl>
              <a:tblPr/>
              <a:tblGrid>
                <a:gridCol w="1444752">
                  <a:extLst>
                    <a:ext uri="{9D8B030D-6E8A-4147-A177-3AD203B41FA5}">
                      <ns5:colId val="20000"/>
                    </a:ext>
                  </a:extLst>
                </a:gridCol>
                <a:gridCol w="1234440">
                  <a:extLst>
                    <a:ext uri="{9D8B030D-6E8A-4147-A177-3AD203B41FA5}">
                      <ns5:colId val="20001"/>
                    </a:ext>
                  </a:extLst>
                </a:gridCol>
                <a:gridCol w="1234440">
                  <a:extLst>
                    <a:ext uri="{9D8B030D-6E8A-4147-A177-3AD203B41FA5}">
                      <ns5:colId val="20002"/>
                    </a:ext>
                  </a:extLst>
                </a:gridCol>
                <a:gridCol w="1005840">
                  <a:extLst>
                    <a:ext uri="{9D8B030D-6E8A-4147-A177-3AD203B41FA5}">
                      <ns5:colId val="20003"/>
                    </a:ext>
                  </a:extLst>
                </a:gridCol>
              </a:tblGrid>
              <a:tr h="3063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 Growth 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Market Growth 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extLst>
                  <a:ext uri="{0D108BD9-81ED-4DB2-BD59-A6C34878D82A}">
                    <ns5:rowId val="10000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[PRODUCT 1]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E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[EI]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5:rowId val="10001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[PRODUCT 2]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E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[EI]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ns5:rowId val="10002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[PRODUCT 3]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C98A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[EI]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5:rowId val="10003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[PRODUCT 4]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B337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[EI]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ns5:rowId val="10004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[PRODUCT 5]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[EI]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5:rowId val="10005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[PRODUCT 6]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[EI]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ns5:rowId val="10006"/>
                  </a:ext>
                </a:extLst>
              </a:tr>
            </a:tbl>
          </a:graphicData>
        </a:graphic>
      </p:graphicFrame>
      <p:sp>
        <p:nvSpPr>
          <p:cNvPr id="13" name="Shape 8"/>
          <p:cNvSpPr/>
          <p:nvPr/>
        </p:nvSpPr>
        <p:spPr>
          <a:xfrm>
            <a:off x="6803136" y="3959352"/>
            <a:ext cx="118872" cy="118872"/>
          </a:xfrm>
          <a:prstGeom prst="ellipse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7004304" y="3913632"/>
            <a:ext cx="4663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 &gt; 100   </a:t>
            </a:r>
            <a:r>
              <a:rPr lang="en-US" sz="9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Outperforming the market</a:t>
            </a:r>
            <a:endParaRPr lang="en-US" sz="950" dirty="0"/>
          </a:p>
        </p:txBody>
      </p:sp>
      <p:sp>
        <p:nvSpPr>
          <p:cNvPr id="15" name="Shape 10"/>
          <p:cNvSpPr/>
          <p:nvPr/>
        </p:nvSpPr>
        <p:spPr>
          <a:xfrm>
            <a:off x="6803136" y="4224528"/>
            <a:ext cx="118872" cy="118872"/>
          </a:xfrm>
          <a:prstGeom prst="ellipse">
            <a:avLst/>
          </a:prstGeom>
          <a:solidFill>
            <a:srgbClr val="C98A16"/>
          </a:solidFill>
          <a:ln w="12700">
            <a:solidFill>
              <a:srgbClr val="C98A16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7004304" y="4178808"/>
            <a:ext cx="4663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 = 100   </a:t>
            </a:r>
            <a:r>
              <a:rPr lang="en-US" sz="9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line with the market</a:t>
            </a:r>
            <a:endParaRPr lang="en-US" sz="950" dirty="0"/>
          </a:p>
        </p:txBody>
      </p:sp>
      <p:sp>
        <p:nvSpPr>
          <p:cNvPr id="17" name="Shape 12"/>
          <p:cNvSpPr/>
          <p:nvPr/>
        </p:nvSpPr>
        <p:spPr>
          <a:xfrm>
            <a:off x="6803136" y="4489704"/>
            <a:ext cx="118872" cy="118872"/>
          </a:xfrm>
          <a:prstGeom prst="ellipse">
            <a:avLst/>
          </a:prstGeom>
          <a:solidFill>
            <a:srgbClr val="B3372C"/>
          </a:solidFill>
          <a:ln w="12700">
            <a:solidFill>
              <a:srgbClr val="B3372C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7004304" y="4443984"/>
            <a:ext cx="4663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 &lt; 100   </a:t>
            </a:r>
            <a:r>
              <a:rPr lang="en-US" sz="9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Underperforming the market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502920" y="4974336"/>
            <a:ext cx="11185855" cy="1078992"/>
          </a:xfrm>
          <a:prstGeom prst="roundRect">
            <a:avLst>
              <a:gd name="adj" fmla="val 5932"/>
            </a:avLst>
          </a:prstGeom>
          <a:solidFill>
            <a:srgbClr val="E9F3FB"/>
          </a:solidFill>
          <a:ln w="9525">
            <a:solidFill>
              <a:srgbClr val="C9DFF1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640080" y="5065776"/>
            <a:ext cx="534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1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850" dirty="0"/>
          </a:p>
        </p:txBody>
      </p:sp>
      <p:sp>
        <p:nvSpPr>
          <p:cNvPr id="21" name="Text 16"/>
          <p:cNvSpPr/>
          <p:nvPr/>
        </p:nvSpPr>
        <p:spPr>
          <a:xfrm>
            <a:off x="640080" y="5248656"/>
            <a:ext cx="53460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[Where are we gaining or losing momentum?]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6086704" y="5084064"/>
            <a:ext cx="7315" cy="859536"/>
          </a:xfrm>
          <a:prstGeom prst="rect">
            <a:avLst/>
          </a:prstGeom>
          <a:solidFill>
            <a:srgbClr val="C9DFF1"/>
          </a:solidFill>
          <a:ln/>
        </p:spPr>
      </p:sp>
      <p:sp>
        <p:nvSpPr>
          <p:cNvPr id="23" name="Text 18"/>
          <p:cNvSpPr/>
          <p:nvPr/>
        </p:nvSpPr>
        <p:spPr>
          <a:xfrm>
            <a:off x="6205576" y="5065776"/>
            <a:ext cx="534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1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/ IMPLICATION</a:t>
            </a:r>
            <a:endParaRPr lang="en-US" sz="850" dirty="0"/>
          </a:p>
        </p:txBody>
      </p:sp>
      <p:sp>
        <p:nvSpPr>
          <p:cNvPr id="24" name="Text 19"/>
          <p:cNvSpPr/>
          <p:nvPr/>
        </p:nvSpPr>
        <p:spPr>
          <a:xfrm>
            <a:off x="6205576" y="5248656"/>
            <a:ext cx="53460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[Which products earn additional investment and which require corrective action in S2 2026?]</a:t>
            </a:r>
            <a:endParaRPr lang="en-US" sz="1000" dirty="0"/>
          </a:p>
        </p:txBody>
      </p:sp>
      <p:sp>
        <p:nvSpPr>
          <p:cNvPr id="25" name="Shape 0">
            <a:extLst>
              <a:ext uri="{FF2B5EF4-FFF2-40B4-BE49-F238E27FC236}">
                <ns5:creationId id="{D47C4C67-7C9E-D4B2-9436-261006D3F2D0}"/>
              </a:ext>
            </a:extLst>
          </p:cNvPr>
          <p:cNvSpPr/>
          <p:nvPr/>
        </p:nvSpPr>
        <p:spPr>
          <a:xfrm>
            <a:off x="502920" y="310896"/>
            <a:ext cx="3423514" cy="274320"/>
          </a:xfrm>
          <a:prstGeom prst="roundRect">
            <a:avLst>
              <a:gd name="adj" fmla="val 16667"/>
            </a:avLst>
          </a:prstGeom>
          <a:solidFill>
            <a:srgbClr val="0A57A5"/>
          </a:solidFill>
          <a:ln w="12700">
            <a:solidFill>
              <a:srgbClr val="0A57A5"/>
            </a:solidFill>
            <a:prstDash val="solid"/>
          </a:ln>
        </p:spPr>
      </p:sp>
      <p:sp>
        <p:nvSpPr>
          <p:cNvPr id="26" name="Text 1">
            <a:extLst>
              <a:ext uri="{FF2B5EF4-FFF2-40B4-BE49-F238E27FC236}">
                <ns5:creationId id="{23F90982-4712-450D-7D34-5E2012AD6658}"/>
              </a:ext>
            </a:extLst>
          </p:cNvPr>
          <p:cNvSpPr/>
          <p:nvPr/>
        </p:nvSpPr>
        <p:spPr>
          <a:xfrm>
            <a:off x="502920" y="310896"/>
            <a:ext cx="34235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 ·  EXTERNAL MARKET  ·  IQVIA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c="http://schemas.openxmlformats.org/drawingml/2006/chart" xmlns:ns4="http://schemas.microsoft.com/office/powerpoint/2010/main" xmlns:ns5="http://schemas.microsoft.com/office/drawing/2014/main" xmlns:p="http://schemas.openxmlformats.org/presentationml/2006/main" xmlns:r="http://schemas.openxmlformats.org/officeDocument/2006/relationships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02920" y="603504"/>
            <a:ext cx="8778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Performance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060704"/>
            <a:ext cx="8778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growing competitor products in the relevant markets</a:t>
            </a:r>
            <a:endParaRPr lang="en-US" sz="11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8323" y="0"/>
            <a:ext cx="1467612" cy="14676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626364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Semester 1 2026 Business Review  |  Cluster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11155680" y="626364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02920" y="142646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 PRODUCT GROWTH - STANDARD UNITS</a:t>
            </a:r>
            <a:endParaRPr lang="en-US" sz="950" dirty="0"/>
          </a:p>
        </p:txBody>
      </p:sp>
      <p:graphicFrame>
        <p:nvGraphicFramePr>
          <p:cNvPr id="9" name="Chart 0"/>
          <p:cNvGraphicFramePr/>
          <p:nvPr/>
        </p:nvGraphicFramePr>
        <p:xfrm>
          <a:off x="429768" y="1645920"/>
          <a:ext cx="5806440" cy="2761488"/>
        </p:xfrm>
        <a:graphic>
          <a:graphicData uri="http://schemas.openxmlformats.org/drawingml/2006/chart">
            <c:chart r:id="rId4"/>
          </a:graphicData>
        </a:graphic>
      </p:graphicFrame>
      <p:sp>
        <p:nvSpPr>
          <p:cNvPr id="10" name="Text 6"/>
          <p:cNvSpPr/>
          <p:nvPr/>
        </p:nvSpPr>
        <p:spPr>
          <a:xfrm>
            <a:off x="502920" y="4389120"/>
            <a:ext cx="5669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structure only. Values are placeholders. Replace with BU data before use.</a:t>
            </a:r>
            <a:endParaRPr lang="en-US" sz="750" dirty="0"/>
          </a:p>
        </p:txBody>
      </p:sp>
      <p:sp>
        <p:nvSpPr>
          <p:cNvPr id="11" name="Text 7"/>
          <p:cNvSpPr/>
          <p:nvPr/>
        </p:nvSpPr>
        <p:spPr>
          <a:xfrm>
            <a:off x="6583680" y="142646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PRESSURE RANKING</a:t>
            </a:r>
            <a:endParaRPr lang="en-US" sz="9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ns4:modId val="1579011935"/>
              </p:ext>
            </p:extLst>
          </p:nvPr>
        </p:nvGraphicFramePr>
        <p:xfrm>
          <a:off x="6583680" y="1645920"/>
          <a:ext cx="5102352" cy="2204720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ns5:colId val="20000"/>
                    </a:ext>
                  </a:extLst>
                </a:gridCol>
                <a:gridCol w="960120">
                  <a:extLst>
                    <a:ext uri="{9D8B030D-6E8A-4147-A177-3AD203B41FA5}">
                      <ns5:colId val="20001"/>
                    </a:ext>
                  </a:extLst>
                </a:gridCol>
                <a:gridCol w="1051560">
                  <a:extLst>
                    <a:ext uri="{9D8B030D-6E8A-4147-A177-3AD203B41FA5}">
                      <ns5:colId val="20002"/>
                    </a:ext>
                  </a:extLst>
                </a:gridCol>
                <a:gridCol w="1353312">
                  <a:extLst>
                    <a:ext uri="{9D8B030D-6E8A-4147-A177-3AD203B41FA5}">
                      <ns5:colId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Competitor Brand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 Growth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MS Movement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Contribution to Market Growth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extLst>
                  <a:ext uri="{0D108BD9-81ED-4DB2-BD59-A6C34878D82A}">
                    <ns5:rowId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[COMPETITOR PRODUCT 1]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[SU]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[+/- pts]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5:rowId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[COMPETITOR PRODUCT 2]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[SU]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[+/- pts]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ns5:rowId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[COMPETITOR PRODUCT 3]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[SU]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[+/- pts]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5:rowId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[COMPETITOR PRODUCT 4]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[SU]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[+/- pts]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ns5:rowId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[COMPETITOR PRODUCT 5]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[SU]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[+/- pts]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5:rowId val="10005"/>
                  </a:ext>
                </a:extLst>
              </a:tr>
            </a:tbl>
          </a:graphicData>
        </a:graphic>
      </p:graphicFrame>
      <p:sp>
        <p:nvSpPr>
          <p:cNvPr id="12" name="Shape 8"/>
          <p:cNvSpPr/>
          <p:nvPr/>
        </p:nvSpPr>
        <p:spPr>
          <a:xfrm>
            <a:off x="6583680" y="3931920"/>
            <a:ext cx="5102352" cy="54864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  <a:effectLst>
            <a:outerShdw blurRad="101600" dist="12700" dir="5400000" algn="bl" rotWithShape="0">
              <a:srgbClr val="0A57A5">
                <a:alpha val="10000"/>
              </a:srgbClr>
            </a:outerShdw>
          </a:effectLst>
        </p:spPr>
      </p:sp>
      <p:sp>
        <p:nvSpPr>
          <p:cNvPr id="14" name="Text 9"/>
          <p:cNvSpPr/>
          <p:nvPr/>
        </p:nvSpPr>
        <p:spPr>
          <a:xfrm>
            <a:off x="6766560" y="4014216"/>
            <a:ext cx="47365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850" b="1" kern="0" spc="100" dirty="0">
                <a:solidFill>
                  <a:srgbClr val="B33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BIGGEST COMPETITIVE PRESSURE
</a:t>
            </a:r>
            <a:r>
              <a:rPr lang="en-US" sz="9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[Name the one or two competitor products creating the greatest pressure on the BU portfolio]</a:t>
            </a:r>
            <a:endParaRPr lang="en-US" sz="850" dirty="0"/>
          </a:p>
        </p:txBody>
      </p:sp>
      <p:sp>
        <p:nvSpPr>
          <p:cNvPr id="15" name="Shape 10"/>
          <p:cNvSpPr/>
          <p:nvPr/>
        </p:nvSpPr>
        <p:spPr>
          <a:xfrm>
            <a:off x="502920" y="4626864"/>
            <a:ext cx="11185855" cy="1426464"/>
          </a:xfrm>
          <a:prstGeom prst="roundRect">
            <a:avLst>
              <a:gd name="adj" fmla="val 4487"/>
            </a:avLst>
          </a:prstGeom>
          <a:solidFill>
            <a:srgbClr val="E9F3FB"/>
          </a:solidFill>
          <a:ln w="9525">
            <a:solidFill>
              <a:srgbClr val="C9DFF1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640080" y="4718304"/>
            <a:ext cx="34908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1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850" dirty="0"/>
          </a:p>
        </p:txBody>
      </p:sp>
      <p:sp>
        <p:nvSpPr>
          <p:cNvPr id="17" name="Text 12"/>
          <p:cNvSpPr/>
          <p:nvPr/>
        </p:nvSpPr>
        <p:spPr>
          <a:xfrm>
            <a:off x="640080" y="4901184"/>
            <a:ext cx="3490874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[Which competitor moves explain our share loss or gain?]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4231538" y="4736592"/>
            <a:ext cx="7315" cy="1207008"/>
          </a:xfrm>
          <a:prstGeom prst="rect">
            <a:avLst/>
          </a:prstGeom>
          <a:solidFill>
            <a:srgbClr val="C9DFF1"/>
          </a:solidFill>
          <a:ln/>
        </p:spPr>
      </p:sp>
      <p:sp>
        <p:nvSpPr>
          <p:cNvPr id="19" name="Text 14"/>
          <p:cNvSpPr/>
          <p:nvPr/>
        </p:nvSpPr>
        <p:spPr>
          <a:xfrm>
            <a:off x="4350410" y="4718304"/>
            <a:ext cx="34908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1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</a:t>
            </a:r>
            <a:endParaRPr lang="en-US" sz="850" dirty="0"/>
          </a:p>
        </p:txBody>
      </p:sp>
      <p:sp>
        <p:nvSpPr>
          <p:cNvPr id="20" name="Text 15"/>
          <p:cNvSpPr/>
          <p:nvPr/>
        </p:nvSpPr>
        <p:spPr>
          <a:xfrm>
            <a:off x="4350410" y="4901184"/>
            <a:ext cx="3490874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[ROOT CAUSE - new launch, price move, share of voice, access, tender win]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7941869" y="4736592"/>
            <a:ext cx="7315" cy="1207008"/>
          </a:xfrm>
          <a:prstGeom prst="rect">
            <a:avLst/>
          </a:prstGeom>
          <a:solidFill>
            <a:srgbClr val="C9DFF1"/>
          </a:solidFill>
          <a:ln/>
        </p:spPr>
      </p:sp>
      <p:sp>
        <p:nvSpPr>
          <p:cNvPr id="22" name="Text 17"/>
          <p:cNvSpPr/>
          <p:nvPr/>
        </p:nvSpPr>
        <p:spPr>
          <a:xfrm>
            <a:off x="8060741" y="4718304"/>
            <a:ext cx="34908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1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/ IMPLICATION</a:t>
            </a:r>
            <a:endParaRPr lang="en-US" sz="850" dirty="0"/>
          </a:p>
        </p:txBody>
      </p:sp>
      <p:sp>
        <p:nvSpPr>
          <p:cNvPr id="23" name="Text 18"/>
          <p:cNvSpPr/>
          <p:nvPr/>
        </p:nvSpPr>
        <p:spPr>
          <a:xfrm>
            <a:off x="8060741" y="4901184"/>
            <a:ext cx="3490874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[Defensive or offensive response for S2 2026]</a:t>
            </a:r>
            <a:endParaRPr lang="en-US" sz="1000" dirty="0"/>
          </a:p>
        </p:txBody>
      </p:sp>
      <p:sp>
        <p:nvSpPr>
          <p:cNvPr id="24" name="Shape 0">
            <a:extLst>
              <a:ext uri="{FF2B5EF4-FFF2-40B4-BE49-F238E27FC236}">
                <ns5:creationId id="{055A175C-6526-1166-A1CE-58DD6B54DB1C}"/>
              </a:ext>
            </a:extLst>
          </p:cNvPr>
          <p:cNvSpPr/>
          <p:nvPr/>
        </p:nvSpPr>
        <p:spPr>
          <a:xfrm>
            <a:off x="502920" y="310896"/>
            <a:ext cx="3423514" cy="274320"/>
          </a:xfrm>
          <a:prstGeom prst="roundRect">
            <a:avLst>
              <a:gd name="adj" fmla="val 16667"/>
            </a:avLst>
          </a:prstGeom>
          <a:solidFill>
            <a:srgbClr val="0A57A5"/>
          </a:solidFill>
          <a:ln w="12700">
            <a:solidFill>
              <a:srgbClr val="0A57A5"/>
            </a:solidFill>
            <a:prstDash val="solid"/>
          </a:ln>
        </p:spPr>
      </p:sp>
      <p:sp>
        <p:nvSpPr>
          <p:cNvPr id="25" name="Text 1">
            <a:extLst>
              <a:ext uri="{FF2B5EF4-FFF2-40B4-BE49-F238E27FC236}">
                <ns5:creationId id="{2718EA93-4F93-235D-A035-37CC5663EA48}"/>
              </a:ext>
            </a:extLst>
          </p:cNvPr>
          <p:cNvSpPr/>
          <p:nvPr/>
        </p:nvSpPr>
        <p:spPr>
          <a:xfrm>
            <a:off x="502920" y="310896"/>
            <a:ext cx="34235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 ·  EXTERNAL MARKET  ·  IQVIA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c="http://schemas.openxmlformats.org/drawingml/2006/chart" xmlns:ns4="http://schemas.microsoft.com/office/powerpoint/2010/main" xmlns:ns5="http://schemas.microsoft.com/office/drawing/2014/main" xmlns:p="http://schemas.openxmlformats.org/presentationml/2006/main" xmlns:r="http://schemas.openxmlformats.org/officeDocument/2006/relationships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02920" y="603504"/>
            <a:ext cx="8778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Sales Performance</a:t>
            </a:r>
            <a:endParaRPr lang="en-US" sz="2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8323" y="0"/>
            <a:ext cx="1467612" cy="146761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26364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Semester 1 2026 Business Review  |  Cluster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1155680" y="626364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502920" y="1335024"/>
            <a:ext cx="2090867" cy="694944"/>
          </a:xfrm>
          <a:prstGeom prst="roundRect">
            <a:avLst>
              <a:gd name="adj" fmla="val 9211"/>
            </a:avLst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  <a:effectLst>
            <a:outerShdw blurRad="101600" dist="12700" dir="5400000" algn="bl" rotWithShape="0">
              <a:srgbClr val="0A57A5">
                <a:alpha val="1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21792" y="1435608"/>
            <a:ext cx="170681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6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 2026 TARGET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621792" y="1572768"/>
            <a:ext cx="185312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70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1.6M EGP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2776667" y="1335024"/>
            <a:ext cx="2090867" cy="694944"/>
          </a:xfrm>
          <a:prstGeom prst="roundRect">
            <a:avLst>
              <a:gd name="adj" fmla="val 9211"/>
            </a:avLst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  <a:effectLst>
            <a:outerShdw blurRad="101600" dist="12700" dir="5400000" algn="bl" rotWithShape="0">
              <a:srgbClr val="0A57A5">
                <a:alpha val="1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2895539" y="1435608"/>
            <a:ext cx="170681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6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 2026 ACTUAL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2895539" y="1572768"/>
            <a:ext cx="185312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70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483K EGP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5050414" y="1335024"/>
            <a:ext cx="2090867" cy="694944"/>
          </a:xfrm>
          <a:prstGeom prst="roundRect">
            <a:avLst>
              <a:gd name="adj" fmla="val 9211"/>
            </a:avLst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  <a:effectLst>
            <a:outerShdw blurRad="101600" dist="12700" dir="5400000" algn="bl" rotWithShape="0">
              <a:srgbClr val="0A57A5">
                <a:alpha val="1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5169286" y="1435608"/>
            <a:ext cx="170681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6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ACHIEVEMENT %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5169286" y="1572768"/>
            <a:ext cx="185312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70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30.9%</a:t>
            </a:r>
            <a:endParaRPr lang="en-US" sz="1700" dirty="0"/>
          </a:p>
        </p:txBody>
      </p:sp>
      <p:sp>
        <p:nvSpPr>
          <p:cNvPr id="16" name="Shape 13"/>
          <p:cNvSpPr/>
          <p:nvPr/>
        </p:nvSpPr>
        <p:spPr>
          <a:xfrm>
            <a:off x="6885249" y="1463040"/>
            <a:ext cx="128016" cy="128016"/>
          </a:xfrm>
          <a:prstGeom prst="ellipse">
            <a:avLst/>
          </a:prstGeom>
          <a:solidFill>
            <a:srgbClr val="C98A16"/>
          </a:solidFill>
          <a:ln w="12700">
            <a:solidFill>
              <a:srgbClr val="C98A16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324161" y="1335024"/>
            <a:ext cx="2090867" cy="694944"/>
          </a:xfrm>
          <a:prstGeom prst="roundRect">
            <a:avLst>
              <a:gd name="adj" fmla="val 9211"/>
            </a:avLst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  <a:effectLst>
            <a:outerShdw blurRad="101600" dist="12700" dir="5400000" algn="bl" rotWithShape="0">
              <a:srgbClr val="0A57A5">
                <a:alpha val="10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7443033" y="1435608"/>
            <a:ext cx="170681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6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VS S1 2025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7443033" y="1572768"/>
            <a:ext cx="185312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70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0.0%</a:t>
            </a:r>
            <a:endParaRPr lang="en-US" sz="1700" dirty="0"/>
          </a:p>
        </p:txBody>
      </p:sp>
      <p:sp>
        <p:nvSpPr>
          <p:cNvPr id="20" name="Shape 17"/>
          <p:cNvSpPr/>
          <p:nvPr/>
        </p:nvSpPr>
        <p:spPr>
          <a:xfrm>
            <a:off x="9158996" y="1463040"/>
            <a:ext cx="128016" cy="128016"/>
          </a:xfrm>
          <a:prstGeom prst="ellipse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9597908" y="1335024"/>
            <a:ext cx="2090867" cy="694944"/>
          </a:xfrm>
          <a:prstGeom prst="roundRect">
            <a:avLst>
              <a:gd name="adj" fmla="val 9211"/>
            </a:avLst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  <a:effectLst>
            <a:outerShdw blurRad="101600" dist="12700" dir="5400000" algn="bl" rotWithShape="0">
              <a:srgbClr val="0A57A5">
                <a:alpha val="10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9716780" y="1435608"/>
            <a:ext cx="170681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6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TO TARGET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9716780" y="1572768"/>
            <a:ext cx="185312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70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-1.1M EGP</a:t>
            </a:r>
            <a:endParaRPr lang="en-US" sz="1700" dirty="0"/>
          </a:p>
        </p:txBody>
      </p:sp>
      <p:sp>
        <p:nvSpPr>
          <p:cNvPr id="24" name="Shape 21"/>
          <p:cNvSpPr/>
          <p:nvPr/>
        </p:nvSpPr>
        <p:spPr>
          <a:xfrm>
            <a:off x="11432743" y="1463040"/>
            <a:ext cx="128016" cy="128016"/>
          </a:xfrm>
          <a:prstGeom prst="ellipse">
            <a:avLst/>
          </a:prstGeom>
          <a:solidFill>
            <a:srgbClr val="B3372C"/>
          </a:solidFill>
          <a:ln w="12700">
            <a:solidFill>
              <a:srgbClr val="B3372C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02920" y="221284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TREND - TARGET VS ACTUAL, JANUARY TO JUNE 2026</a:t>
            </a:r>
            <a:endParaRPr lang="en-US" sz="950" dirty="0"/>
          </a:p>
        </p:txBody>
      </p:sp>
      <p:graphicFrame>
        <p:nvGraphicFramePr>
          <p:cNvPr id="26" name="Chart 0"/>
          <p:cNvGraphicFramePr/>
          <p:nvPr/>
        </p:nvGraphicFramePr>
        <p:xfrm>
          <a:off x="429768" y="2432304"/>
          <a:ext cx="7589520" cy="2395728"/>
        </p:xfrm>
        <a:graphic>
          <a:graphicData uri="http://schemas.openxmlformats.org/drawingml/2006/chart">
            <c:chart r:id="rId4"/>
          </a:graphicData>
        </a:graphic>
      </p:graphicFrame>
      <p:sp>
        <p:nvSpPr>
          <p:cNvPr id="27" name="Text 23"/>
          <p:cNvSpPr/>
          <p:nvPr/>
        </p:nvSpPr>
        <p:spPr>
          <a:xfrm>
            <a:off x="502920" y="4809744"/>
            <a:ext cx="7498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structure only. Values are placeholders. Replace with BU data before use.</a:t>
            </a:r>
            <a:endParaRPr lang="en-US" sz="750" dirty="0"/>
          </a:p>
        </p:txBody>
      </p:sp>
      <p:sp>
        <p:nvSpPr>
          <p:cNvPr id="28" name="Text 24"/>
          <p:cNvSpPr/>
          <p:nvPr/>
        </p:nvSpPr>
        <p:spPr>
          <a:xfrm>
            <a:off x="8366760" y="221284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WITH MAJOR GAPS</a:t>
            </a:r>
            <a:endParaRPr lang="en-US" sz="95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ns4:modId val="1579011935"/>
              </p:ext>
            </p:extLst>
          </p:nvPr>
        </p:nvGraphicFramePr>
        <p:xfrm>
          <a:off x="8366760" y="2432304"/>
          <a:ext cx="3319272" cy="1243584"/>
        </p:xfrm>
        <a:graphic>
          <a:graphicData uri="http://schemas.openxmlformats.org/drawingml/2006/table">
            <a:tbl>
              <a:tblPr/>
              <a:tblGrid>
                <a:gridCol w="1307592">
                  <a:extLst>
                    <a:ext uri="{9D8B030D-6E8A-4147-A177-3AD203B41FA5}">
                      <ns5:colId val="20000"/>
                    </a:ext>
                  </a:extLst>
                </a:gridCol>
                <a:gridCol w="1005840">
                  <a:extLst>
                    <a:ext uri="{9D8B030D-6E8A-4147-A177-3AD203B41FA5}">
                      <ns5:colId val="20001"/>
                    </a:ext>
                  </a:extLst>
                </a:gridCol>
                <a:gridCol w="1005840">
                  <a:extLst>
                    <a:ext uri="{9D8B030D-6E8A-4147-A177-3AD203B41FA5}">
                      <ns5:colId val="20002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Ach. 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extLst>
                  <a:ext uri="{0D108BD9-81ED-4DB2-BD59-A6C34878D82A}">
                    <ns5:rowId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B337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[MONTH]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-1.1M EGP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5:rowId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B337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[MONTH]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-1.1M EGP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ns5:rowId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[MONTH]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-1.1M EGP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5:rowId val="10003"/>
                  </a:ext>
                </a:extLst>
              </a:tr>
            </a:tbl>
          </a:graphicData>
        </a:graphic>
      </p:graphicFrame>
      <p:sp>
        <p:nvSpPr>
          <p:cNvPr id="30" name="Shape 25"/>
          <p:cNvSpPr/>
          <p:nvPr/>
        </p:nvSpPr>
        <p:spPr>
          <a:xfrm>
            <a:off x="8366760" y="3749040"/>
            <a:ext cx="3319272" cy="1078992"/>
          </a:xfrm>
          <a:prstGeom prst="roundRect">
            <a:avLst>
              <a:gd name="adj" fmla="val 5932"/>
            </a:avLst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  <a:effectLst>
            <a:outerShdw blurRad="101600" dist="12700" dir="5400000" algn="bl" rotWithShape="0">
              <a:srgbClr val="0A57A5">
                <a:alpha val="10000"/>
              </a:srgbClr>
            </a:outerShdw>
          </a:effectLst>
        </p:spPr>
      </p:sp>
      <p:sp>
        <p:nvSpPr>
          <p:cNvPr id="31" name="Text 26"/>
          <p:cNvSpPr/>
          <p:nvPr/>
        </p:nvSpPr>
        <p:spPr>
          <a:xfrm>
            <a:off x="8531352" y="3840480"/>
            <a:ext cx="29900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850" b="1" kern="0" spc="100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DROVE THE GAP
</a:t>
            </a:r>
            <a:r>
              <a:rPr lang="en-US" sz="9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[Explain the specific months that broke the trend and the reason: supply, vacancy, tender timing, competitor action]</a:t>
            </a:r>
            <a:endParaRPr lang="en-US" sz="850" dirty="0"/>
          </a:p>
        </p:txBody>
      </p:sp>
      <p:sp>
        <p:nvSpPr>
          <p:cNvPr id="32" name="Shape 27"/>
          <p:cNvSpPr/>
          <p:nvPr/>
        </p:nvSpPr>
        <p:spPr>
          <a:xfrm>
            <a:off x="502920" y="5047488"/>
            <a:ext cx="11185855" cy="1005840"/>
          </a:xfrm>
          <a:prstGeom prst="roundRect">
            <a:avLst>
              <a:gd name="adj" fmla="val 6364"/>
            </a:avLst>
          </a:prstGeom>
          <a:solidFill>
            <a:srgbClr val="E9F3FB"/>
          </a:solidFill>
          <a:ln w="9525">
            <a:solidFill>
              <a:srgbClr val="C9DFF1"/>
            </a:solidFill>
            <a:prstDash val="solid"/>
          </a:ln>
        </p:spPr>
      </p:sp>
      <p:sp>
        <p:nvSpPr>
          <p:cNvPr id="33" name="Text 28"/>
          <p:cNvSpPr/>
          <p:nvPr/>
        </p:nvSpPr>
        <p:spPr>
          <a:xfrm>
            <a:off x="640080" y="5138928"/>
            <a:ext cx="34908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1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850" dirty="0"/>
          </a:p>
        </p:txBody>
      </p:sp>
      <p:sp>
        <p:nvSpPr>
          <p:cNvPr id="34" name="Text 29"/>
          <p:cNvSpPr/>
          <p:nvPr/>
        </p:nvSpPr>
        <p:spPr>
          <a:xfrm>
            <a:off x="640080" y="5321808"/>
            <a:ext cx="349087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[KEY INSIGHT]</a:t>
            </a:r>
            <a:endParaRPr lang="en-US" sz="1000" dirty="0"/>
          </a:p>
        </p:txBody>
      </p:sp>
      <p:sp>
        <p:nvSpPr>
          <p:cNvPr id="35" name="Shape 30"/>
          <p:cNvSpPr/>
          <p:nvPr/>
        </p:nvSpPr>
        <p:spPr>
          <a:xfrm>
            <a:off x="4231538" y="5157216"/>
            <a:ext cx="7315" cy="786384"/>
          </a:xfrm>
          <a:prstGeom prst="rect">
            <a:avLst/>
          </a:prstGeom>
          <a:solidFill>
            <a:srgbClr val="C9DFF1"/>
          </a:solidFill>
          <a:ln/>
        </p:spPr>
      </p:sp>
      <p:sp>
        <p:nvSpPr>
          <p:cNvPr id="36" name="Text 31"/>
          <p:cNvSpPr/>
          <p:nvPr/>
        </p:nvSpPr>
        <p:spPr>
          <a:xfrm>
            <a:off x="4350410" y="5138928"/>
            <a:ext cx="34908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1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</a:t>
            </a:r>
            <a:endParaRPr lang="en-US" sz="850" dirty="0"/>
          </a:p>
        </p:txBody>
      </p:sp>
      <p:sp>
        <p:nvSpPr>
          <p:cNvPr id="37" name="Text 32"/>
          <p:cNvSpPr/>
          <p:nvPr/>
        </p:nvSpPr>
        <p:spPr>
          <a:xfrm>
            <a:off x="4350410" y="5321808"/>
            <a:ext cx="349087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[ROOT CAUSE]</a:t>
            </a:r>
            <a:endParaRPr lang="en-US" sz="1000" dirty="0"/>
          </a:p>
        </p:txBody>
      </p:sp>
      <p:sp>
        <p:nvSpPr>
          <p:cNvPr id="38" name="Shape 33"/>
          <p:cNvSpPr/>
          <p:nvPr/>
        </p:nvSpPr>
        <p:spPr>
          <a:xfrm>
            <a:off x="7941869" y="5157216"/>
            <a:ext cx="7315" cy="786384"/>
          </a:xfrm>
          <a:prstGeom prst="rect">
            <a:avLst/>
          </a:prstGeom>
          <a:solidFill>
            <a:srgbClr val="C9DFF1"/>
          </a:solidFill>
          <a:ln/>
        </p:spPr>
      </p:sp>
      <p:sp>
        <p:nvSpPr>
          <p:cNvPr id="39" name="Text 34"/>
          <p:cNvSpPr/>
          <p:nvPr/>
        </p:nvSpPr>
        <p:spPr>
          <a:xfrm>
            <a:off x="8060741" y="5138928"/>
            <a:ext cx="34908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1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/ IMPLICATION</a:t>
            </a:r>
            <a:endParaRPr lang="en-US" sz="850" dirty="0"/>
          </a:p>
        </p:txBody>
      </p:sp>
      <p:sp>
        <p:nvSpPr>
          <p:cNvPr id="40" name="Text 35"/>
          <p:cNvSpPr/>
          <p:nvPr/>
        </p:nvSpPr>
        <p:spPr>
          <a:xfrm>
            <a:off x="8060741" y="5321808"/>
            <a:ext cx="349087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[ACTION]</a:t>
            </a:r>
            <a:endParaRPr lang="en-US" sz="1000" dirty="0"/>
          </a:p>
        </p:txBody>
      </p:sp>
      <p:sp>
        <p:nvSpPr>
          <p:cNvPr id="41" name="Shape 0">
            <a:extLst>
              <a:ext uri="{FF2B5EF4-FFF2-40B4-BE49-F238E27FC236}">
                <ns5:creationId id="{855DDA54-D964-1510-8F5D-37B22D2310CC}"/>
              </a:ext>
            </a:extLst>
          </p:cNvPr>
          <p:cNvSpPr/>
          <p:nvPr/>
        </p:nvSpPr>
        <p:spPr>
          <a:xfrm>
            <a:off x="483670" y="310896"/>
            <a:ext cx="4245742" cy="292608"/>
          </a:xfrm>
          <a:prstGeom prst="roundRect">
            <a:avLst>
              <a:gd name="adj" fmla="val 16667"/>
            </a:avLst>
          </a:prstGeom>
          <a:solidFill>
            <a:srgbClr val="0A57A5"/>
          </a:solidFill>
          <a:ln w="12700">
            <a:solidFill>
              <a:srgbClr val="0A57A5"/>
            </a:solidFill>
            <a:prstDash val="solid"/>
          </a:ln>
        </p:spPr>
      </p:sp>
      <p:sp>
        <p:nvSpPr>
          <p:cNvPr id="2" name="Text 0"/>
          <p:cNvSpPr/>
          <p:nvPr/>
        </p:nvSpPr>
        <p:spPr>
          <a:xfrm>
            <a:off x="618420" y="356135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2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 ·  INTERNAL SALES  ·  IN-HOUSE DATA</a:t>
            </a:r>
            <a:endParaRPr lang="en-US" sz="1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ns3="http://schemas.microsoft.com/office/powerpoint/2010/main" xmlns:ns4="http://schemas.microsoft.com/office/drawing/2014/main" xmlns:p="http://schemas.openxmlformats.org/presentationml/2006/main" xmlns:r="http://schemas.openxmlformats.org/officeDocument/2006/relationships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02920" y="603504"/>
            <a:ext cx="8778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by Line / Team</a:t>
            </a:r>
            <a:endParaRPr lang="en-US" sz="2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8323" y="0"/>
            <a:ext cx="1467612" cy="146761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26364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Semester 1 2026 Business Review  |  Cluster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1155680" y="626364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502920" y="137160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PERFORMANCE - RANKED BY ACHIEVEMENT</a:t>
            </a:r>
            <a:endParaRPr lang="en-US" sz="95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ns3:modId val="4599776"/>
              </p:ext>
            </p:extLst>
          </p:nvPr>
        </p:nvGraphicFramePr>
        <p:xfrm>
          <a:off x="502920" y="1591056"/>
          <a:ext cx="5532120" cy="1810512"/>
        </p:xfrm>
        <a:graphic>
          <a:graphicData uri="http://schemas.openxmlformats.org/drawingml/2006/table">
            <a:tbl>
              <a:tblPr/>
              <a:tblGrid>
                <a:gridCol w="1234440">
                  <a:extLst>
                    <a:ext uri="{9D8B030D-6E8A-4147-A177-3AD203B41FA5}">
                      <ns4:colId val="20000"/>
                    </a:ext>
                  </a:extLst>
                </a:gridCol>
                <a:gridCol w="868680">
                  <a:extLst>
                    <a:ext uri="{9D8B030D-6E8A-4147-A177-3AD203B41FA5}">
                      <ns4:colId val="20001"/>
                    </a:ext>
                  </a:extLst>
                </a:gridCol>
                <a:gridCol w="868680">
                  <a:extLst>
                    <a:ext uri="{9D8B030D-6E8A-4147-A177-3AD203B41FA5}">
                      <ns4:colId val="20002"/>
                    </a:ext>
                  </a:extLst>
                </a:gridCol>
                <a:gridCol w="868680">
                  <a:extLst>
                    <a:ext uri="{9D8B030D-6E8A-4147-A177-3AD203B41FA5}">
                      <ns4:colId val="20003"/>
                    </a:ext>
                  </a:extLst>
                </a:gridCol>
                <a:gridCol w="868680">
                  <a:extLst>
                    <a:ext uri="{9D8B030D-6E8A-4147-A177-3AD203B41FA5}">
                      <ns4:colId val="20004"/>
                    </a:ext>
                  </a:extLst>
                </a:gridCol>
                <a:gridCol w="822960">
                  <a:extLst>
                    <a:ext uri="{9D8B030D-6E8A-4147-A177-3AD203B41FA5}">
                      <ns4:colId val="20005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 / Team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 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Actual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Ach. 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Growth 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Contrib. 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extLst>
                  <a:ext uri="{0D108BD9-81ED-4DB2-BD59-A6C34878D82A}">
                    <ns4:rowId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PEDIA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617K EGP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160K EGP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E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25.8%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E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33.1%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4:rowId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CVM-I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216K EGP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109K EGP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E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50.7%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E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22.7%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ns4:rowId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CVM-II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396K EGP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103K EGP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C98A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26.1%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F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21.4%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4:rowId val="1000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ORTHO-II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241K EGP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58K EGP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B337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F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ns4:rowId val="10004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ORTHO-I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88K EGP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52K EGP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59.0%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4:rowId val="10005"/>
                  </a:ext>
                </a:extLst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502920" y="352958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 TO TOTAL BU SALES</a:t>
            </a:r>
            <a:endParaRPr lang="en-US" sz="950" dirty="0"/>
          </a:p>
        </p:txBody>
      </p:sp>
      <p:sp>
        <p:nvSpPr>
          <p:cNvPr id="10" name="Text 6"/>
          <p:cNvSpPr/>
          <p:nvPr/>
        </p:nvSpPr>
        <p:spPr>
          <a:xfrm>
            <a:off x="502920" y="3749040"/>
            <a:ext cx="1042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[LINE 1]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1600200" y="3794760"/>
            <a:ext cx="3520440" cy="118872"/>
          </a:xfrm>
          <a:prstGeom prst="rect">
            <a:avLst/>
          </a:prstGeom>
          <a:solidFill>
            <a:srgbClr val="E9EFF3"/>
          </a:solidFill>
          <a:ln w="12700">
            <a:solidFill>
              <a:srgbClr val="E9EFF3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1600200" y="3794760"/>
            <a:ext cx="1196950" cy="118872"/>
          </a:xfrm>
          <a:prstGeom prst="rect">
            <a:avLst/>
          </a:prstGeom>
          <a:solidFill>
            <a:srgbClr val="0A57A5"/>
          </a:solidFill>
          <a:ln w="12700">
            <a:solidFill>
              <a:srgbClr val="0A57A5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5193792" y="3749040"/>
            <a:ext cx="47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[%]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502920" y="4005072"/>
            <a:ext cx="1042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[LINE 2]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1600200" y="4050792"/>
            <a:ext cx="3520440" cy="118872"/>
          </a:xfrm>
          <a:prstGeom prst="rect">
            <a:avLst/>
          </a:prstGeom>
          <a:solidFill>
            <a:srgbClr val="E9EFF3"/>
          </a:solidFill>
          <a:ln w="12700">
            <a:solidFill>
              <a:srgbClr val="E9EFF3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1600200" y="4050792"/>
            <a:ext cx="950519" cy="118872"/>
          </a:xfrm>
          <a:prstGeom prst="rect">
            <a:avLst/>
          </a:prstGeom>
          <a:solidFill>
            <a:srgbClr val="0A57A5"/>
          </a:solidFill>
          <a:ln w="12700">
            <a:solidFill>
              <a:srgbClr val="0A57A5"/>
            </a:solidFill>
            <a:prstDash val="solid"/>
          </a:ln>
        </p:spPr>
      </p:sp>
      <p:sp>
        <p:nvSpPr>
          <p:cNvPr id="8" name="Text 13"/>
          <p:cNvSpPr/>
          <p:nvPr/>
        </p:nvSpPr>
        <p:spPr>
          <a:xfrm>
            <a:off x="5193792" y="4005072"/>
            <a:ext cx="47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[%]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502920" y="4261104"/>
            <a:ext cx="1042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[LINE 3]</a:t>
            </a:r>
            <a:endParaRPr lang="en-US" sz="900" dirty="0"/>
          </a:p>
        </p:txBody>
      </p:sp>
      <p:sp>
        <p:nvSpPr>
          <p:cNvPr id="19" name="Shape 15"/>
          <p:cNvSpPr/>
          <p:nvPr/>
        </p:nvSpPr>
        <p:spPr>
          <a:xfrm>
            <a:off x="1600200" y="4306824"/>
            <a:ext cx="3520440" cy="118872"/>
          </a:xfrm>
          <a:prstGeom prst="rect">
            <a:avLst/>
          </a:prstGeom>
          <a:solidFill>
            <a:srgbClr val="E9EFF3"/>
          </a:solidFill>
          <a:ln w="12700">
            <a:solidFill>
              <a:srgbClr val="E9EFF3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1600200" y="4306824"/>
            <a:ext cx="774497" cy="118872"/>
          </a:xfrm>
          <a:prstGeom prst="rect">
            <a:avLst/>
          </a:prstGeom>
          <a:solidFill>
            <a:srgbClr val="0A57A5"/>
          </a:solidFill>
          <a:ln w="12700">
            <a:solidFill>
              <a:srgbClr val="0A57A5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5193792" y="4261104"/>
            <a:ext cx="47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[%]</a:t>
            </a: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502920" y="4517136"/>
            <a:ext cx="1042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[LINE 4]</a:t>
            </a:r>
            <a:endParaRPr lang="en-US" sz="900" dirty="0"/>
          </a:p>
        </p:txBody>
      </p:sp>
      <p:sp>
        <p:nvSpPr>
          <p:cNvPr id="23" name="Shape 19"/>
          <p:cNvSpPr/>
          <p:nvPr/>
        </p:nvSpPr>
        <p:spPr>
          <a:xfrm>
            <a:off x="1600200" y="4562856"/>
            <a:ext cx="3520440" cy="118872"/>
          </a:xfrm>
          <a:prstGeom prst="rect">
            <a:avLst/>
          </a:prstGeom>
          <a:solidFill>
            <a:srgbClr val="E9EFF3"/>
          </a:solidFill>
          <a:ln w="12700">
            <a:solidFill>
              <a:srgbClr val="E9EFF3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1600200" y="4562856"/>
            <a:ext cx="598475" cy="118872"/>
          </a:xfrm>
          <a:prstGeom prst="rect">
            <a:avLst/>
          </a:prstGeom>
          <a:solidFill>
            <a:srgbClr val="0A57A5"/>
          </a:solidFill>
          <a:ln w="12700">
            <a:solidFill>
              <a:srgbClr val="0A57A5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5193792" y="4517136"/>
            <a:ext cx="47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[%]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502920" y="4791456"/>
            <a:ext cx="5532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lengths are illustrative. Set each line's share of total BU sales.</a:t>
            </a:r>
            <a:endParaRPr lang="en-US" sz="750" dirty="0"/>
          </a:p>
        </p:txBody>
      </p:sp>
      <p:sp>
        <p:nvSpPr>
          <p:cNvPr id="27" name="Text 23"/>
          <p:cNvSpPr/>
          <p:nvPr/>
        </p:nvSpPr>
        <p:spPr>
          <a:xfrm>
            <a:off x="6355080" y="137160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ACHIEVEMENT % HEATMAP - PRODUCTS × LINES</a:t>
            </a:r>
            <a:endParaRPr lang="en-US" sz="950" dirty="0"/>
          </a:p>
        </p:txBody>
      </p:sp>
      <p:sp>
        <p:nvSpPr>
          <p:cNvPr id="28" name="Text 24"/>
          <p:cNvSpPr/>
          <p:nvPr/>
        </p:nvSpPr>
        <p:spPr>
          <a:xfrm>
            <a:off x="7845552" y="1591056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[LINE 1]</a:t>
            </a:r>
            <a:endParaRPr lang="en-US" sz="850" dirty="0"/>
          </a:p>
        </p:txBody>
      </p:sp>
      <p:sp>
        <p:nvSpPr>
          <p:cNvPr id="29" name="Text 25"/>
          <p:cNvSpPr/>
          <p:nvPr/>
        </p:nvSpPr>
        <p:spPr>
          <a:xfrm>
            <a:off x="8805672" y="1591056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[LINE 2]</a:t>
            </a:r>
            <a:endParaRPr lang="en-US" sz="850" dirty="0"/>
          </a:p>
        </p:txBody>
      </p:sp>
      <p:sp>
        <p:nvSpPr>
          <p:cNvPr id="30" name="Text 26"/>
          <p:cNvSpPr/>
          <p:nvPr/>
        </p:nvSpPr>
        <p:spPr>
          <a:xfrm>
            <a:off x="9765792" y="1591056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[LINE 3]</a:t>
            </a:r>
            <a:endParaRPr lang="en-US" sz="850" dirty="0"/>
          </a:p>
        </p:txBody>
      </p:sp>
      <p:sp>
        <p:nvSpPr>
          <p:cNvPr id="31" name="Text 27"/>
          <p:cNvSpPr/>
          <p:nvPr/>
        </p:nvSpPr>
        <p:spPr>
          <a:xfrm>
            <a:off x="10725912" y="1591056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[LINE 4]</a:t>
            </a:r>
            <a:endParaRPr lang="en-US" sz="850" dirty="0"/>
          </a:p>
        </p:txBody>
      </p:sp>
      <p:sp>
        <p:nvSpPr>
          <p:cNvPr id="32" name="Text 28"/>
          <p:cNvSpPr/>
          <p:nvPr/>
        </p:nvSpPr>
        <p:spPr>
          <a:xfrm>
            <a:off x="6355080" y="1956816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[PRODUCT 1]</a:t>
            </a:r>
            <a:endParaRPr lang="en-US" sz="850" dirty="0"/>
          </a:p>
        </p:txBody>
      </p:sp>
      <p:sp>
        <p:nvSpPr>
          <p:cNvPr id="33" name="Shape 29"/>
          <p:cNvSpPr/>
          <p:nvPr/>
        </p:nvSpPr>
        <p:spPr>
          <a:xfrm>
            <a:off x="7863840" y="1975104"/>
            <a:ext cx="923544" cy="329184"/>
          </a:xfrm>
          <a:prstGeom prst="rect">
            <a:avLst/>
          </a:prstGeom>
          <a:solidFill>
            <a:srgbClr val="DEEEE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7845552" y="1956816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[%]</a:t>
            </a:r>
            <a:endParaRPr lang="en-US" sz="850" dirty="0"/>
          </a:p>
        </p:txBody>
      </p:sp>
      <p:sp>
        <p:nvSpPr>
          <p:cNvPr id="35" name="Shape 31"/>
          <p:cNvSpPr/>
          <p:nvPr/>
        </p:nvSpPr>
        <p:spPr>
          <a:xfrm>
            <a:off x="8823960" y="1975104"/>
            <a:ext cx="923544" cy="329184"/>
          </a:xfrm>
          <a:prstGeom prst="rect">
            <a:avLst/>
          </a:prstGeom>
          <a:solidFill>
            <a:srgbClr val="DEEEE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8805672" y="1956816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[%]</a:t>
            </a:r>
            <a:endParaRPr lang="en-US" sz="850" dirty="0"/>
          </a:p>
        </p:txBody>
      </p:sp>
      <p:sp>
        <p:nvSpPr>
          <p:cNvPr id="37" name="Shape 33"/>
          <p:cNvSpPr/>
          <p:nvPr/>
        </p:nvSpPr>
        <p:spPr>
          <a:xfrm>
            <a:off x="9784080" y="1975104"/>
            <a:ext cx="923544" cy="329184"/>
          </a:xfrm>
          <a:prstGeom prst="rect">
            <a:avLst/>
          </a:prstGeom>
          <a:solidFill>
            <a:srgbClr val="FAEFD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9765792" y="1956816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[%]</a:t>
            </a:r>
            <a:endParaRPr lang="en-US" sz="850" dirty="0"/>
          </a:p>
        </p:txBody>
      </p:sp>
      <p:sp>
        <p:nvSpPr>
          <p:cNvPr id="39" name="Shape 35"/>
          <p:cNvSpPr/>
          <p:nvPr/>
        </p:nvSpPr>
        <p:spPr>
          <a:xfrm>
            <a:off x="10744200" y="1975104"/>
            <a:ext cx="923544" cy="329184"/>
          </a:xfrm>
          <a:prstGeom prst="rect">
            <a:avLst/>
          </a:prstGeom>
          <a:solidFill>
            <a:srgbClr val="F6DFD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Text 36"/>
          <p:cNvSpPr/>
          <p:nvPr/>
        </p:nvSpPr>
        <p:spPr>
          <a:xfrm>
            <a:off x="10725912" y="1956816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[%]</a:t>
            </a:r>
            <a:endParaRPr lang="en-US" sz="850" dirty="0"/>
          </a:p>
        </p:txBody>
      </p:sp>
      <p:sp>
        <p:nvSpPr>
          <p:cNvPr id="41" name="Text 37"/>
          <p:cNvSpPr/>
          <p:nvPr/>
        </p:nvSpPr>
        <p:spPr>
          <a:xfrm>
            <a:off x="6355080" y="2322576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[PRODUCT 2]</a:t>
            </a:r>
            <a:endParaRPr lang="en-US" sz="850" dirty="0"/>
          </a:p>
        </p:txBody>
      </p:sp>
      <p:sp>
        <p:nvSpPr>
          <p:cNvPr id="42" name="Shape 38"/>
          <p:cNvSpPr/>
          <p:nvPr/>
        </p:nvSpPr>
        <p:spPr>
          <a:xfrm>
            <a:off x="7863840" y="2340864"/>
            <a:ext cx="923544" cy="329184"/>
          </a:xfrm>
          <a:prstGeom prst="rect">
            <a:avLst/>
          </a:prstGeom>
          <a:solidFill>
            <a:srgbClr val="DEEEE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3" name="Text 39"/>
          <p:cNvSpPr/>
          <p:nvPr/>
        </p:nvSpPr>
        <p:spPr>
          <a:xfrm>
            <a:off x="7845552" y="2322576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[%]</a:t>
            </a:r>
            <a:endParaRPr lang="en-US" sz="850" dirty="0"/>
          </a:p>
        </p:txBody>
      </p:sp>
      <p:sp>
        <p:nvSpPr>
          <p:cNvPr id="44" name="Shape 40"/>
          <p:cNvSpPr/>
          <p:nvPr/>
        </p:nvSpPr>
        <p:spPr>
          <a:xfrm>
            <a:off x="8823960" y="2340864"/>
            <a:ext cx="923544" cy="329184"/>
          </a:xfrm>
          <a:prstGeom prst="rect">
            <a:avLst/>
          </a:prstGeom>
          <a:solidFill>
            <a:srgbClr val="FAEFD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5" name="Text 41"/>
          <p:cNvSpPr/>
          <p:nvPr/>
        </p:nvSpPr>
        <p:spPr>
          <a:xfrm>
            <a:off x="8805672" y="2322576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[%]</a:t>
            </a:r>
            <a:endParaRPr lang="en-US" sz="850" dirty="0"/>
          </a:p>
        </p:txBody>
      </p:sp>
      <p:sp>
        <p:nvSpPr>
          <p:cNvPr id="46" name="Shape 42"/>
          <p:cNvSpPr/>
          <p:nvPr/>
        </p:nvSpPr>
        <p:spPr>
          <a:xfrm>
            <a:off x="9784080" y="2340864"/>
            <a:ext cx="923544" cy="329184"/>
          </a:xfrm>
          <a:prstGeom prst="rect">
            <a:avLst/>
          </a:prstGeom>
          <a:solidFill>
            <a:srgbClr val="FAEFD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7" name="Text 43"/>
          <p:cNvSpPr/>
          <p:nvPr/>
        </p:nvSpPr>
        <p:spPr>
          <a:xfrm>
            <a:off x="9765792" y="2322576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[%]</a:t>
            </a:r>
            <a:endParaRPr lang="en-US" sz="850" dirty="0"/>
          </a:p>
        </p:txBody>
      </p:sp>
      <p:sp>
        <p:nvSpPr>
          <p:cNvPr id="48" name="Shape 44"/>
          <p:cNvSpPr/>
          <p:nvPr/>
        </p:nvSpPr>
        <p:spPr>
          <a:xfrm>
            <a:off x="10744200" y="2340864"/>
            <a:ext cx="923544" cy="329184"/>
          </a:xfrm>
          <a:prstGeom prst="rect">
            <a:avLst/>
          </a:prstGeom>
          <a:solidFill>
            <a:srgbClr val="DEEEE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9" name="Text 45"/>
          <p:cNvSpPr/>
          <p:nvPr/>
        </p:nvSpPr>
        <p:spPr>
          <a:xfrm>
            <a:off x="10725912" y="2322576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[%]</a:t>
            </a:r>
            <a:endParaRPr lang="en-US" sz="850" dirty="0"/>
          </a:p>
        </p:txBody>
      </p:sp>
      <p:sp>
        <p:nvSpPr>
          <p:cNvPr id="50" name="Text 46"/>
          <p:cNvSpPr/>
          <p:nvPr/>
        </p:nvSpPr>
        <p:spPr>
          <a:xfrm>
            <a:off x="6355080" y="2688336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[PRODUCT 3]</a:t>
            </a:r>
            <a:endParaRPr lang="en-US" sz="850" dirty="0"/>
          </a:p>
        </p:txBody>
      </p:sp>
      <p:sp>
        <p:nvSpPr>
          <p:cNvPr id="51" name="Shape 47"/>
          <p:cNvSpPr/>
          <p:nvPr/>
        </p:nvSpPr>
        <p:spPr>
          <a:xfrm>
            <a:off x="7863840" y="2706624"/>
            <a:ext cx="923544" cy="329184"/>
          </a:xfrm>
          <a:prstGeom prst="rect">
            <a:avLst/>
          </a:prstGeom>
          <a:solidFill>
            <a:srgbClr val="FAEFD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2" name="Text 48"/>
          <p:cNvSpPr/>
          <p:nvPr/>
        </p:nvSpPr>
        <p:spPr>
          <a:xfrm>
            <a:off x="7845552" y="2688336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[%]</a:t>
            </a:r>
            <a:endParaRPr lang="en-US" sz="850" dirty="0"/>
          </a:p>
        </p:txBody>
      </p:sp>
      <p:sp>
        <p:nvSpPr>
          <p:cNvPr id="53" name="Shape 49"/>
          <p:cNvSpPr/>
          <p:nvPr/>
        </p:nvSpPr>
        <p:spPr>
          <a:xfrm>
            <a:off x="8823960" y="2706624"/>
            <a:ext cx="923544" cy="329184"/>
          </a:xfrm>
          <a:prstGeom prst="rect">
            <a:avLst/>
          </a:prstGeom>
          <a:solidFill>
            <a:srgbClr val="DEEEE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4" name="Text 50"/>
          <p:cNvSpPr/>
          <p:nvPr/>
        </p:nvSpPr>
        <p:spPr>
          <a:xfrm>
            <a:off x="8805672" y="2688336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[%]</a:t>
            </a:r>
            <a:endParaRPr lang="en-US" sz="850" dirty="0"/>
          </a:p>
        </p:txBody>
      </p:sp>
      <p:sp>
        <p:nvSpPr>
          <p:cNvPr id="55" name="Shape 51"/>
          <p:cNvSpPr/>
          <p:nvPr/>
        </p:nvSpPr>
        <p:spPr>
          <a:xfrm>
            <a:off x="9784080" y="2706624"/>
            <a:ext cx="923544" cy="329184"/>
          </a:xfrm>
          <a:prstGeom prst="rect">
            <a:avLst/>
          </a:prstGeom>
          <a:solidFill>
            <a:srgbClr val="F6DFD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6" name="Text 52"/>
          <p:cNvSpPr/>
          <p:nvPr/>
        </p:nvSpPr>
        <p:spPr>
          <a:xfrm>
            <a:off x="9765792" y="2688336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[%]</a:t>
            </a:r>
            <a:endParaRPr lang="en-US" sz="850" dirty="0"/>
          </a:p>
        </p:txBody>
      </p:sp>
      <p:sp>
        <p:nvSpPr>
          <p:cNvPr id="57" name="Shape 53"/>
          <p:cNvSpPr/>
          <p:nvPr/>
        </p:nvSpPr>
        <p:spPr>
          <a:xfrm>
            <a:off x="10744200" y="2706624"/>
            <a:ext cx="923544" cy="329184"/>
          </a:xfrm>
          <a:prstGeom prst="rect">
            <a:avLst/>
          </a:prstGeom>
          <a:solidFill>
            <a:srgbClr val="FAEFD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8" name="Text 54"/>
          <p:cNvSpPr/>
          <p:nvPr/>
        </p:nvSpPr>
        <p:spPr>
          <a:xfrm>
            <a:off x="10725912" y="2688336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[%]</a:t>
            </a:r>
            <a:endParaRPr lang="en-US" sz="850" dirty="0"/>
          </a:p>
        </p:txBody>
      </p:sp>
      <p:sp>
        <p:nvSpPr>
          <p:cNvPr id="59" name="Text 55"/>
          <p:cNvSpPr/>
          <p:nvPr/>
        </p:nvSpPr>
        <p:spPr>
          <a:xfrm>
            <a:off x="6355080" y="3054096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[PRODUCT 4]</a:t>
            </a:r>
            <a:endParaRPr lang="en-US" sz="850" dirty="0"/>
          </a:p>
        </p:txBody>
      </p:sp>
      <p:sp>
        <p:nvSpPr>
          <p:cNvPr id="60" name="Shape 56"/>
          <p:cNvSpPr/>
          <p:nvPr/>
        </p:nvSpPr>
        <p:spPr>
          <a:xfrm>
            <a:off x="7863840" y="3072384"/>
            <a:ext cx="923544" cy="329184"/>
          </a:xfrm>
          <a:prstGeom prst="rect">
            <a:avLst/>
          </a:prstGeom>
          <a:solidFill>
            <a:srgbClr val="F6DFD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1" name="Text 57"/>
          <p:cNvSpPr/>
          <p:nvPr/>
        </p:nvSpPr>
        <p:spPr>
          <a:xfrm>
            <a:off x="7845552" y="3054096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[%]</a:t>
            </a:r>
            <a:endParaRPr lang="en-US" sz="850" dirty="0"/>
          </a:p>
        </p:txBody>
      </p:sp>
      <p:sp>
        <p:nvSpPr>
          <p:cNvPr id="62" name="Shape 58"/>
          <p:cNvSpPr/>
          <p:nvPr/>
        </p:nvSpPr>
        <p:spPr>
          <a:xfrm>
            <a:off x="8823960" y="3072384"/>
            <a:ext cx="923544" cy="329184"/>
          </a:xfrm>
          <a:prstGeom prst="rect">
            <a:avLst/>
          </a:prstGeom>
          <a:solidFill>
            <a:srgbClr val="FAEFD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3" name="Text 59"/>
          <p:cNvSpPr/>
          <p:nvPr/>
        </p:nvSpPr>
        <p:spPr>
          <a:xfrm>
            <a:off x="8805672" y="3054096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[%]</a:t>
            </a:r>
            <a:endParaRPr lang="en-US" sz="850" dirty="0"/>
          </a:p>
        </p:txBody>
      </p:sp>
      <p:sp>
        <p:nvSpPr>
          <p:cNvPr id="64" name="Shape 60"/>
          <p:cNvSpPr/>
          <p:nvPr/>
        </p:nvSpPr>
        <p:spPr>
          <a:xfrm>
            <a:off x="9784080" y="3072384"/>
            <a:ext cx="923544" cy="329184"/>
          </a:xfrm>
          <a:prstGeom prst="rect">
            <a:avLst/>
          </a:prstGeom>
          <a:solidFill>
            <a:srgbClr val="DEEEE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5" name="Text 61"/>
          <p:cNvSpPr/>
          <p:nvPr/>
        </p:nvSpPr>
        <p:spPr>
          <a:xfrm>
            <a:off x="9765792" y="3054096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[%]</a:t>
            </a:r>
            <a:endParaRPr lang="en-US" sz="850" dirty="0"/>
          </a:p>
        </p:txBody>
      </p:sp>
      <p:sp>
        <p:nvSpPr>
          <p:cNvPr id="66" name="Shape 62"/>
          <p:cNvSpPr/>
          <p:nvPr/>
        </p:nvSpPr>
        <p:spPr>
          <a:xfrm>
            <a:off x="10744200" y="3072384"/>
            <a:ext cx="923544" cy="329184"/>
          </a:xfrm>
          <a:prstGeom prst="rect">
            <a:avLst/>
          </a:prstGeom>
          <a:solidFill>
            <a:srgbClr val="DEEEE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7" name="Text 63"/>
          <p:cNvSpPr/>
          <p:nvPr/>
        </p:nvSpPr>
        <p:spPr>
          <a:xfrm>
            <a:off x="10725912" y="3054096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[%]</a:t>
            </a:r>
            <a:endParaRPr lang="en-US" sz="850" dirty="0"/>
          </a:p>
        </p:txBody>
      </p:sp>
      <p:sp>
        <p:nvSpPr>
          <p:cNvPr id="68" name="Text 64"/>
          <p:cNvSpPr/>
          <p:nvPr/>
        </p:nvSpPr>
        <p:spPr>
          <a:xfrm>
            <a:off x="6355080" y="3419856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[PRODUCT 5]</a:t>
            </a:r>
            <a:endParaRPr lang="en-US" sz="850" dirty="0"/>
          </a:p>
        </p:txBody>
      </p:sp>
      <p:sp>
        <p:nvSpPr>
          <p:cNvPr id="69" name="Shape 65"/>
          <p:cNvSpPr/>
          <p:nvPr/>
        </p:nvSpPr>
        <p:spPr>
          <a:xfrm>
            <a:off x="7863840" y="3438144"/>
            <a:ext cx="923544" cy="329184"/>
          </a:xfrm>
          <a:prstGeom prst="rect">
            <a:avLst/>
          </a:prstGeom>
          <a:solidFill>
            <a:srgbClr val="FAEFD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0" name="Text 66"/>
          <p:cNvSpPr/>
          <p:nvPr/>
        </p:nvSpPr>
        <p:spPr>
          <a:xfrm>
            <a:off x="7845552" y="3419856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[%]</a:t>
            </a:r>
            <a:endParaRPr lang="en-US" sz="850" dirty="0"/>
          </a:p>
        </p:txBody>
      </p:sp>
      <p:sp>
        <p:nvSpPr>
          <p:cNvPr id="71" name="Shape 67"/>
          <p:cNvSpPr/>
          <p:nvPr/>
        </p:nvSpPr>
        <p:spPr>
          <a:xfrm>
            <a:off x="8823960" y="3438144"/>
            <a:ext cx="923544" cy="329184"/>
          </a:xfrm>
          <a:prstGeom prst="rect">
            <a:avLst/>
          </a:prstGeom>
          <a:solidFill>
            <a:srgbClr val="F6DFD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2" name="Text 68"/>
          <p:cNvSpPr/>
          <p:nvPr/>
        </p:nvSpPr>
        <p:spPr>
          <a:xfrm>
            <a:off x="8805672" y="3419856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[%]</a:t>
            </a:r>
            <a:endParaRPr lang="en-US" sz="850" dirty="0"/>
          </a:p>
        </p:txBody>
      </p:sp>
      <p:sp>
        <p:nvSpPr>
          <p:cNvPr id="73" name="Shape 69"/>
          <p:cNvSpPr/>
          <p:nvPr/>
        </p:nvSpPr>
        <p:spPr>
          <a:xfrm>
            <a:off x="9784080" y="3438144"/>
            <a:ext cx="923544" cy="329184"/>
          </a:xfrm>
          <a:prstGeom prst="rect">
            <a:avLst/>
          </a:prstGeom>
          <a:solidFill>
            <a:srgbClr val="FAEFD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4" name="Text 70"/>
          <p:cNvSpPr/>
          <p:nvPr/>
        </p:nvSpPr>
        <p:spPr>
          <a:xfrm>
            <a:off x="9765792" y="3419856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[%]</a:t>
            </a:r>
            <a:endParaRPr lang="en-US" sz="850" dirty="0"/>
          </a:p>
        </p:txBody>
      </p:sp>
      <p:sp>
        <p:nvSpPr>
          <p:cNvPr id="75" name="Shape 71"/>
          <p:cNvSpPr/>
          <p:nvPr/>
        </p:nvSpPr>
        <p:spPr>
          <a:xfrm>
            <a:off x="10744200" y="3438144"/>
            <a:ext cx="923544" cy="329184"/>
          </a:xfrm>
          <a:prstGeom prst="rect">
            <a:avLst/>
          </a:prstGeom>
          <a:solidFill>
            <a:srgbClr val="FAEFD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6" name="Text 72"/>
          <p:cNvSpPr/>
          <p:nvPr/>
        </p:nvSpPr>
        <p:spPr>
          <a:xfrm>
            <a:off x="10725912" y="3419856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[%]</a:t>
            </a:r>
            <a:endParaRPr lang="en-US" sz="850" dirty="0"/>
          </a:p>
        </p:txBody>
      </p:sp>
      <p:sp>
        <p:nvSpPr>
          <p:cNvPr id="77" name="Text 73"/>
          <p:cNvSpPr/>
          <p:nvPr/>
        </p:nvSpPr>
        <p:spPr>
          <a:xfrm>
            <a:off x="6355080" y="3785616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[PRODUCT 6]</a:t>
            </a:r>
            <a:endParaRPr lang="en-US" sz="850" dirty="0"/>
          </a:p>
        </p:txBody>
      </p:sp>
      <p:sp>
        <p:nvSpPr>
          <p:cNvPr id="78" name="Shape 74"/>
          <p:cNvSpPr/>
          <p:nvPr/>
        </p:nvSpPr>
        <p:spPr>
          <a:xfrm>
            <a:off x="7863840" y="3803904"/>
            <a:ext cx="923544" cy="329184"/>
          </a:xfrm>
          <a:prstGeom prst="rect">
            <a:avLst/>
          </a:prstGeom>
          <a:solidFill>
            <a:srgbClr val="DEEEE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9" name="Text 75"/>
          <p:cNvSpPr/>
          <p:nvPr/>
        </p:nvSpPr>
        <p:spPr>
          <a:xfrm>
            <a:off x="7845552" y="3785616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[%]</a:t>
            </a:r>
            <a:endParaRPr lang="en-US" sz="850" dirty="0"/>
          </a:p>
        </p:txBody>
      </p:sp>
      <p:sp>
        <p:nvSpPr>
          <p:cNvPr id="80" name="Shape 76"/>
          <p:cNvSpPr/>
          <p:nvPr/>
        </p:nvSpPr>
        <p:spPr>
          <a:xfrm>
            <a:off x="8823960" y="3803904"/>
            <a:ext cx="923544" cy="329184"/>
          </a:xfrm>
          <a:prstGeom prst="rect">
            <a:avLst/>
          </a:prstGeom>
          <a:solidFill>
            <a:srgbClr val="FAEFD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1" name="Text 77"/>
          <p:cNvSpPr/>
          <p:nvPr/>
        </p:nvSpPr>
        <p:spPr>
          <a:xfrm>
            <a:off x="8805672" y="3785616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[%]</a:t>
            </a:r>
            <a:endParaRPr lang="en-US" sz="850" dirty="0"/>
          </a:p>
        </p:txBody>
      </p:sp>
      <p:sp>
        <p:nvSpPr>
          <p:cNvPr id="82" name="Shape 78"/>
          <p:cNvSpPr/>
          <p:nvPr/>
        </p:nvSpPr>
        <p:spPr>
          <a:xfrm>
            <a:off x="9784080" y="3803904"/>
            <a:ext cx="923544" cy="329184"/>
          </a:xfrm>
          <a:prstGeom prst="rect">
            <a:avLst/>
          </a:prstGeom>
          <a:solidFill>
            <a:srgbClr val="DEEEE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3" name="Text 79"/>
          <p:cNvSpPr/>
          <p:nvPr/>
        </p:nvSpPr>
        <p:spPr>
          <a:xfrm>
            <a:off x="9765792" y="3785616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[%]</a:t>
            </a:r>
            <a:endParaRPr lang="en-US" sz="850" dirty="0"/>
          </a:p>
        </p:txBody>
      </p:sp>
      <p:sp>
        <p:nvSpPr>
          <p:cNvPr id="84" name="Shape 80"/>
          <p:cNvSpPr/>
          <p:nvPr/>
        </p:nvSpPr>
        <p:spPr>
          <a:xfrm>
            <a:off x="10744200" y="3803904"/>
            <a:ext cx="923544" cy="329184"/>
          </a:xfrm>
          <a:prstGeom prst="rect">
            <a:avLst/>
          </a:prstGeom>
          <a:solidFill>
            <a:srgbClr val="F6DFD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5" name="Text 81"/>
          <p:cNvSpPr/>
          <p:nvPr/>
        </p:nvSpPr>
        <p:spPr>
          <a:xfrm>
            <a:off x="10725912" y="3785616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[%]</a:t>
            </a:r>
            <a:endParaRPr lang="en-US" sz="850" dirty="0"/>
          </a:p>
        </p:txBody>
      </p:sp>
      <p:sp>
        <p:nvSpPr>
          <p:cNvPr id="86" name="Shape 82"/>
          <p:cNvSpPr/>
          <p:nvPr/>
        </p:nvSpPr>
        <p:spPr>
          <a:xfrm>
            <a:off x="6355080" y="4265676"/>
            <a:ext cx="109728" cy="109728"/>
          </a:xfrm>
          <a:prstGeom prst="ellipse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87" name="Text 83"/>
          <p:cNvSpPr/>
          <p:nvPr/>
        </p:nvSpPr>
        <p:spPr>
          <a:xfrm>
            <a:off x="6510528" y="4224528"/>
            <a:ext cx="1993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Above target</a:t>
            </a:r>
            <a:endParaRPr lang="en-US" sz="850" dirty="0"/>
          </a:p>
        </p:txBody>
      </p:sp>
      <p:sp>
        <p:nvSpPr>
          <p:cNvPr id="88" name="Shape 84"/>
          <p:cNvSpPr/>
          <p:nvPr/>
        </p:nvSpPr>
        <p:spPr>
          <a:xfrm>
            <a:off x="7836408" y="4265676"/>
            <a:ext cx="109728" cy="109728"/>
          </a:xfrm>
          <a:prstGeom prst="ellipse">
            <a:avLst/>
          </a:prstGeom>
          <a:solidFill>
            <a:srgbClr val="C98A16"/>
          </a:solidFill>
          <a:ln w="12700">
            <a:solidFill>
              <a:srgbClr val="C98A16"/>
            </a:solidFill>
            <a:prstDash val="solid"/>
          </a:ln>
        </p:spPr>
      </p:sp>
      <p:sp>
        <p:nvSpPr>
          <p:cNvPr id="89" name="Text 85"/>
          <p:cNvSpPr/>
          <p:nvPr/>
        </p:nvSpPr>
        <p:spPr>
          <a:xfrm>
            <a:off x="7991856" y="4224528"/>
            <a:ext cx="1609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target</a:t>
            </a:r>
            <a:endParaRPr lang="en-US" sz="850" dirty="0"/>
          </a:p>
        </p:txBody>
      </p:sp>
      <p:sp>
        <p:nvSpPr>
          <p:cNvPr id="90" name="Shape 86"/>
          <p:cNvSpPr/>
          <p:nvPr/>
        </p:nvSpPr>
        <p:spPr>
          <a:xfrm>
            <a:off x="9111996" y="4265676"/>
            <a:ext cx="109728" cy="109728"/>
          </a:xfrm>
          <a:prstGeom prst="ellipse">
            <a:avLst/>
          </a:prstGeom>
          <a:solidFill>
            <a:srgbClr val="B3372C"/>
          </a:solidFill>
          <a:ln w="12700">
            <a:solidFill>
              <a:srgbClr val="B3372C"/>
            </a:solidFill>
            <a:prstDash val="solid"/>
          </a:ln>
        </p:spPr>
      </p:sp>
      <p:sp>
        <p:nvSpPr>
          <p:cNvPr id="91" name="Text 87"/>
          <p:cNvSpPr/>
          <p:nvPr/>
        </p:nvSpPr>
        <p:spPr>
          <a:xfrm>
            <a:off x="9267444" y="4224528"/>
            <a:ext cx="1993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target</a:t>
            </a:r>
            <a:endParaRPr lang="en-US" sz="850" dirty="0"/>
          </a:p>
        </p:txBody>
      </p:sp>
      <p:sp>
        <p:nvSpPr>
          <p:cNvPr id="92" name="Text 88"/>
          <p:cNvSpPr/>
          <p:nvPr/>
        </p:nvSpPr>
        <p:spPr>
          <a:xfrm>
            <a:off x="6355080" y="4462272"/>
            <a:ext cx="5330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Shading is illustrative. Band each cell against the BU's achievement thresholds.</a:t>
            </a:r>
            <a:endParaRPr lang="en-US" sz="750" dirty="0"/>
          </a:p>
        </p:txBody>
      </p:sp>
      <p:sp>
        <p:nvSpPr>
          <p:cNvPr id="93" name="Text 89"/>
          <p:cNvSpPr/>
          <p:nvPr/>
        </p:nvSpPr>
        <p:spPr>
          <a:xfrm>
            <a:off x="6355080" y="4700016"/>
            <a:ext cx="5330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heatmap answers a question neither table can: whether a weak product is weak everywhere, or weak on one line only.</a:t>
            </a:r>
            <a:endParaRPr lang="en-US" sz="900" dirty="0"/>
          </a:p>
        </p:txBody>
      </p:sp>
      <p:sp>
        <p:nvSpPr>
          <p:cNvPr id="94" name="Shape 90"/>
          <p:cNvSpPr/>
          <p:nvPr/>
        </p:nvSpPr>
        <p:spPr>
          <a:xfrm>
            <a:off x="502920" y="5047488"/>
            <a:ext cx="11185855" cy="1005840"/>
          </a:xfrm>
          <a:prstGeom prst="roundRect">
            <a:avLst>
              <a:gd name="adj" fmla="val 6364"/>
            </a:avLst>
          </a:prstGeom>
          <a:solidFill>
            <a:srgbClr val="E9F3FB"/>
          </a:solidFill>
          <a:ln w="9525">
            <a:solidFill>
              <a:srgbClr val="C9DFF1"/>
            </a:solidFill>
            <a:prstDash val="solid"/>
          </a:ln>
        </p:spPr>
      </p:sp>
      <p:sp>
        <p:nvSpPr>
          <p:cNvPr id="95" name="Text 91"/>
          <p:cNvSpPr/>
          <p:nvPr/>
        </p:nvSpPr>
        <p:spPr>
          <a:xfrm>
            <a:off x="640080" y="5138928"/>
            <a:ext cx="34908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1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850" dirty="0"/>
          </a:p>
        </p:txBody>
      </p:sp>
      <p:sp>
        <p:nvSpPr>
          <p:cNvPr id="96" name="Text 92"/>
          <p:cNvSpPr/>
          <p:nvPr/>
        </p:nvSpPr>
        <p:spPr>
          <a:xfrm>
            <a:off x="640080" y="5321808"/>
            <a:ext cx="349087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[Is the BU result carried by one line, or delivered broadly across the organisation?]</a:t>
            </a:r>
            <a:endParaRPr lang="en-US" sz="1000" dirty="0"/>
          </a:p>
        </p:txBody>
      </p:sp>
      <p:sp>
        <p:nvSpPr>
          <p:cNvPr id="97" name="Shape 93"/>
          <p:cNvSpPr/>
          <p:nvPr/>
        </p:nvSpPr>
        <p:spPr>
          <a:xfrm>
            <a:off x="4231538" y="5157216"/>
            <a:ext cx="7315" cy="786384"/>
          </a:xfrm>
          <a:prstGeom prst="rect">
            <a:avLst/>
          </a:prstGeom>
          <a:solidFill>
            <a:srgbClr val="C9DFF1"/>
          </a:solidFill>
          <a:ln/>
        </p:spPr>
      </p:sp>
      <p:sp>
        <p:nvSpPr>
          <p:cNvPr id="98" name="Text 94"/>
          <p:cNvSpPr/>
          <p:nvPr/>
        </p:nvSpPr>
        <p:spPr>
          <a:xfrm>
            <a:off x="4350410" y="5138928"/>
            <a:ext cx="34908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1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</a:t>
            </a:r>
            <a:endParaRPr lang="en-US" sz="850" dirty="0"/>
          </a:p>
        </p:txBody>
      </p:sp>
      <p:sp>
        <p:nvSpPr>
          <p:cNvPr id="99" name="Text 95"/>
          <p:cNvSpPr/>
          <p:nvPr/>
        </p:nvSpPr>
        <p:spPr>
          <a:xfrm>
            <a:off x="4350410" y="5321808"/>
            <a:ext cx="349087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[ROOT CAUSE - vacancy, capability, territory potential, target setting]</a:t>
            </a:r>
            <a:endParaRPr lang="en-US" sz="1000" dirty="0"/>
          </a:p>
        </p:txBody>
      </p:sp>
      <p:sp>
        <p:nvSpPr>
          <p:cNvPr id="100" name="Shape 96"/>
          <p:cNvSpPr/>
          <p:nvPr/>
        </p:nvSpPr>
        <p:spPr>
          <a:xfrm>
            <a:off x="7941869" y="5157216"/>
            <a:ext cx="7315" cy="786384"/>
          </a:xfrm>
          <a:prstGeom prst="rect">
            <a:avLst/>
          </a:prstGeom>
          <a:solidFill>
            <a:srgbClr val="C9DFF1"/>
          </a:solidFill>
          <a:ln/>
        </p:spPr>
      </p:sp>
      <p:sp>
        <p:nvSpPr>
          <p:cNvPr id="101" name="Text 97"/>
          <p:cNvSpPr/>
          <p:nvPr/>
        </p:nvSpPr>
        <p:spPr>
          <a:xfrm>
            <a:off x="8060741" y="5138928"/>
            <a:ext cx="34908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1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/ IMPLICATION</a:t>
            </a:r>
            <a:endParaRPr lang="en-US" sz="850" dirty="0"/>
          </a:p>
        </p:txBody>
      </p:sp>
      <p:sp>
        <p:nvSpPr>
          <p:cNvPr id="102" name="Text 98"/>
          <p:cNvSpPr/>
          <p:nvPr/>
        </p:nvSpPr>
        <p:spPr>
          <a:xfrm>
            <a:off x="8060741" y="5321808"/>
            <a:ext cx="349087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[ACTION - coaching, target rebalancing, resource shift between lines]</a:t>
            </a:r>
            <a:endParaRPr lang="en-US" sz="1000" dirty="0"/>
          </a:p>
        </p:txBody>
      </p:sp>
      <p:sp>
        <p:nvSpPr>
          <p:cNvPr id="103" name="Shape 0">
            <a:extLst>
              <a:ext uri="{FF2B5EF4-FFF2-40B4-BE49-F238E27FC236}">
                <ns4:creationId id="{72A77AE2-5D01-4AE9-F4A8-81E28AC7762A}"/>
              </a:ext>
            </a:extLst>
          </p:cNvPr>
          <p:cNvSpPr/>
          <p:nvPr/>
        </p:nvSpPr>
        <p:spPr>
          <a:xfrm>
            <a:off x="483670" y="310896"/>
            <a:ext cx="4245742" cy="292608"/>
          </a:xfrm>
          <a:prstGeom prst="roundRect">
            <a:avLst>
              <a:gd name="adj" fmla="val 16667"/>
            </a:avLst>
          </a:prstGeom>
          <a:solidFill>
            <a:srgbClr val="0A57A5"/>
          </a:solidFill>
          <a:ln w="12700">
            <a:solidFill>
              <a:srgbClr val="0A57A5"/>
            </a:solidFill>
            <a:prstDash val="solid"/>
          </a:ln>
        </p:spPr>
      </p:sp>
      <p:sp>
        <p:nvSpPr>
          <p:cNvPr id="104" name="Text 0">
            <a:extLst>
              <a:ext uri="{FF2B5EF4-FFF2-40B4-BE49-F238E27FC236}">
                <ns4:creationId id="{D06D2B2D-5575-BD7C-A159-6C26214ED881}"/>
              </a:ext>
            </a:extLst>
          </p:cNvPr>
          <p:cNvSpPr/>
          <p:nvPr/>
        </p:nvSpPr>
        <p:spPr>
          <a:xfrm>
            <a:off x="618420" y="356135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2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 ·  INTERNAL SALES  ·  IN-HOUSE DATA</a:t>
            </a:r>
            <a:endParaRPr lang="en-US" sz="1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c="http://schemas.openxmlformats.org/drawingml/2006/chart" xmlns:ns3="http://schemas.microsoft.com/office/powerpoint/2010/main" xmlns:ns4="http://schemas.microsoft.com/office/drawing/2014/main" xmlns:p="http://schemas.openxmlformats.org/presentationml/2006/main" xmlns:r="http://schemas.openxmlformats.org/officeDocument/2006/relationships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02920" y="603504"/>
            <a:ext cx="8778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Performance</a:t>
            </a:r>
            <a:endParaRPr lang="en-US" sz="2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8323" y="0"/>
            <a:ext cx="1467612" cy="146761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26364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Semester 1 2026 Business Review  |  Cluster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1155680" y="626364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85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ns3:modId val="1579011935"/>
              </p:ext>
            </p:extLst>
          </p:nvPr>
        </p:nvGraphicFramePr>
        <p:xfrm>
          <a:off x="502920" y="1371600"/>
          <a:ext cx="7086600" cy="2743200"/>
        </p:xfrm>
        <a:graphic>
          <a:graphicData uri="http://schemas.openxmlformats.org/drawingml/2006/table">
            <a:tbl>
              <a:tblPr/>
              <a:tblGrid>
                <a:gridCol w="1417320">
                  <a:extLst>
                    <a:ext uri="{9D8B030D-6E8A-4147-A177-3AD203B41FA5}">
                      <ns4:colId val="20000"/>
                    </a:ext>
                  </a:extLst>
                </a:gridCol>
                <a:gridCol w="932688">
                  <a:extLst>
                    <a:ext uri="{9D8B030D-6E8A-4147-A177-3AD203B41FA5}">
                      <ns4:colId val="20001"/>
                    </a:ext>
                  </a:extLst>
                </a:gridCol>
                <a:gridCol w="932688">
                  <a:extLst>
                    <a:ext uri="{9D8B030D-6E8A-4147-A177-3AD203B41FA5}">
                      <ns4:colId val="20002"/>
                    </a:ext>
                  </a:extLst>
                </a:gridCol>
                <a:gridCol w="859536">
                  <a:extLst>
                    <a:ext uri="{9D8B030D-6E8A-4147-A177-3AD203B41FA5}">
                      <ns4:colId val="20003"/>
                    </a:ext>
                  </a:extLst>
                </a:gridCol>
                <a:gridCol w="1060704">
                  <a:extLst>
                    <a:ext uri="{9D8B030D-6E8A-4147-A177-3AD203B41FA5}">
                      <ns4:colId val="20004"/>
                    </a:ext>
                  </a:extLst>
                </a:gridCol>
                <a:gridCol w="1060704">
                  <a:extLst>
                    <a:ext uri="{9D8B030D-6E8A-4147-A177-3AD203B41FA5}">
                      <ns4:colId val="20005"/>
                    </a:ext>
                  </a:extLst>
                </a:gridCol>
                <a:gridCol w="822960">
                  <a:extLst>
                    <a:ext uri="{9D8B030D-6E8A-4147-A177-3AD203B41FA5}">
                      <ns4:colId val="20006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Actual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Ach. 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Growth vs LY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Contribution 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Gap to Target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extLst>
                  <a:ext uri="{0D108BD9-81ED-4DB2-BD59-A6C34878D82A}">
                    <ns4:rowId val="1000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NEXICURE 10 MG 14 SACHETS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247K EGP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27K EGP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E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10.7%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E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-220K EGP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4:rowId val="10001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NEXICURE 5 MG 28 SACHETS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105K EGP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26K EGP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E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24.5%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E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5.3%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-79K EGP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ns4:rowId val="10002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BILASTIGEC SYRUP 120 ML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108K EGP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25K EGP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C98A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23.4%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F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-83K EGP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4:rowId val="10003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NEXICURE 2.5 MG 28 SACHETS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65K EGP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24K EGP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B337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37.3%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F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-40K EGP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ns4:rowId val="10004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NEXIBRONCH SYRUP 200ML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76K EGP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23K EGP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30.7%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-53K EGP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4:rowId val="10005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ELIMBOSIS 2.5 MG 30 TAB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184K EGP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20K EGP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10.9%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4.1%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-164K EGP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ns4:rowId val="10006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ELIMBOSIS 5 MG 30 TAB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197K EGP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20K EGP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10.1%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4.1%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-177K EGP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4:rowId val="10007"/>
                  </a:ext>
                </a:extLst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7818120" y="137160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ACHIEVEMENT % RANKING</a:t>
            </a:r>
            <a:endParaRPr lang="en-US" sz="950" dirty="0"/>
          </a:p>
        </p:txBody>
      </p:sp>
      <p:graphicFrame>
        <p:nvGraphicFramePr>
          <p:cNvPr id="9" name="Chart 0"/>
          <p:cNvGraphicFramePr/>
          <p:nvPr/>
        </p:nvGraphicFramePr>
        <p:xfrm>
          <a:off x="7744968" y="1591056"/>
          <a:ext cx="3977640" cy="2450592"/>
        </p:xfrm>
        <a:graphic>
          <a:graphicData uri="http://schemas.openxmlformats.org/drawingml/2006/chart">
            <c:chart r:id="rId4"/>
          </a:graphicData>
        </a:graphic>
      </p:graphicFrame>
      <p:sp>
        <p:nvSpPr>
          <p:cNvPr id="10" name="Text 5"/>
          <p:cNvSpPr/>
          <p:nvPr/>
        </p:nvSpPr>
        <p:spPr>
          <a:xfrm>
            <a:off x="7818120" y="4114800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structure only. Sort descending by achievement.</a:t>
            </a:r>
            <a:endParaRPr lang="en-US" sz="750" dirty="0"/>
          </a:p>
        </p:txBody>
      </p:sp>
      <p:sp>
        <p:nvSpPr>
          <p:cNvPr id="11" name="Shape 6"/>
          <p:cNvSpPr/>
          <p:nvPr/>
        </p:nvSpPr>
        <p:spPr>
          <a:xfrm>
            <a:off x="502920" y="4247388"/>
            <a:ext cx="109728" cy="109728"/>
          </a:xfrm>
          <a:prstGeom prst="ellipse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658368" y="4206240"/>
            <a:ext cx="22494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performing</a:t>
            </a:r>
            <a:endParaRPr lang="en-US" sz="850" dirty="0"/>
          </a:p>
        </p:txBody>
      </p:sp>
      <p:sp>
        <p:nvSpPr>
          <p:cNvPr id="13" name="Shape 8"/>
          <p:cNvSpPr/>
          <p:nvPr/>
        </p:nvSpPr>
        <p:spPr>
          <a:xfrm>
            <a:off x="2121408" y="4247388"/>
            <a:ext cx="109728" cy="109728"/>
          </a:xfrm>
          <a:prstGeom prst="ellipse">
            <a:avLst/>
          </a:prstGeom>
          <a:solidFill>
            <a:srgbClr val="C98A16"/>
          </a:solidFill>
          <a:ln w="12700">
            <a:solidFill>
              <a:srgbClr val="C98A16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2276856" y="4206240"/>
            <a:ext cx="1353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</a:t>
            </a:r>
            <a:endParaRPr lang="en-US" sz="850" dirty="0"/>
          </a:p>
        </p:txBody>
      </p:sp>
      <p:sp>
        <p:nvSpPr>
          <p:cNvPr id="15" name="Shape 10"/>
          <p:cNvSpPr/>
          <p:nvPr/>
        </p:nvSpPr>
        <p:spPr>
          <a:xfrm>
            <a:off x="3259836" y="4247388"/>
            <a:ext cx="109728" cy="109728"/>
          </a:xfrm>
          <a:prstGeom prst="ellipse">
            <a:avLst/>
          </a:prstGeom>
          <a:solidFill>
            <a:srgbClr val="B3372C"/>
          </a:solidFill>
          <a:ln w="12700">
            <a:solidFill>
              <a:srgbClr val="B3372C"/>
            </a:solidFill>
            <a:prstDash val="solid"/>
          </a:ln>
        </p:spPr>
      </p:sp>
      <p:sp>
        <p:nvSpPr>
          <p:cNvPr id="7" name="Text 11"/>
          <p:cNvSpPr/>
          <p:nvPr/>
        </p:nvSpPr>
        <p:spPr>
          <a:xfrm>
            <a:off x="3415284" y="4206240"/>
            <a:ext cx="2761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attention</a:t>
            </a:r>
            <a:endParaRPr lang="en-US" sz="850" dirty="0"/>
          </a:p>
        </p:txBody>
      </p:sp>
      <p:sp>
        <p:nvSpPr>
          <p:cNvPr id="17" name="Shape 12"/>
          <p:cNvSpPr/>
          <p:nvPr/>
        </p:nvSpPr>
        <p:spPr>
          <a:xfrm>
            <a:off x="502920" y="4443984"/>
            <a:ext cx="11185855" cy="1609344"/>
          </a:xfrm>
          <a:prstGeom prst="roundRect">
            <a:avLst>
              <a:gd name="adj" fmla="val 3977"/>
            </a:avLst>
          </a:prstGeom>
          <a:solidFill>
            <a:srgbClr val="E9F3FB"/>
          </a:solidFill>
          <a:ln w="9525">
            <a:solidFill>
              <a:srgbClr val="C9DFF1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640080" y="4535424"/>
            <a:ext cx="34908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1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850" dirty="0"/>
          </a:p>
        </p:txBody>
      </p:sp>
      <p:sp>
        <p:nvSpPr>
          <p:cNvPr id="19" name="Text 14"/>
          <p:cNvSpPr/>
          <p:nvPr/>
        </p:nvSpPr>
        <p:spPr>
          <a:xfrm>
            <a:off x="640080" y="4718304"/>
            <a:ext cx="3490874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[Which products carried the semester and which destroyed value?]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4231538" y="4553712"/>
            <a:ext cx="7315" cy="1389888"/>
          </a:xfrm>
          <a:prstGeom prst="rect">
            <a:avLst/>
          </a:prstGeom>
          <a:solidFill>
            <a:srgbClr val="C9DFF1"/>
          </a:solidFill>
          <a:ln/>
        </p:spPr>
      </p:sp>
      <p:sp>
        <p:nvSpPr>
          <p:cNvPr id="21" name="Text 16"/>
          <p:cNvSpPr/>
          <p:nvPr/>
        </p:nvSpPr>
        <p:spPr>
          <a:xfrm>
            <a:off x="4350410" y="4535424"/>
            <a:ext cx="34908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1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</a:t>
            </a:r>
            <a:endParaRPr lang="en-US" sz="850" dirty="0"/>
          </a:p>
        </p:txBody>
      </p:sp>
      <p:sp>
        <p:nvSpPr>
          <p:cNvPr id="22" name="Text 17"/>
          <p:cNvSpPr/>
          <p:nvPr/>
        </p:nvSpPr>
        <p:spPr>
          <a:xfrm>
            <a:off x="4350410" y="4718304"/>
            <a:ext cx="3490874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[ROOT CAUSE per under-performing product]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7941869" y="4553712"/>
            <a:ext cx="7315" cy="1389888"/>
          </a:xfrm>
          <a:prstGeom prst="rect">
            <a:avLst/>
          </a:prstGeom>
          <a:solidFill>
            <a:srgbClr val="C9DFF1"/>
          </a:solidFill>
          <a:ln/>
        </p:spPr>
      </p:sp>
      <p:sp>
        <p:nvSpPr>
          <p:cNvPr id="24" name="Text 19"/>
          <p:cNvSpPr/>
          <p:nvPr/>
        </p:nvSpPr>
        <p:spPr>
          <a:xfrm>
            <a:off x="8060741" y="4535424"/>
            <a:ext cx="34908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1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/ IMPLICATION</a:t>
            </a:r>
            <a:endParaRPr lang="en-US" sz="850" dirty="0"/>
          </a:p>
        </p:txBody>
      </p:sp>
      <p:sp>
        <p:nvSpPr>
          <p:cNvPr id="25" name="Text 20"/>
          <p:cNvSpPr/>
          <p:nvPr/>
        </p:nvSpPr>
        <p:spPr>
          <a:xfrm>
            <a:off x="8060741" y="4718304"/>
            <a:ext cx="3490874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[ACTION - reallocate effort, revise target, review promotional support, address supply]</a:t>
            </a:r>
            <a:endParaRPr lang="en-US" sz="1000" dirty="0"/>
          </a:p>
        </p:txBody>
      </p:sp>
      <p:sp>
        <p:nvSpPr>
          <p:cNvPr id="27" name="Shape 0">
            <a:extLst>
              <a:ext uri="{FF2B5EF4-FFF2-40B4-BE49-F238E27FC236}">
                <ns4:creationId id="{8A1B3477-A595-F3AD-A89E-F7B808C92FC4}"/>
              </a:ext>
            </a:extLst>
          </p:cNvPr>
          <p:cNvSpPr/>
          <p:nvPr/>
        </p:nvSpPr>
        <p:spPr>
          <a:xfrm>
            <a:off x="483670" y="310896"/>
            <a:ext cx="4245742" cy="292608"/>
          </a:xfrm>
          <a:prstGeom prst="roundRect">
            <a:avLst>
              <a:gd name="adj" fmla="val 16667"/>
            </a:avLst>
          </a:prstGeom>
          <a:solidFill>
            <a:srgbClr val="0A57A5"/>
          </a:solidFill>
          <a:ln w="12700">
            <a:solidFill>
              <a:srgbClr val="0A57A5"/>
            </a:solidFill>
            <a:prstDash val="solid"/>
          </a:ln>
        </p:spPr>
      </p:sp>
      <p:sp>
        <p:nvSpPr>
          <p:cNvPr id="28" name="Text 0">
            <a:extLst>
              <a:ext uri="{FF2B5EF4-FFF2-40B4-BE49-F238E27FC236}">
                <ns4:creationId id="{2F75E294-B73C-EA07-2077-CFA0EA699EE5}"/>
              </a:ext>
            </a:extLst>
          </p:cNvPr>
          <p:cNvSpPr/>
          <p:nvPr/>
        </p:nvSpPr>
        <p:spPr>
          <a:xfrm>
            <a:off x="618420" y="356135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2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 ·  INTERNAL SALES  ·  IN-HOUSE DATA</a:t>
            </a:r>
            <a:endParaRPr lang="en-US" sz="1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c="http://schemas.openxmlformats.org/drawingml/2006/chart" xmlns:ns4="http://schemas.microsoft.com/office/powerpoint/2010/main" xmlns:ns5="http://schemas.microsoft.com/office/drawing/2014/main" xmlns:p="http://schemas.openxmlformats.org/presentationml/2006/main" xmlns:r="http://schemas.openxmlformats.org/officeDocument/2006/relationships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02920" y="603504"/>
            <a:ext cx="8778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Contribution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060704"/>
            <a:ext cx="8778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mix  |  S1 2025 versus S1 2026</a:t>
            </a:r>
            <a:endParaRPr lang="en-US" sz="11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8323" y="0"/>
            <a:ext cx="1467612" cy="14676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626364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Semester 1 2026 Business Review  |  Cluster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11155680" y="626364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02920" y="148132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 2025 CONTRIBUTION</a:t>
            </a:r>
            <a:endParaRPr lang="en-US" sz="950" dirty="0"/>
          </a:p>
        </p:txBody>
      </p:sp>
      <p:graphicFrame>
        <p:nvGraphicFramePr>
          <p:cNvPr id="9" name="Chart 0"/>
          <p:cNvGraphicFramePr/>
          <p:nvPr/>
        </p:nvGraphicFramePr>
        <p:xfrm>
          <a:off x="429768" y="1682496"/>
          <a:ext cx="3520440" cy="2304288"/>
        </p:xfrm>
        <a:graphic>
          <a:graphicData uri="http://schemas.openxmlformats.org/drawingml/2006/chart">
            <c:chart r:id="rId4"/>
          </a:graphicData>
        </a:graphic>
      </p:graphicFrame>
      <p:sp>
        <p:nvSpPr>
          <p:cNvPr id="10" name="Text 6"/>
          <p:cNvSpPr/>
          <p:nvPr/>
        </p:nvSpPr>
        <p:spPr>
          <a:xfrm>
            <a:off x="4160520" y="148132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 2026 CONTRIBUTION</a:t>
            </a:r>
            <a:endParaRPr lang="en-US" sz="950" dirty="0"/>
          </a:p>
        </p:txBody>
      </p:sp>
      <p:graphicFrame>
        <p:nvGraphicFramePr>
          <p:cNvPr id="11" name="Chart 1"/>
          <p:cNvGraphicFramePr/>
          <p:nvPr/>
        </p:nvGraphicFramePr>
        <p:xfrm>
          <a:off x="4087368" y="1682496"/>
          <a:ext cx="3520440" cy="2304288"/>
        </p:xfrm>
        <a:graphic>
          <a:graphicData uri="http://schemas.openxmlformats.org/drawingml/2006/chart">
            <c:chart r:id="rId5"/>
          </a:graphicData>
        </a:graphic>
      </p:graphicFrame>
      <p:sp>
        <p:nvSpPr>
          <p:cNvPr id="12" name="Text 7"/>
          <p:cNvSpPr/>
          <p:nvPr/>
        </p:nvSpPr>
        <p:spPr>
          <a:xfrm>
            <a:off x="502920" y="4023360"/>
            <a:ext cx="7132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structure only. Equal segments are placeholders. Replace with the real portfolio mix.</a:t>
            </a:r>
            <a:endParaRPr lang="en-US" sz="750" dirty="0"/>
          </a:p>
        </p:txBody>
      </p:sp>
      <p:sp>
        <p:nvSpPr>
          <p:cNvPr id="13" name="Text 8"/>
          <p:cNvSpPr/>
          <p:nvPr/>
        </p:nvSpPr>
        <p:spPr>
          <a:xfrm>
            <a:off x="7882128" y="148132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 SHIFT</a:t>
            </a:r>
            <a:endParaRPr lang="en-US" sz="95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ns4:modId val="1579011935"/>
              </p:ext>
            </p:extLst>
          </p:nvPr>
        </p:nvGraphicFramePr>
        <p:xfrm>
          <a:off x="7882128" y="1682496"/>
          <a:ext cx="3803904" cy="1837944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ns5:colId val="20000"/>
                    </a:ext>
                  </a:extLst>
                </a:gridCol>
                <a:gridCol w="822960">
                  <a:extLst>
                    <a:ext uri="{9D8B030D-6E8A-4147-A177-3AD203B41FA5}">
                      <ns5:colId val="20001"/>
                    </a:ext>
                  </a:extLst>
                </a:gridCol>
                <a:gridCol w="822960">
                  <a:extLst>
                    <a:ext uri="{9D8B030D-6E8A-4147-A177-3AD203B41FA5}">
                      <ns5:colId val="20002"/>
                    </a:ext>
                  </a:extLst>
                </a:gridCol>
                <a:gridCol w="877824">
                  <a:extLst>
                    <a:ext uri="{9D8B030D-6E8A-4147-A177-3AD203B41FA5}">
                      <ns5:colId val="20003"/>
                    </a:ext>
                  </a:extLst>
                </a:gridCol>
              </a:tblGrid>
              <a:tr h="3063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Brand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 2025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 2026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Shift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extLst>
                  <a:ext uri="{0D108BD9-81ED-4DB2-BD59-A6C34878D82A}">
                    <ns5:rowId val="10000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NEXICURE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E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+15.8%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5:rowId val="10001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ZETAKARDOVAL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B337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+14.8%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ns5:rowId val="10002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NEXIROZOVA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11.1%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+11.1%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5:rowId val="10003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NEXIBRONCH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9.6%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+9.6%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ns5:rowId val="10004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ELIMBOSIS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+8.5%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5:rowId val="10005"/>
                  </a:ext>
                </a:extLst>
              </a:tr>
            </a:tbl>
          </a:graphicData>
        </a:graphic>
      </p:graphicFrame>
      <p:sp>
        <p:nvSpPr>
          <p:cNvPr id="15" name="Shape 9"/>
          <p:cNvSpPr/>
          <p:nvPr/>
        </p:nvSpPr>
        <p:spPr>
          <a:xfrm>
            <a:off x="7882128" y="3621024"/>
            <a:ext cx="3803904" cy="786384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  <a:effectLst>
            <a:outerShdw blurRad="101600" dist="12700" dir="5400000" algn="bl" rotWithShape="0">
              <a:srgbClr val="0A57A5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8046720" y="3712464"/>
            <a:ext cx="3474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850" b="1" kern="0" spc="100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CONCENTRATION CHECK
</a:t>
            </a:r>
            <a:r>
              <a:rPr lang="en-US" sz="9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brand = [%] of BU sales  ·  Top 3 brands = [%]</a:t>
            </a:r>
            <a:endParaRPr lang="en-US" sz="850" dirty="0"/>
          </a:p>
        </p:txBody>
      </p:sp>
      <p:sp>
        <p:nvSpPr>
          <p:cNvPr id="17" name="Shape 11"/>
          <p:cNvSpPr/>
          <p:nvPr/>
        </p:nvSpPr>
        <p:spPr>
          <a:xfrm>
            <a:off x="502920" y="4517136"/>
            <a:ext cx="11185855" cy="1536192"/>
          </a:xfrm>
          <a:prstGeom prst="roundRect">
            <a:avLst>
              <a:gd name="adj" fmla="val 4167"/>
            </a:avLst>
          </a:prstGeom>
          <a:solidFill>
            <a:srgbClr val="E9F3FB"/>
          </a:solidFill>
          <a:ln w="9525">
            <a:solidFill>
              <a:srgbClr val="C9DFF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4608576"/>
            <a:ext cx="534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1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850" dirty="0"/>
          </a:p>
        </p:txBody>
      </p:sp>
      <p:sp>
        <p:nvSpPr>
          <p:cNvPr id="19" name="Text 13"/>
          <p:cNvSpPr/>
          <p:nvPr/>
        </p:nvSpPr>
        <p:spPr>
          <a:xfrm>
            <a:off x="640080" y="4791456"/>
            <a:ext cx="534604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[Has the portfolio mix moved materially, and in which direction?]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6086704" y="4626864"/>
            <a:ext cx="7315" cy="1316736"/>
          </a:xfrm>
          <a:prstGeom prst="rect">
            <a:avLst/>
          </a:prstGeom>
          <a:solidFill>
            <a:srgbClr val="C9DFF1"/>
          </a:solidFill>
          <a:ln/>
        </p:spPr>
      </p:sp>
      <p:sp>
        <p:nvSpPr>
          <p:cNvPr id="21" name="Text 15"/>
          <p:cNvSpPr/>
          <p:nvPr/>
        </p:nvSpPr>
        <p:spPr>
          <a:xfrm>
            <a:off x="6205576" y="4608576"/>
            <a:ext cx="534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1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IMPLICATIONS</a:t>
            </a:r>
            <a:endParaRPr lang="en-US" sz="850" dirty="0"/>
          </a:p>
        </p:txBody>
      </p:sp>
      <p:sp>
        <p:nvSpPr>
          <p:cNvPr id="22" name="Text 16"/>
          <p:cNvSpPr/>
          <p:nvPr/>
        </p:nvSpPr>
        <p:spPr>
          <a:xfrm>
            <a:off x="6205576" y="4791456"/>
            <a:ext cx="534604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[Is the BU becoming over-dependent on a small number of brands, and what is the risk if one of them is disrupted?]</a:t>
            </a:r>
            <a:endParaRPr lang="en-US" sz="1000" dirty="0"/>
          </a:p>
        </p:txBody>
      </p:sp>
      <p:sp>
        <p:nvSpPr>
          <p:cNvPr id="27" name="Shape 0">
            <a:extLst>
              <a:ext uri="{FF2B5EF4-FFF2-40B4-BE49-F238E27FC236}">
                <ns5:creationId id="{F7DFCBA5-3CEB-3493-B311-4DC362A827DD}"/>
              </a:ext>
            </a:extLst>
          </p:cNvPr>
          <p:cNvSpPr/>
          <p:nvPr/>
        </p:nvSpPr>
        <p:spPr>
          <a:xfrm>
            <a:off x="483670" y="310896"/>
            <a:ext cx="4245742" cy="292608"/>
          </a:xfrm>
          <a:prstGeom prst="roundRect">
            <a:avLst>
              <a:gd name="adj" fmla="val 16667"/>
            </a:avLst>
          </a:prstGeom>
          <a:solidFill>
            <a:srgbClr val="0A57A5"/>
          </a:solidFill>
          <a:ln w="12700">
            <a:solidFill>
              <a:srgbClr val="0A57A5"/>
            </a:solidFill>
            <a:prstDash val="solid"/>
          </a:ln>
        </p:spPr>
      </p:sp>
      <p:sp>
        <p:nvSpPr>
          <p:cNvPr id="28" name="Text 0">
            <a:extLst>
              <a:ext uri="{FF2B5EF4-FFF2-40B4-BE49-F238E27FC236}">
                <ns5:creationId id="{1636223D-F070-B49C-EA17-096F5EF97A17}"/>
              </a:ext>
            </a:extLst>
          </p:cNvPr>
          <p:cNvSpPr/>
          <p:nvPr/>
        </p:nvSpPr>
        <p:spPr>
          <a:xfrm>
            <a:off x="618420" y="356135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2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 ·  INTERNAL SALES  ·  IN-HOUSE DATA</a:t>
            </a:r>
            <a:endParaRPr lang="en-US" sz="1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10896"/>
            <a:ext cx="1009498" cy="274320"/>
          </a:xfrm>
          <a:prstGeom prst="roundRect">
            <a:avLst>
              <a:gd name="adj" fmla="val 16667"/>
            </a:avLst>
          </a:prstGeom>
          <a:solidFill>
            <a:srgbClr val="0A57A5"/>
          </a:solidFill>
          <a:ln w="12700">
            <a:solidFill>
              <a:srgbClr val="0A57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10094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02920" y="603504"/>
            <a:ext cx="8778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Coverage Performance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02920" y="1060704"/>
            <a:ext cx="8778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we reaching the right customers across our priority classes and specialties?</a:t>
            </a:r>
            <a:endParaRPr lang="en-US" sz="11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8323" y="0"/>
            <a:ext cx="1467612" cy="14676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626364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Semester 1 2026 Business Review  |  Cluster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11155680" y="626364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502920" y="1353312"/>
            <a:ext cx="3017520" cy="877824"/>
          </a:xfrm>
          <a:prstGeom prst="roundRect">
            <a:avLst>
              <a:gd name="adj" fmla="val 7292"/>
            </a:avLst>
          </a:prstGeom>
          <a:solidFill>
            <a:srgbClr val="0A57A5"/>
          </a:solidFill>
          <a:ln w="9525">
            <a:solidFill>
              <a:srgbClr val="0A57A5"/>
            </a:solidFill>
            <a:prstDash val="solid"/>
          </a:ln>
          <a:effectLst>
            <a:outerShdw blurRad="101600" dist="12700" dir="5400000" algn="bl" rotWithShape="0">
              <a:srgbClr val="0A57A5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85800" y="1444752"/>
            <a:ext cx="2688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1E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COVERAGE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685800" y="1645920"/>
            <a:ext cx="26883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84.0%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685800" y="1975104"/>
            <a:ext cx="2688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AEC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value, where available</a:t>
            </a:r>
            <a:endParaRPr lang="en-US" sz="750" dirty="0"/>
          </a:p>
        </p:txBody>
      </p:sp>
      <p:sp>
        <p:nvSpPr>
          <p:cNvPr id="13" name="Shape 10"/>
          <p:cNvSpPr/>
          <p:nvPr/>
        </p:nvSpPr>
        <p:spPr>
          <a:xfrm>
            <a:off x="3703320" y="1353312"/>
            <a:ext cx="7982712" cy="877824"/>
          </a:xfrm>
          <a:prstGeom prst="roundRect">
            <a:avLst>
              <a:gd name="adj" fmla="val 7292"/>
            </a:avLst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  <a:effectLst>
            <a:outerShdw blurRad="101600" dist="12700" dir="5400000" algn="bl" rotWithShape="0">
              <a:srgbClr val="0A57A5">
                <a:alpha val="1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3886200" y="144475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1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SHOW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3886200" y="1645920"/>
            <a:ext cx="76169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only the classes and specialties that carry a management message: highest performing, lowest performing, strategically important, or holding a material coverage gap. The Commercial Excellence Dashboard holds the complete list; this slide carries the decision.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502920" y="239572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% BY CLASS - RANKED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3076956" y="2596896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TARGET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502920" y="2816352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[CLASS 1]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1627632" y="2898648"/>
            <a:ext cx="3246120" cy="137160"/>
          </a:xfrm>
          <a:prstGeom prst="rect">
            <a:avLst/>
          </a:prstGeom>
          <a:solidFill>
            <a:srgbClr val="E9EFF3"/>
          </a:solidFill>
          <a:ln w="12700">
            <a:solidFill>
              <a:srgbClr val="E9EFF3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1627632" y="2898648"/>
            <a:ext cx="2856586" cy="137160"/>
          </a:xfrm>
          <a:prstGeom prst="rect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928616" y="2816352"/>
            <a:ext cx="512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[%]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502920" y="3145536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[CLASS 2]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1627632" y="3227832"/>
            <a:ext cx="3246120" cy="137160"/>
          </a:xfrm>
          <a:prstGeom prst="rect">
            <a:avLst/>
          </a:prstGeom>
          <a:solidFill>
            <a:srgbClr val="E9EFF3"/>
          </a:solidFill>
          <a:ln w="12700">
            <a:solidFill>
              <a:srgbClr val="E9EFF3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627632" y="3227832"/>
            <a:ext cx="2402129" cy="137160"/>
          </a:xfrm>
          <a:prstGeom prst="rect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928616" y="3145536"/>
            <a:ext cx="512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[%]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502920" y="3474720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[CLASS 3]</a:t>
            </a: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1627632" y="3557016"/>
            <a:ext cx="3246120" cy="137160"/>
          </a:xfrm>
          <a:prstGeom prst="rect">
            <a:avLst/>
          </a:prstGeom>
          <a:solidFill>
            <a:srgbClr val="E9EFF3"/>
          </a:solidFill>
          <a:ln w="12700">
            <a:solidFill>
              <a:srgbClr val="E9EFF3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1627632" y="3557016"/>
            <a:ext cx="2012594" cy="137160"/>
          </a:xfrm>
          <a:prstGeom prst="rect">
            <a:avLst/>
          </a:prstGeom>
          <a:solidFill>
            <a:srgbClr val="C98A16"/>
          </a:solidFill>
          <a:ln w="12700">
            <a:solidFill>
              <a:srgbClr val="C98A16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928616" y="3474720"/>
            <a:ext cx="512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[%]</a:t>
            </a:r>
            <a:endParaRPr lang="en-US" sz="850" dirty="0"/>
          </a:p>
        </p:txBody>
      </p:sp>
      <p:sp>
        <p:nvSpPr>
          <p:cNvPr id="30" name="Text 27"/>
          <p:cNvSpPr/>
          <p:nvPr/>
        </p:nvSpPr>
        <p:spPr>
          <a:xfrm>
            <a:off x="502920" y="3803904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[CLASS 4]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1627632" y="3886200"/>
            <a:ext cx="3246120" cy="137160"/>
          </a:xfrm>
          <a:prstGeom prst="rect">
            <a:avLst/>
          </a:prstGeom>
          <a:solidFill>
            <a:srgbClr val="E9EFF3"/>
          </a:solidFill>
          <a:ln w="12700">
            <a:solidFill>
              <a:srgbClr val="E9EFF3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1627632" y="3886200"/>
            <a:ext cx="1558138" cy="137160"/>
          </a:xfrm>
          <a:prstGeom prst="rect">
            <a:avLst/>
          </a:prstGeom>
          <a:solidFill>
            <a:srgbClr val="B3372C"/>
          </a:solidFill>
          <a:ln w="12700">
            <a:solidFill>
              <a:srgbClr val="B3372C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928616" y="3803904"/>
            <a:ext cx="512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[%]</a:t>
            </a:r>
            <a:endParaRPr lang="en-US" sz="850" dirty="0"/>
          </a:p>
        </p:txBody>
      </p:sp>
      <p:sp>
        <p:nvSpPr>
          <p:cNvPr id="34" name="Text 31"/>
          <p:cNvSpPr/>
          <p:nvPr/>
        </p:nvSpPr>
        <p:spPr>
          <a:xfrm>
            <a:off x="502920" y="4133088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[CLASS 5]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1627632" y="4215384"/>
            <a:ext cx="3246120" cy="137160"/>
          </a:xfrm>
          <a:prstGeom prst="rect">
            <a:avLst/>
          </a:prstGeom>
          <a:solidFill>
            <a:srgbClr val="E9EFF3"/>
          </a:solidFill>
          <a:ln w="12700">
            <a:solidFill>
              <a:srgbClr val="E9EFF3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1627632" y="4215384"/>
            <a:ext cx="1136142" cy="137160"/>
          </a:xfrm>
          <a:prstGeom prst="rect">
            <a:avLst/>
          </a:prstGeom>
          <a:solidFill>
            <a:srgbClr val="B3372C"/>
          </a:solidFill>
          <a:ln w="12700">
            <a:solidFill>
              <a:srgbClr val="B3372C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4928616" y="4133088"/>
            <a:ext cx="512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[%]</a:t>
            </a:r>
            <a:endParaRPr lang="en-US" sz="850" dirty="0"/>
          </a:p>
        </p:txBody>
      </p:sp>
      <p:sp>
        <p:nvSpPr>
          <p:cNvPr id="38" name="Shape 35"/>
          <p:cNvSpPr/>
          <p:nvPr/>
        </p:nvSpPr>
        <p:spPr>
          <a:xfrm>
            <a:off x="3899916" y="2798064"/>
            <a:ext cx="12802" cy="1682496"/>
          </a:xfrm>
          <a:prstGeom prst="rect">
            <a:avLst/>
          </a:prstGeom>
          <a:solidFill>
            <a:srgbClr val="0A57A5"/>
          </a:solidFill>
          <a:ln w="12700">
            <a:solidFill>
              <a:srgbClr val="0A57A5"/>
            </a:solidFill>
            <a:prstDash val="dash"/>
          </a:ln>
        </p:spPr>
      </p:sp>
      <p:sp>
        <p:nvSpPr>
          <p:cNvPr id="39" name="Text 36"/>
          <p:cNvSpPr/>
          <p:nvPr/>
        </p:nvSpPr>
        <p:spPr>
          <a:xfrm>
            <a:off x="6355080" y="239572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% BY SPECIALTY - RANKED</a:t>
            </a:r>
            <a:endParaRPr lang="en-US" sz="950" dirty="0"/>
          </a:p>
        </p:txBody>
      </p:sp>
      <p:sp>
        <p:nvSpPr>
          <p:cNvPr id="40" name="Text 37"/>
          <p:cNvSpPr/>
          <p:nvPr/>
        </p:nvSpPr>
        <p:spPr>
          <a:xfrm>
            <a:off x="8970264" y="2596896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TARGET</a:t>
            </a:r>
            <a:endParaRPr lang="en-US" sz="750" dirty="0"/>
          </a:p>
        </p:txBody>
      </p:sp>
      <p:sp>
        <p:nvSpPr>
          <p:cNvPr id="41" name="Text 38"/>
          <p:cNvSpPr/>
          <p:nvPr/>
        </p:nvSpPr>
        <p:spPr>
          <a:xfrm>
            <a:off x="6355080" y="2816352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[SPECIALTY 1]</a:t>
            </a:r>
            <a:endParaRPr lang="en-US" sz="850" dirty="0"/>
          </a:p>
        </p:txBody>
      </p:sp>
      <p:sp>
        <p:nvSpPr>
          <p:cNvPr id="42" name="Shape 39"/>
          <p:cNvSpPr/>
          <p:nvPr/>
        </p:nvSpPr>
        <p:spPr>
          <a:xfrm>
            <a:off x="7680960" y="2898648"/>
            <a:ext cx="3017520" cy="137160"/>
          </a:xfrm>
          <a:prstGeom prst="rect">
            <a:avLst/>
          </a:prstGeom>
          <a:solidFill>
            <a:srgbClr val="E9EFF3"/>
          </a:solidFill>
          <a:ln w="12700">
            <a:solidFill>
              <a:srgbClr val="E9EFF3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7680960" y="2898648"/>
            <a:ext cx="2715768" cy="137160"/>
          </a:xfrm>
          <a:prstGeom prst="rect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10753344" y="2816352"/>
            <a:ext cx="512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[%]</a:t>
            </a:r>
            <a:endParaRPr lang="en-US" sz="850" dirty="0"/>
          </a:p>
        </p:txBody>
      </p:sp>
      <p:sp>
        <p:nvSpPr>
          <p:cNvPr id="45" name="Text 42"/>
          <p:cNvSpPr/>
          <p:nvPr/>
        </p:nvSpPr>
        <p:spPr>
          <a:xfrm>
            <a:off x="6355080" y="3145536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[SPECIALTY 2]</a:t>
            </a:r>
            <a:endParaRPr lang="en-US" sz="850" dirty="0"/>
          </a:p>
        </p:txBody>
      </p:sp>
      <p:sp>
        <p:nvSpPr>
          <p:cNvPr id="46" name="Shape 43"/>
          <p:cNvSpPr/>
          <p:nvPr/>
        </p:nvSpPr>
        <p:spPr>
          <a:xfrm>
            <a:off x="7680960" y="3227832"/>
            <a:ext cx="3017520" cy="137160"/>
          </a:xfrm>
          <a:prstGeom prst="rect">
            <a:avLst/>
          </a:prstGeom>
          <a:solidFill>
            <a:srgbClr val="E9EFF3"/>
          </a:solidFill>
          <a:ln w="12700">
            <a:solidFill>
              <a:srgbClr val="E9EFF3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7680960" y="3227832"/>
            <a:ext cx="2293315" cy="137160"/>
          </a:xfrm>
          <a:prstGeom prst="rect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10753344" y="3145536"/>
            <a:ext cx="512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[%]</a:t>
            </a:r>
            <a:endParaRPr lang="en-US" sz="850" dirty="0"/>
          </a:p>
        </p:txBody>
      </p:sp>
      <p:sp>
        <p:nvSpPr>
          <p:cNvPr id="49" name="Text 46"/>
          <p:cNvSpPr/>
          <p:nvPr/>
        </p:nvSpPr>
        <p:spPr>
          <a:xfrm>
            <a:off x="6355080" y="347472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[SPECIALTY 3]</a:t>
            </a:r>
            <a:endParaRPr lang="en-US" sz="850" dirty="0"/>
          </a:p>
        </p:txBody>
      </p:sp>
      <p:sp>
        <p:nvSpPr>
          <p:cNvPr id="50" name="Shape 47"/>
          <p:cNvSpPr/>
          <p:nvPr/>
        </p:nvSpPr>
        <p:spPr>
          <a:xfrm>
            <a:off x="7680960" y="3557016"/>
            <a:ext cx="3017520" cy="137160"/>
          </a:xfrm>
          <a:prstGeom prst="rect">
            <a:avLst/>
          </a:prstGeom>
          <a:solidFill>
            <a:srgbClr val="E9EFF3"/>
          </a:solidFill>
          <a:ln w="12700">
            <a:solidFill>
              <a:srgbClr val="E9EFF3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7680960" y="3557016"/>
            <a:ext cx="1931213" cy="137160"/>
          </a:xfrm>
          <a:prstGeom prst="rect">
            <a:avLst/>
          </a:prstGeom>
          <a:solidFill>
            <a:srgbClr val="C98A16"/>
          </a:solidFill>
          <a:ln w="12700">
            <a:solidFill>
              <a:srgbClr val="C98A16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10753344" y="3474720"/>
            <a:ext cx="512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[%]</a:t>
            </a:r>
            <a:endParaRPr lang="en-US" sz="850" dirty="0"/>
          </a:p>
        </p:txBody>
      </p:sp>
      <p:sp>
        <p:nvSpPr>
          <p:cNvPr id="53" name="Text 50"/>
          <p:cNvSpPr/>
          <p:nvPr/>
        </p:nvSpPr>
        <p:spPr>
          <a:xfrm>
            <a:off x="6355080" y="3803904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[SPECIALTY 4]</a:t>
            </a:r>
            <a:endParaRPr lang="en-US" sz="850" dirty="0"/>
          </a:p>
        </p:txBody>
      </p:sp>
      <p:sp>
        <p:nvSpPr>
          <p:cNvPr id="54" name="Shape 51"/>
          <p:cNvSpPr/>
          <p:nvPr/>
        </p:nvSpPr>
        <p:spPr>
          <a:xfrm>
            <a:off x="7680960" y="3886200"/>
            <a:ext cx="3017520" cy="137160"/>
          </a:xfrm>
          <a:prstGeom prst="rect">
            <a:avLst/>
          </a:prstGeom>
          <a:solidFill>
            <a:srgbClr val="E9EFF3"/>
          </a:solidFill>
          <a:ln w="12700">
            <a:solidFill>
              <a:srgbClr val="E9EFF3"/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7680960" y="3886200"/>
            <a:ext cx="1357884" cy="137160"/>
          </a:xfrm>
          <a:prstGeom prst="rect">
            <a:avLst/>
          </a:prstGeom>
          <a:solidFill>
            <a:srgbClr val="B3372C"/>
          </a:solidFill>
          <a:ln w="12700">
            <a:solidFill>
              <a:srgbClr val="B3372C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10753344" y="3803904"/>
            <a:ext cx="512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[%]</a:t>
            </a:r>
            <a:endParaRPr lang="en-US" sz="850" dirty="0"/>
          </a:p>
        </p:txBody>
      </p:sp>
      <p:sp>
        <p:nvSpPr>
          <p:cNvPr id="57" name="Text 54"/>
          <p:cNvSpPr/>
          <p:nvPr/>
        </p:nvSpPr>
        <p:spPr>
          <a:xfrm>
            <a:off x="6355080" y="4133088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[SPECIALTY 5]</a:t>
            </a:r>
            <a:endParaRPr lang="en-US" sz="850" dirty="0"/>
          </a:p>
        </p:txBody>
      </p:sp>
      <p:sp>
        <p:nvSpPr>
          <p:cNvPr id="58" name="Shape 55"/>
          <p:cNvSpPr/>
          <p:nvPr/>
        </p:nvSpPr>
        <p:spPr>
          <a:xfrm>
            <a:off x="7680960" y="4215384"/>
            <a:ext cx="3017520" cy="137160"/>
          </a:xfrm>
          <a:prstGeom prst="rect">
            <a:avLst/>
          </a:prstGeom>
          <a:solidFill>
            <a:srgbClr val="E9EFF3"/>
          </a:solidFill>
          <a:ln w="12700">
            <a:solidFill>
              <a:srgbClr val="E9EFF3"/>
            </a:solidFill>
            <a:prstDash val="solid"/>
          </a:ln>
        </p:spPr>
      </p:sp>
      <p:sp>
        <p:nvSpPr>
          <p:cNvPr id="59" name="Shape 56"/>
          <p:cNvSpPr/>
          <p:nvPr/>
        </p:nvSpPr>
        <p:spPr>
          <a:xfrm>
            <a:off x="7680960" y="4215384"/>
            <a:ext cx="965606" cy="137160"/>
          </a:xfrm>
          <a:prstGeom prst="rect">
            <a:avLst/>
          </a:prstGeom>
          <a:solidFill>
            <a:srgbClr val="B3372C"/>
          </a:solidFill>
          <a:ln w="12700">
            <a:solidFill>
              <a:srgbClr val="B3372C"/>
            </a:solidFill>
            <a:prstDash val="solid"/>
          </a:ln>
        </p:spPr>
      </p:sp>
      <p:sp>
        <p:nvSpPr>
          <p:cNvPr id="60" name="Text 57"/>
          <p:cNvSpPr/>
          <p:nvPr/>
        </p:nvSpPr>
        <p:spPr>
          <a:xfrm>
            <a:off x="10753344" y="4133088"/>
            <a:ext cx="512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[%]</a:t>
            </a:r>
            <a:endParaRPr lang="en-US" sz="850" dirty="0"/>
          </a:p>
        </p:txBody>
      </p:sp>
      <p:sp>
        <p:nvSpPr>
          <p:cNvPr id="61" name="Shape 58"/>
          <p:cNvSpPr/>
          <p:nvPr/>
        </p:nvSpPr>
        <p:spPr>
          <a:xfrm>
            <a:off x="9793224" y="2798064"/>
            <a:ext cx="12802" cy="1682496"/>
          </a:xfrm>
          <a:prstGeom prst="rect">
            <a:avLst/>
          </a:prstGeom>
          <a:solidFill>
            <a:srgbClr val="0A57A5"/>
          </a:solidFill>
          <a:ln w="12700">
            <a:solidFill>
              <a:srgbClr val="0A57A5"/>
            </a:solidFill>
            <a:prstDash val="dash"/>
          </a:ln>
        </p:spPr>
      </p:sp>
      <p:sp>
        <p:nvSpPr>
          <p:cNvPr id="62" name="Shape 59"/>
          <p:cNvSpPr/>
          <p:nvPr/>
        </p:nvSpPr>
        <p:spPr>
          <a:xfrm>
            <a:off x="502920" y="4594860"/>
            <a:ext cx="109728" cy="109728"/>
          </a:xfrm>
          <a:prstGeom prst="ellipse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63" name="Text 60"/>
          <p:cNvSpPr/>
          <p:nvPr/>
        </p:nvSpPr>
        <p:spPr>
          <a:xfrm>
            <a:off x="658368" y="4553712"/>
            <a:ext cx="2761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or above target</a:t>
            </a:r>
            <a:endParaRPr lang="en-US" sz="850" dirty="0"/>
          </a:p>
        </p:txBody>
      </p:sp>
      <p:sp>
        <p:nvSpPr>
          <p:cNvPr id="64" name="Shape 61"/>
          <p:cNvSpPr/>
          <p:nvPr/>
        </p:nvSpPr>
        <p:spPr>
          <a:xfrm>
            <a:off x="2395728" y="4594860"/>
            <a:ext cx="109728" cy="109728"/>
          </a:xfrm>
          <a:prstGeom prst="ellipse">
            <a:avLst/>
          </a:prstGeom>
          <a:solidFill>
            <a:srgbClr val="C98A16"/>
          </a:solidFill>
          <a:ln w="12700">
            <a:solidFill>
              <a:srgbClr val="C98A16"/>
            </a:solidFill>
            <a:prstDash val="solid"/>
          </a:ln>
        </p:spPr>
      </p:sp>
      <p:sp>
        <p:nvSpPr>
          <p:cNvPr id="65" name="Text 62"/>
          <p:cNvSpPr/>
          <p:nvPr/>
        </p:nvSpPr>
        <p:spPr>
          <a:xfrm>
            <a:off x="2551176" y="4553712"/>
            <a:ext cx="2761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Approaching target</a:t>
            </a:r>
            <a:endParaRPr lang="en-US" sz="850" dirty="0"/>
          </a:p>
        </p:txBody>
      </p:sp>
      <p:sp>
        <p:nvSpPr>
          <p:cNvPr id="66" name="Shape 63"/>
          <p:cNvSpPr/>
          <p:nvPr/>
        </p:nvSpPr>
        <p:spPr>
          <a:xfrm>
            <a:off x="4288536" y="4594860"/>
            <a:ext cx="109728" cy="109728"/>
          </a:xfrm>
          <a:prstGeom prst="ellipse">
            <a:avLst/>
          </a:prstGeom>
          <a:solidFill>
            <a:srgbClr val="B3372C"/>
          </a:solidFill>
          <a:ln w="12700">
            <a:solidFill>
              <a:srgbClr val="B3372C"/>
            </a:solidFill>
            <a:prstDash val="solid"/>
          </a:ln>
        </p:spPr>
      </p:sp>
      <p:sp>
        <p:nvSpPr>
          <p:cNvPr id="67" name="Text 64"/>
          <p:cNvSpPr/>
          <p:nvPr/>
        </p:nvSpPr>
        <p:spPr>
          <a:xfrm>
            <a:off x="4443984" y="4553712"/>
            <a:ext cx="31455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coverage gap</a:t>
            </a:r>
            <a:endParaRPr lang="en-US" sz="850" dirty="0"/>
          </a:p>
        </p:txBody>
      </p:sp>
      <p:sp>
        <p:nvSpPr>
          <p:cNvPr id="68" name="Text 65"/>
          <p:cNvSpPr/>
          <p:nvPr/>
        </p:nvSpPr>
        <p:spPr>
          <a:xfrm>
            <a:off x="502920" y="4791456"/>
            <a:ext cx="111831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lengths and colours are illustrative. Populate from the dashboard and band each bar against the BU's coverage target.</a:t>
            </a:r>
            <a:endParaRPr lang="en-US" sz="750" dirty="0"/>
          </a:p>
        </p:txBody>
      </p:sp>
      <p:sp>
        <p:nvSpPr>
          <p:cNvPr id="69" name="Shape 66"/>
          <p:cNvSpPr/>
          <p:nvPr/>
        </p:nvSpPr>
        <p:spPr>
          <a:xfrm>
            <a:off x="502920" y="4992624"/>
            <a:ext cx="11185855" cy="1060704"/>
          </a:xfrm>
          <a:prstGeom prst="roundRect">
            <a:avLst>
              <a:gd name="adj" fmla="val 6034"/>
            </a:avLst>
          </a:prstGeom>
          <a:solidFill>
            <a:srgbClr val="E9F3FB"/>
          </a:solidFill>
          <a:ln w="9525">
            <a:solidFill>
              <a:srgbClr val="C9DFF1"/>
            </a:solidFill>
            <a:prstDash val="solid"/>
          </a:ln>
        </p:spPr>
      </p:sp>
      <p:sp>
        <p:nvSpPr>
          <p:cNvPr id="70" name="Text 67"/>
          <p:cNvSpPr/>
          <p:nvPr/>
        </p:nvSpPr>
        <p:spPr>
          <a:xfrm>
            <a:off x="640080" y="5084064"/>
            <a:ext cx="34908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1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850" dirty="0"/>
          </a:p>
        </p:txBody>
      </p:sp>
      <p:sp>
        <p:nvSpPr>
          <p:cNvPr id="71" name="Text 68"/>
          <p:cNvSpPr/>
          <p:nvPr/>
        </p:nvSpPr>
        <p:spPr>
          <a:xfrm>
            <a:off x="640080" y="5266944"/>
            <a:ext cx="349087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[Where is the most important coverage gap - which class or specialty, and how much business does it represent?]</a:t>
            </a:r>
            <a:endParaRPr lang="en-US" sz="1000" dirty="0"/>
          </a:p>
        </p:txBody>
      </p:sp>
      <p:sp>
        <p:nvSpPr>
          <p:cNvPr id="72" name="Shape 69"/>
          <p:cNvSpPr/>
          <p:nvPr/>
        </p:nvSpPr>
        <p:spPr>
          <a:xfrm>
            <a:off x="4231538" y="5102352"/>
            <a:ext cx="7315" cy="841248"/>
          </a:xfrm>
          <a:prstGeom prst="rect">
            <a:avLst/>
          </a:prstGeom>
          <a:solidFill>
            <a:srgbClr val="C9DFF1"/>
          </a:solidFill>
          <a:ln/>
        </p:spPr>
      </p:sp>
      <p:sp>
        <p:nvSpPr>
          <p:cNvPr id="73" name="Text 70"/>
          <p:cNvSpPr/>
          <p:nvPr/>
        </p:nvSpPr>
        <p:spPr>
          <a:xfrm>
            <a:off x="4350410" y="5084064"/>
            <a:ext cx="34908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1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</a:t>
            </a:r>
            <a:endParaRPr lang="en-US" sz="850" dirty="0"/>
          </a:p>
        </p:txBody>
      </p:sp>
      <p:sp>
        <p:nvSpPr>
          <p:cNvPr id="74" name="Text 71"/>
          <p:cNvSpPr/>
          <p:nvPr/>
        </p:nvSpPr>
        <p:spPr>
          <a:xfrm>
            <a:off x="4350410" y="5266944"/>
            <a:ext cx="349087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[ROOT CAUSE - what is driving the gap: vacancy, territory design, list quality, access, target-list accuracy]</a:t>
            </a:r>
            <a:endParaRPr lang="en-US" sz="1000" dirty="0"/>
          </a:p>
        </p:txBody>
      </p:sp>
      <p:sp>
        <p:nvSpPr>
          <p:cNvPr id="75" name="Shape 72"/>
          <p:cNvSpPr/>
          <p:nvPr/>
        </p:nvSpPr>
        <p:spPr>
          <a:xfrm>
            <a:off x="7941869" y="5102352"/>
            <a:ext cx="7315" cy="841248"/>
          </a:xfrm>
          <a:prstGeom prst="rect">
            <a:avLst/>
          </a:prstGeom>
          <a:solidFill>
            <a:srgbClr val="C9DFF1"/>
          </a:solidFill>
          <a:ln/>
        </p:spPr>
      </p:sp>
      <p:sp>
        <p:nvSpPr>
          <p:cNvPr id="76" name="Text 73"/>
          <p:cNvSpPr/>
          <p:nvPr/>
        </p:nvSpPr>
        <p:spPr>
          <a:xfrm>
            <a:off x="8060741" y="5084064"/>
            <a:ext cx="34908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1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/ IMPLICATION</a:t>
            </a:r>
            <a:endParaRPr lang="en-US" sz="850" dirty="0"/>
          </a:p>
        </p:txBody>
      </p:sp>
      <p:sp>
        <p:nvSpPr>
          <p:cNvPr id="77" name="Text 74"/>
          <p:cNvSpPr/>
          <p:nvPr/>
        </p:nvSpPr>
        <p:spPr>
          <a:xfrm>
            <a:off x="8060741" y="5266944"/>
            <a:ext cx="349087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[ACTION - where coverage should be increased, and where strong coverage must be protected]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20" dirty="0">
                <a:solidFill>
                  <a:srgbClr val="1E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8778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Frequency Performance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060704"/>
            <a:ext cx="8778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we reaching covered customers with the required call frequency?</a:t>
            </a:r>
            <a:endParaRPr lang="en-US" sz="11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8323" y="0"/>
            <a:ext cx="1467612" cy="14676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626364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Semester 1 2026 Business Review  |  Cluster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11155680" y="626364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502920" y="1353312"/>
            <a:ext cx="3017520" cy="877824"/>
          </a:xfrm>
          <a:prstGeom prst="roundRect">
            <a:avLst>
              <a:gd name="adj" fmla="val 7292"/>
            </a:avLst>
          </a:prstGeom>
          <a:solidFill>
            <a:srgbClr val="0A57A5"/>
          </a:solidFill>
          <a:ln w="9525">
            <a:solidFill>
              <a:srgbClr val="0A57A5"/>
            </a:solidFill>
            <a:prstDash val="solid"/>
          </a:ln>
          <a:effectLst>
            <a:outerShdw blurRad="101600" dist="12700" dir="5400000" algn="bl" rotWithShape="0">
              <a:srgbClr val="0A57A5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85800" y="1444752"/>
            <a:ext cx="2688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1E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RIGHT FREQUENCY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685800" y="1645920"/>
            <a:ext cx="26883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72.8%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685800" y="1975104"/>
            <a:ext cx="2688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AEC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value, where available</a:t>
            </a:r>
            <a:endParaRPr lang="en-US" sz="750" dirty="0"/>
          </a:p>
        </p:txBody>
      </p:sp>
      <p:sp>
        <p:nvSpPr>
          <p:cNvPr id="12" name="Shape 9"/>
          <p:cNvSpPr/>
          <p:nvPr/>
        </p:nvSpPr>
        <p:spPr>
          <a:xfrm>
            <a:off x="3703320" y="1353312"/>
            <a:ext cx="7982712" cy="877824"/>
          </a:xfrm>
          <a:prstGeom prst="roundRect">
            <a:avLst>
              <a:gd name="adj" fmla="val 7292"/>
            </a:avLst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  <a:effectLst>
            <a:outerShdw blurRad="101600" dist="12700" dir="5400000" algn="bl" rotWithShape="0">
              <a:srgbClr val="0A57A5">
                <a:alpha val="1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3886200" y="144475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1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SHOW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3886200" y="1645920"/>
            <a:ext cx="76169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the major RF gaps, the priority classes and specialties, and the areas where execution is strong enough to be worth protecting. Coverage answers whether we reached the customer; right frequency answers whether we engaged them enough to matter.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502920" y="239572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% BY CLASS - RANKED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3076956" y="2596896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TARGET</a:t>
            </a:r>
            <a:endParaRPr lang="en-US" sz="750" dirty="0"/>
          </a:p>
        </p:txBody>
      </p:sp>
      <p:sp>
        <p:nvSpPr>
          <p:cNvPr id="17" name="Text 14"/>
          <p:cNvSpPr/>
          <p:nvPr/>
        </p:nvSpPr>
        <p:spPr>
          <a:xfrm>
            <a:off x="502920" y="2816352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[CLASS 1]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1627632" y="2898648"/>
            <a:ext cx="3246120" cy="137160"/>
          </a:xfrm>
          <a:prstGeom prst="rect">
            <a:avLst/>
          </a:prstGeom>
          <a:solidFill>
            <a:srgbClr val="E9EFF3"/>
          </a:solidFill>
          <a:ln w="12700">
            <a:solidFill>
              <a:srgbClr val="E9EFF3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1627632" y="2898648"/>
            <a:ext cx="2791663" cy="137160"/>
          </a:xfrm>
          <a:prstGeom prst="rect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928616" y="2816352"/>
            <a:ext cx="512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[%]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502920" y="3145536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[CLASS 2]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1627632" y="3227832"/>
            <a:ext cx="3246120" cy="137160"/>
          </a:xfrm>
          <a:prstGeom prst="rect">
            <a:avLst/>
          </a:prstGeom>
          <a:solidFill>
            <a:srgbClr val="E9EFF3"/>
          </a:solidFill>
          <a:ln w="12700">
            <a:solidFill>
              <a:srgbClr val="E9EFF3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1627632" y="3227832"/>
            <a:ext cx="2337206" cy="137160"/>
          </a:xfrm>
          <a:prstGeom prst="rect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928616" y="3145536"/>
            <a:ext cx="512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[%]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502920" y="3474720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[CLASS 3]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1627632" y="3557016"/>
            <a:ext cx="3246120" cy="137160"/>
          </a:xfrm>
          <a:prstGeom prst="rect">
            <a:avLst/>
          </a:prstGeom>
          <a:solidFill>
            <a:srgbClr val="E9EFF3"/>
          </a:solidFill>
          <a:ln w="12700">
            <a:solidFill>
              <a:srgbClr val="E9EFF3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1627632" y="3557016"/>
            <a:ext cx="1882750" cy="137160"/>
          </a:xfrm>
          <a:prstGeom prst="rect">
            <a:avLst/>
          </a:prstGeom>
          <a:solidFill>
            <a:srgbClr val="C98A16"/>
          </a:solidFill>
          <a:ln w="12700">
            <a:solidFill>
              <a:srgbClr val="C98A16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928616" y="3474720"/>
            <a:ext cx="512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[%]</a:t>
            </a:r>
            <a:endParaRPr lang="en-US" sz="850" dirty="0"/>
          </a:p>
        </p:txBody>
      </p:sp>
      <p:sp>
        <p:nvSpPr>
          <p:cNvPr id="29" name="Text 26"/>
          <p:cNvSpPr/>
          <p:nvPr/>
        </p:nvSpPr>
        <p:spPr>
          <a:xfrm>
            <a:off x="502920" y="3803904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[CLASS 4]</a:t>
            </a:r>
            <a:endParaRPr lang="en-US" sz="850" dirty="0"/>
          </a:p>
        </p:txBody>
      </p:sp>
      <p:sp>
        <p:nvSpPr>
          <p:cNvPr id="30" name="Shape 27"/>
          <p:cNvSpPr/>
          <p:nvPr/>
        </p:nvSpPr>
        <p:spPr>
          <a:xfrm>
            <a:off x="1627632" y="3886200"/>
            <a:ext cx="3246120" cy="137160"/>
          </a:xfrm>
          <a:prstGeom prst="rect">
            <a:avLst/>
          </a:prstGeom>
          <a:solidFill>
            <a:srgbClr val="E9EFF3"/>
          </a:solidFill>
          <a:ln w="12700">
            <a:solidFill>
              <a:srgbClr val="E9EFF3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1627632" y="3886200"/>
            <a:ext cx="1330909" cy="137160"/>
          </a:xfrm>
          <a:prstGeom prst="rect">
            <a:avLst/>
          </a:prstGeom>
          <a:solidFill>
            <a:srgbClr val="B3372C"/>
          </a:solidFill>
          <a:ln w="12700">
            <a:solidFill>
              <a:srgbClr val="B3372C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928616" y="3803904"/>
            <a:ext cx="512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[%]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502920" y="4133088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[CLASS 5]</a:t>
            </a:r>
            <a:endParaRPr lang="en-US" sz="850" dirty="0"/>
          </a:p>
        </p:txBody>
      </p:sp>
      <p:sp>
        <p:nvSpPr>
          <p:cNvPr id="34" name="Shape 31"/>
          <p:cNvSpPr/>
          <p:nvPr/>
        </p:nvSpPr>
        <p:spPr>
          <a:xfrm>
            <a:off x="1627632" y="4215384"/>
            <a:ext cx="3246120" cy="137160"/>
          </a:xfrm>
          <a:prstGeom prst="rect">
            <a:avLst/>
          </a:prstGeom>
          <a:solidFill>
            <a:srgbClr val="E9EFF3"/>
          </a:solidFill>
          <a:ln w="12700">
            <a:solidFill>
              <a:srgbClr val="E9EFF3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1627632" y="4215384"/>
            <a:ext cx="941375" cy="137160"/>
          </a:xfrm>
          <a:prstGeom prst="rect">
            <a:avLst/>
          </a:prstGeom>
          <a:solidFill>
            <a:srgbClr val="B3372C"/>
          </a:solidFill>
          <a:ln w="12700">
            <a:solidFill>
              <a:srgbClr val="B3372C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928616" y="4133088"/>
            <a:ext cx="512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[%]</a:t>
            </a:r>
            <a:endParaRPr lang="en-US" sz="850" dirty="0"/>
          </a:p>
        </p:txBody>
      </p:sp>
      <p:sp>
        <p:nvSpPr>
          <p:cNvPr id="37" name="Shape 34"/>
          <p:cNvSpPr/>
          <p:nvPr/>
        </p:nvSpPr>
        <p:spPr>
          <a:xfrm>
            <a:off x="3899916" y="2798064"/>
            <a:ext cx="12802" cy="1682496"/>
          </a:xfrm>
          <a:prstGeom prst="rect">
            <a:avLst/>
          </a:prstGeom>
          <a:solidFill>
            <a:srgbClr val="0A57A5"/>
          </a:solidFill>
          <a:ln w="12700">
            <a:solidFill>
              <a:srgbClr val="0A57A5"/>
            </a:solidFill>
            <a:prstDash val="dash"/>
          </a:ln>
        </p:spPr>
      </p:sp>
      <p:sp>
        <p:nvSpPr>
          <p:cNvPr id="38" name="Text 35"/>
          <p:cNvSpPr/>
          <p:nvPr/>
        </p:nvSpPr>
        <p:spPr>
          <a:xfrm>
            <a:off x="6355080" y="239572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% BY SPECIALTY - RANKED</a:t>
            </a:r>
            <a:endParaRPr lang="en-US" sz="950" dirty="0"/>
          </a:p>
        </p:txBody>
      </p:sp>
      <p:sp>
        <p:nvSpPr>
          <p:cNvPr id="39" name="Text 36"/>
          <p:cNvSpPr/>
          <p:nvPr/>
        </p:nvSpPr>
        <p:spPr>
          <a:xfrm>
            <a:off x="8970264" y="2596896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TARGET</a:t>
            </a:r>
            <a:endParaRPr lang="en-US" sz="750" dirty="0"/>
          </a:p>
        </p:txBody>
      </p:sp>
      <p:sp>
        <p:nvSpPr>
          <p:cNvPr id="40" name="Text 37"/>
          <p:cNvSpPr/>
          <p:nvPr/>
        </p:nvSpPr>
        <p:spPr>
          <a:xfrm>
            <a:off x="6355080" y="2816352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[SPECIALTY 1]</a:t>
            </a:r>
            <a:endParaRPr lang="en-US" sz="850" dirty="0"/>
          </a:p>
        </p:txBody>
      </p:sp>
      <p:sp>
        <p:nvSpPr>
          <p:cNvPr id="41" name="Shape 38"/>
          <p:cNvSpPr/>
          <p:nvPr/>
        </p:nvSpPr>
        <p:spPr>
          <a:xfrm>
            <a:off x="7680960" y="2898648"/>
            <a:ext cx="3017520" cy="137160"/>
          </a:xfrm>
          <a:prstGeom prst="rect">
            <a:avLst/>
          </a:prstGeom>
          <a:solidFill>
            <a:srgbClr val="E9EFF3"/>
          </a:solidFill>
          <a:ln w="12700">
            <a:solidFill>
              <a:srgbClr val="E9EFF3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7680960" y="2898648"/>
            <a:ext cx="2655418" cy="137160"/>
          </a:xfrm>
          <a:prstGeom prst="rect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10753344" y="2816352"/>
            <a:ext cx="512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[%]</a:t>
            </a:r>
            <a:endParaRPr lang="en-US" sz="850" dirty="0"/>
          </a:p>
        </p:txBody>
      </p:sp>
      <p:sp>
        <p:nvSpPr>
          <p:cNvPr id="44" name="Text 41"/>
          <p:cNvSpPr/>
          <p:nvPr/>
        </p:nvSpPr>
        <p:spPr>
          <a:xfrm>
            <a:off x="6355080" y="3145536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[SPECIALTY 2]</a:t>
            </a:r>
            <a:endParaRPr lang="en-US" sz="850" dirty="0"/>
          </a:p>
        </p:txBody>
      </p:sp>
      <p:sp>
        <p:nvSpPr>
          <p:cNvPr id="45" name="Shape 42"/>
          <p:cNvSpPr/>
          <p:nvPr/>
        </p:nvSpPr>
        <p:spPr>
          <a:xfrm>
            <a:off x="7680960" y="3227832"/>
            <a:ext cx="3017520" cy="137160"/>
          </a:xfrm>
          <a:prstGeom prst="rect">
            <a:avLst/>
          </a:prstGeom>
          <a:solidFill>
            <a:srgbClr val="E9EFF3"/>
          </a:solidFill>
          <a:ln w="12700">
            <a:solidFill>
              <a:srgbClr val="E9EFF3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7680960" y="3227832"/>
            <a:ext cx="2142439" cy="137160"/>
          </a:xfrm>
          <a:prstGeom prst="rect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10753344" y="3145536"/>
            <a:ext cx="512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[%]</a:t>
            </a:r>
            <a:endParaRPr lang="en-US" sz="850" dirty="0"/>
          </a:p>
        </p:txBody>
      </p:sp>
      <p:sp>
        <p:nvSpPr>
          <p:cNvPr id="48" name="Text 45"/>
          <p:cNvSpPr/>
          <p:nvPr/>
        </p:nvSpPr>
        <p:spPr>
          <a:xfrm>
            <a:off x="6355080" y="347472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[SPECIALTY 3]</a:t>
            </a:r>
            <a:endParaRPr lang="en-US" sz="850" dirty="0"/>
          </a:p>
        </p:txBody>
      </p:sp>
      <p:sp>
        <p:nvSpPr>
          <p:cNvPr id="49" name="Shape 46"/>
          <p:cNvSpPr/>
          <p:nvPr/>
        </p:nvSpPr>
        <p:spPr>
          <a:xfrm>
            <a:off x="7680960" y="3557016"/>
            <a:ext cx="3017520" cy="137160"/>
          </a:xfrm>
          <a:prstGeom prst="rect">
            <a:avLst/>
          </a:prstGeom>
          <a:solidFill>
            <a:srgbClr val="E9EFF3"/>
          </a:solidFill>
          <a:ln w="12700">
            <a:solidFill>
              <a:srgbClr val="E9EFF3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7680960" y="3557016"/>
            <a:ext cx="1659636" cy="137160"/>
          </a:xfrm>
          <a:prstGeom prst="rect">
            <a:avLst/>
          </a:prstGeom>
          <a:solidFill>
            <a:srgbClr val="C98A16"/>
          </a:solidFill>
          <a:ln w="12700">
            <a:solidFill>
              <a:srgbClr val="C98A16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10753344" y="3474720"/>
            <a:ext cx="512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[%]</a:t>
            </a:r>
            <a:endParaRPr lang="en-US" sz="850" dirty="0"/>
          </a:p>
        </p:txBody>
      </p:sp>
      <p:sp>
        <p:nvSpPr>
          <p:cNvPr id="52" name="Text 49"/>
          <p:cNvSpPr/>
          <p:nvPr/>
        </p:nvSpPr>
        <p:spPr>
          <a:xfrm>
            <a:off x="6355080" y="3803904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[SPECIALTY 4]</a:t>
            </a:r>
            <a:endParaRPr lang="en-US" sz="850" dirty="0"/>
          </a:p>
        </p:txBody>
      </p:sp>
      <p:sp>
        <p:nvSpPr>
          <p:cNvPr id="53" name="Shape 50"/>
          <p:cNvSpPr/>
          <p:nvPr/>
        </p:nvSpPr>
        <p:spPr>
          <a:xfrm>
            <a:off x="7680960" y="3886200"/>
            <a:ext cx="3017520" cy="137160"/>
          </a:xfrm>
          <a:prstGeom prst="rect">
            <a:avLst/>
          </a:prstGeom>
          <a:solidFill>
            <a:srgbClr val="E9EFF3"/>
          </a:solidFill>
          <a:ln w="12700">
            <a:solidFill>
              <a:srgbClr val="E9EFF3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7680960" y="3886200"/>
            <a:ext cx="1146658" cy="137160"/>
          </a:xfrm>
          <a:prstGeom prst="rect">
            <a:avLst/>
          </a:prstGeom>
          <a:solidFill>
            <a:srgbClr val="B3372C"/>
          </a:solidFill>
          <a:ln w="12700">
            <a:solidFill>
              <a:srgbClr val="B3372C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10753344" y="3803904"/>
            <a:ext cx="512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[%]</a:t>
            </a:r>
            <a:endParaRPr lang="en-US" sz="850" dirty="0"/>
          </a:p>
        </p:txBody>
      </p:sp>
      <p:sp>
        <p:nvSpPr>
          <p:cNvPr id="56" name="Text 53"/>
          <p:cNvSpPr/>
          <p:nvPr/>
        </p:nvSpPr>
        <p:spPr>
          <a:xfrm>
            <a:off x="6355080" y="4133088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[SPECIALTY 5]</a:t>
            </a:r>
            <a:endParaRPr lang="en-US" sz="850" dirty="0"/>
          </a:p>
        </p:txBody>
      </p:sp>
      <p:sp>
        <p:nvSpPr>
          <p:cNvPr id="57" name="Shape 54"/>
          <p:cNvSpPr/>
          <p:nvPr/>
        </p:nvSpPr>
        <p:spPr>
          <a:xfrm>
            <a:off x="7680960" y="4215384"/>
            <a:ext cx="3017520" cy="137160"/>
          </a:xfrm>
          <a:prstGeom prst="rect">
            <a:avLst/>
          </a:prstGeom>
          <a:solidFill>
            <a:srgbClr val="E9EFF3"/>
          </a:solidFill>
          <a:ln w="12700">
            <a:solidFill>
              <a:srgbClr val="E9EFF3"/>
            </a:solidFill>
            <a:prstDash val="solid"/>
          </a:ln>
        </p:spPr>
      </p:sp>
      <p:sp>
        <p:nvSpPr>
          <p:cNvPr id="58" name="Shape 55"/>
          <p:cNvSpPr/>
          <p:nvPr/>
        </p:nvSpPr>
        <p:spPr>
          <a:xfrm>
            <a:off x="7680960" y="4215384"/>
            <a:ext cx="784555" cy="137160"/>
          </a:xfrm>
          <a:prstGeom prst="rect">
            <a:avLst/>
          </a:prstGeom>
          <a:solidFill>
            <a:srgbClr val="B3372C"/>
          </a:solidFill>
          <a:ln w="12700">
            <a:solidFill>
              <a:srgbClr val="B3372C"/>
            </a:solidFill>
            <a:prstDash val="solid"/>
          </a:ln>
        </p:spPr>
      </p:sp>
      <p:sp>
        <p:nvSpPr>
          <p:cNvPr id="59" name="Text 56"/>
          <p:cNvSpPr/>
          <p:nvPr/>
        </p:nvSpPr>
        <p:spPr>
          <a:xfrm>
            <a:off x="10753344" y="4133088"/>
            <a:ext cx="512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[%]</a:t>
            </a:r>
            <a:endParaRPr lang="en-US" sz="850" dirty="0"/>
          </a:p>
        </p:txBody>
      </p:sp>
      <p:sp>
        <p:nvSpPr>
          <p:cNvPr id="60" name="Shape 57"/>
          <p:cNvSpPr/>
          <p:nvPr/>
        </p:nvSpPr>
        <p:spPr>
          <a:xfrm>
            <a:off x="9793224" y="2798064"/>
            <a:ext cx="12802" cy="1682496"/>
          </a:xfrm>
          <a:prstGeom prst="rect">
            <a:avLst/>
          </a:prstGeom>
          <a:solidFill>
            <a:srgbClr val="0A57A5"/>
          </a:solidFill>
          <a:ln w="12700">
            <a:solidFill>
              <a:srgbClr val="0A57A5"/>
            </a:solidFill>
            <a:prstDash val="dash"/>
          </a:ln>
        </p:spPr>
      </p:sp>
      <p:sp>
        <p:nvSpPr>
          <p:cNvPr id="61" name="Shape 58"/>
          <p:cNvSpPr/>
          <p:nvPr/>
        </p:nvSpPr>
        <p:spPr>
          <a:xfrm>
            <a:off x="502920" y="4594860"/>
            <a:ext cx="109728" cy="109728"/>
          </a:xfrm>
          <a:prstGeom prst="ellipse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62" name="Text 59"/>
          <p:cNvSpPr/>
          <p:nvPr/>
        </p:nvSpPr>
        <p:spPr>
          <a:xfrm>
            <a:off x="658368" y="4553712"/>
            <a:ext cx="3785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 required frequency</a:t>
            </a:r>
            <a:endParaRPr lang="en-US" sz="850" dirty="0"/>
          </a:p>
        </p:txBody>
      </p:sp>
      <p:sp>
        <p:nvSpPr>
          <p:cNvPr id="63" name="Shape 60"/>
          <p:cNvSpPr/>
          <p:nvPr/>
        </p:nvSpPr>
        <p:spPr>
          <a:xfrm>
            <a:off x="2944368" y="4594860"/>
            <a:ext cx="109728" cy="109728"/>
          </a:xfrm>
          <a:prstGeom prst="ellipse">
            <a:avLst/>
          </a:prstGeom>
          <a:solidFill>
            <a:srgbClr val="C98A16"/>
          </a:solidFill>
          <a:ln w="12700">
            <a:solidFill>
              <a:srgbClr val="C98A16"/>
            </a:solidFill>
            <a:prstDash val="solid"/>
          </a:ln>
        </p:spPr>
      </p:sp>
      <p:sp>
        <p:nvSpPr>
          <p:cNvPr id="64" name="Text 61"/>
          <p:cNvSpPr/>
          <p:nvPr/>
        </p:nvSpPr>
        <p:spPr>
          <a:xfrm>
            <a:off x="3099816" y="4553712"/>
            <a:ext cx="3529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required frequency</a:t>
            </a:r>
            <a:endParaRPr lang="en-US" sz="850" dirty="0"/>
          </a:p>
        </p:txBody>
      </p:sp>
      <p:sp>
        <p:nvSpPr>
          <p:cNvPr id="65" name="Shape 62"/>
          <p:cNvSpPr/>
          <p:nvPr/>
        </p:nvSpPr>
        <p:spPr>
          <a:xfrm>
            <a:off x="5248656" y="4594860"/>
            <a:ext cx="109728" cy="109728"/>
          </a:xfrm>
          <a:prstGeom prst="ellipse">
            <a:avLst/>
          </a:prstGeom>
          <a:solidFill>
            <a:srgbClr val="B3372C"/>
          </a:solidFill>
          <a:ln w="12700">
            <a:solidFill>
              <a:srgbClr val="B3372C"/>
            </a:solidFill>
            <a:prstDash val="solid"/>
          </a:ln>
        </p:spPr>
      </p:sp>
      <p:sp>
        <p:nvSpPr>
          <p:cNvPr id="66" name="Text 63"/>
          <p:cNvSpPr/>
          <p:nvPr/>
        </p:nvSpPr>
        <p:spPr>
          <a:xfrm>
            <a:off x="5404104" y="455371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RF gap</a:t>
            </a:r>
            <a:endParaRPr lang="en-US" sz="850" dirty="0"/>
          </a:p>
        </p:txBody>
      </p:sp>
      <p:sp>
        <p:nvSpPr>
          <p:cNvPr id="67" name="Text 64"/>
          <p:cNvSpPr/>
          <p:nvPr/>
        </p:nvSpPr>
        <p:spPr>
          <a:xfrm>
            <a:off x="502920" y="4791456"/>
            <a:ext cx="111831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lengths and colours are illustrative. Populate from the dashboard and band each bar against the required frequency standard.</a:t>
            </a:r>
            <a:endParaRPr lang="en-US" sz="750" dirty="0"/>
          </a:p>
        </p:txBody>
      </p:sp>
      <p:sp>
        <p:nvSpPr>
          <p:cNvPr id="68" name="Shape 65"/>
          <p:cNvSpPr/>
          <p:nvPr/>
        </p:nvSpPr>
        <p:spPr>
          <a:xfrm>
            <a:off x="502920" y="4992624"/>
            <a:ext cx="11185855" cy="1060704"/>
          </a:xfrm>
          <a:prstGeom prst="roundRect">
            <a:avLst>
              <a:gd name="adj" fmla="val 6034"/>
            </a:avLst>
          </a:prstGeom>
          <a:solidFill>
            <a:srgbClr val="E9F3FB"/>
          </a:solidFill>
          <a:ln w="9525">
            <a:solidFill>
              <a:srgbClr val="C9DFF1"/>
            </a:solidFill>
            <a:prstDash val="solid"/>
          </a:ln>
        </p:spPr>
      </p:sp>
      <p:sp>
        <p:nvSpPr>
          <p:cNvPr id="69" name="Text 66"/>
          <p:cNvSpPr/>
          <p:nvPr/>
        </p:nvSpPr>
        <p:spPr>
          <a:xfrm>
            <a:off x="640080" y="5084064"/>
            <a:ext cx="34908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1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850" dirty="0"/>
          </a:p>
        </p:txBody>
      </p:sp>
      <p:sp>
        <p:nvSpPr>
          <p:cNvPr id="70" name="Text 67"/>
          <p:cNvSpPr/>
          <p:nvPr/>
        </p:nvSpPr>
        <p:spPr>
          <a:xfrm>
            <a:off x="640080" y="5266944"/>
            <a:ext cx="349087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[Where is frequency execution weakest, and where is it strong enough to protect?]</a:t>
            </a:r>
            <a:endParaRPr lang="en-US" sz="1000" dirty="0"/>
          </a:p>
        </p:txBody>
      </p:sp>
      <p:sp>
        <p:nvSpPr>
          <p:cNvPr id="71" name="Shape 68"/>
          <p:cNvSpPr/>
          <p:nvPr/>
        </p:nvSpPr>
        <p:spPr>
          <a:xfrm>
            <a:off x="4231538" y="5102352"/>
            <a:ext cx="7315" cy="841248"/>
          </a:xfrm>
          <a:prstGeom prst="rect">
            <a:avLst/>
          </a:prstGeom>
          <a:solidFill>
            <a:srgbClr val="C9DFF1"/>
          </a:solidFill>
          <a:ln/>
        </p:spPr>
      </p:sp>
      <p:sp>
        <p:nvSpPr>
          <p:cNvPr id="72" name="Text 69"/>
          <p:cNvSpPr/>
          <p:nvPr/>
        </p:nvSpPr>
        <p:spPr>
          <a:xfrm>
            <a:off x="4350410" y="5084064"/>
            <a:ext cx="34908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1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</a:t>
            </a:r>
            <a:endParaRPr lang="en-US" sz="850" dirty="0"/>
          </a:p>
        </p:txBody>
      </p:sp>
      <p:sp>
        <p:nvSpPr>
          <p:cNvPr id="73" name="Text 70"/>
          <p:cNvSpPr/>
          <p:nvPr/>
        </p:nvSpPr>
        <p:spPr>
          <a:xfrm>
            <a:off x="4350410" y="5266944"/>
            <a:ext cx="349087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[ROOT CAUSE - call planning, field capacity, territory size, vacancy, list quality, execution discipline]</a:t>
            </a:r>
            <a:endParaRPr lang="en-US" sz="1000" dirty="0"/>
          </a:p>
        </p:txBody>
      </p:sp>
      <p:sp>
        <p:nvSpPr>
          <p:cNvPr id="74" name="Shape 71"/>
          <p:cNvSpPr/>
          <p:nvPr/>
        </p:nvSpPr>
        <p:spPr>
          <a:xfrm>
            <a:off x="7941869" y="5102352"/>
            <a:ext cx="7315" cy="841248"/>
          </a:xfrm>
          <a:prstGeom prst="rect">
            <a:avLst/>
          </a:prstGeom>
          <a:solidFill>
            <a:srgbClr val="C9DFF1"/>
          </a:solidFill>
          <a:ln/>
        </p:spPr>
      </p:sp>
      <p:sp>
        <p:nvSpPr>
          <p:cNvPr id="75" name="Text 72"/>
          <p:cNvSpPr/>
          <p:nvPr/>
        </p:nvSpPr>
        <p:spPr>
          <a:xfrm>
            <a:off x="8060741" y="5084064"/>
            <a:ext cx="34908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1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/ IMPLICATION</a:t>
            </a:r>
            <a:endParaRPr lang="en-US" sz="850" dirty="0"/>
          </a:p>
        </p:txBody>
      </p:sp>
      <p:sp>
        <p:nvSpPr>
          <p:cNvPr id="76" name="Text 73"/>
          <p:cNvSpPr/>
          <p:nvPr/>
        </p:nvSpPr>
        <p:spPr>
          <a:xfrm>
            <a:off x="8060741" y="5266944"/>
            <a:ext cx="349087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[ACTION - where call frequency must be corrected, and where it must be protected]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ns3="http://schemas.microsoft.com/office/drawing/2014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20" dirty="0">
                <a:solidFill>
                  <a:srgbClr val="1E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8778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 Customer Execution Priorities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060704"/>
            <a:ext cx="8778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should field-force effort be redirected during S2 2026?</a:t>
            </a:r>
            <a:endParaRPr lang="en-US" sz="11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8323" y="0"/>
            <a:ext cx="1467612" cy="14676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626364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Semester 1 2026 Business Review  |  Cluster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11155680" y="626364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85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/>
        </p:nvGraphicFramePr>
        <p:xfrm>
          <a:off x="502920" y="1389888"/>
          <a:ext cx="11164824" cy="2688336"/>
        </p:xfrm>
        <a:graphic>
          <a:graphicData uri="http://schemas.openxmlformats.org/drawingml/2006/table">
            <a:tbl>
              <a:tblPr/>
              <a:tblGrid>
                <a:gridCol w="1874520">
                  <a:extLst>
                    <a:ext uri="{9D8B030D-6E8A-4147-A177-3AD203B41FA5}">
                      <ns3:colId val="20000"/>
                    </a:ext>
                  </a:extLst>
                </a:gridCol>
                <a:gridCol w="1005840">
                  <a:extLst>
                    <a:ext uri="{9D8B030D-6E8A-4147-A177-3AD203B41FA5}">
                      <ns3:colId val="20001"/>
                    </a:ext>
                  </a:extLst>
                </a:gridCol>
                <a:gridCol w="1051560">
                  <a:extLst>
                    <a:ext uri="{9D8B030D-6E8A-4147-A177-3AD203B41FA5}">
                      <ns3:colId val="20002"/>
                    </a:ext>
                  </a:extLst>
                </a:gridCol>
                <a:gridCol w="960120">
                  <a:extLst>
                    <a:ext uri="{9D8B030D-6E8A-4147-A177-3AD203B41FA5}">
                      <ns3:colId val="20003"/>
                    </a:ext>
                  </a:extLst>
                </a:gridCol>
                <a:gridCol w="1417320">
                  <a:extLst>
                    <a:ext uri="{9D8B030D-6E8A-4147-A177-3AD203B41FA5}">
                      <ns3:colId val="20004"/>
                    </a:ext>
                  </a:extLst>
                </a:gridCol>
                <a:gridCol w="3685032">
                  <a:extLst>
                    <a:ext uri="{9D8B030D-6E8A-4147-A177-3AD203B41FA5}">
                      <ns3:colId val="20005"/>
                    </a:ext>
                  </a:extLst>
                </a:gridCol>
                <a:gridCol w="1170432">
                  <a:extLst>
                    <a:ext uri="{9D8B030D-6E8A-4147-A177-3AD203B41FA5}">
                      <ns3:colId val="20006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 Area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Coverage 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 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Gap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S2 Action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extLst>
                  <a:ext uri="{0D108BD9-81ED-4DB2-BD59-A6C34878D82A}">
                    <ns3:rowId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[CLASS OR SPECIALTY]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[Class]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B337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[BOTH]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F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[SPECIFIC CORRECTIVE ACTION]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B337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FDC"/>
                    </a:solidFill>
                  </a:tcPr>
                </a:tc>
                <a:extLst>
                  <a:ext uri="{0D108BD9-81ED-4DB2-BD59-A6C34878D82A}">
                    <ns3:rowId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[CLASS OR SPECIALTY]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[Specialty]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C98A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[COVERAGE]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F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[SPECIFIC CORRECTIVE ACTION]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B337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FDC"/>
                    </a:solidFill>
                  </a:tcPr>
                </a:tc>
                <a:extLst>
                  <a:ext uri="{0D108BD9-81ED-4DB2-BD59-A6C34878D82A}">
                    <ns3:rowId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[CLASS OR SPECIALTY]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[Class]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C98A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[FREQUENCY]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F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[SPECIFIC CORRECTIVE ACTION]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C98A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FD8"/>
                    </a:solidFill>
                  </a:tcPr>
                </a:tc>
                <a:extLst>
                  <a:ext uri="{0D108BD9-81ED-4DB2-BD59-A6C34878D82A}">
                    <ns3:rowId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[CLASS OR SPECIALTY]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[Specialty]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C98A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[FREQUENCY]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F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[SPECIFIC CORRECTIVE ACTION]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C98A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FD8"/>
                    </a:solidFill>
                  </a:tcPr>
                </a:tc>
                <a:extLst>
                  <a:ext uri="{0D108BD9-81ED-4DB2-BD59-A6C34878D82A}">
                    <ns3:rowId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[CLASS OR SPECIALTY]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[Class]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E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[NONE]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E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[PROTECT CURRENT EXECUTION]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E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MAINTAIN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EE4"/>
                    </a:solidFill>
                  </a:tcPr>
                </a:tc>
                <a:extLst>
                  <a:ext uri="{0D108BD9-81ED-4DB2-BD59-A6C34878D82A}">
                    <ns3:rowId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[CLASS OR SPECIALTY]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[Specialty]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[COVERAGE / FREQUENCY / BOTH]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[SPECIFIC CORRECTIVE ACTION]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[CRITICAL / HIGH / MAINTAIN]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ns3:rowId val="10006"/>
                  </a:ext>
                </a:extLst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502920" y="4151376"/>
            <a:ext cx="111831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to six priority areas only. Coverage % and RF % are carried across from the two previous slides, not re-derived.</a:t>
            </a:r>
            <a:endParaRPr lang="en-US" sz="750" dirty="0"/>
          </a:p>
        </p:txBody>
      </p:sp>
      <p:sp>
        <p:nvSpPr>
          <p:cNvPr id="10" name="Shape 6"/>
          <p:cNvSpPr/>
          <p:nvPr/>
        </p:nvSpPr>
        <p:spPr>
          <a:xfrm>
            <a:off x="502920" y="4352544"/>
            <a:ext cx="2659304" cy="1133856"/>
          </a:xfrm>
          <a:prstGeom prst="roundRect">
            <a:avLst>
              <a:gd name="adj" fmla="val 5645"/>
            </a:avLst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  <a:effectLst>
            <a:outerShdw blurRad="101600" dist="12700" dir="5400000" algn="bl" rotWithShape="0">
              <a:srgbClr val="0A57A5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685800" y="4498848"/>
            <a:ext cx="137160" cy="137160"/>
          </a:xfrm>
          <a:prstGeom prst="ellipse">
            <a:avLst/>
          </a:prstGeom>
          <a:solidFill>
            <a:srgbClr val="C98A16"/>
          </a:solidFill>
          <a:ln w="12700">
            <a:solidFill>
              <a:srgbClr val="C98A16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905256" y="4453128"/>
            <a:ext cx="20923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60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COVERAGE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685800" y="4700016"/>
            <a:ext cx="22935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 areas where customer reach is insufficient</a:t>
            </a:r>
            <a:endParaRPr lang="en-US" sz="850" dirty="0"/>
          </a:p>
        </p:txBody>
      </p:sp>
      <p:sp>
        <p:nvSpPr>
          <p:cNvPr id="14" name="Text 10"/>
          <p:cNvSpPr/>
          <p:nvPr/>
        </p:nvSpPr>
        <p:spPr>
          <a:xfrm>
            <a:off x="685800" y="5138928"/>
            <a:ext cx="22935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98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[AREAS: ...]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3345104" y="4352544"/>
            <a:ext cx="2659304" cy="1133856"/>
          </a:xfrm>
          <a:prstGeom prst="roundRect">
            <a:avLst>
              <a:gd name="adj" fmla="val 5645"/>
            </a:avLst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  <a:effectLst>
            <a:outerShdw blurRad="101600" dist="12700" dir="5400000" algn="bl" rotWithShape="0">
              <a:srgbClr val="0A57A5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3527984" y="4498848"/>
            <a:ext cx="137160" cy="137160"/>
          </a:xfrm>
          <a:prstGeom prst="ellipse">
            <a:avLst/>
          </a:prstGeom>
          <a:solidFill>
            <a:srgbClr val="1078B8"/>
          </a:solidFill>
          <a:ln w="12700">
            <a:solidFill>
              <a:srgbClr val="1078B8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3747440" y="4453128"/>
            <a:ext cx="20923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60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FREQUENCY</a:t>
            </a:r>
            <a:endParaRPr lang="en-US" sz="1050" dirty="0"/>
          </a:p>
        </p:txBody>
      </p:sp>
      <p:sp>
        <p:nvSpPr>
          <p:cNvPr id="18" name="Text 14"/>
          <p:cNvSpPr/>
          <p:nvPr/>
        </p:nvSpPr>
        <p:spPr>
          <a:xfrm>
            <a:off x="3527984" y="4700016"/>
            <a:ext cx="22935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are covered but required call frequency is not achieved</a:t>
            </a:r>
            <a:endParaRPr lang="en-US" sz="850" dirty="0"/>
          </a:p>
        </p:txBody>
      </p:sp>
      <p:sp>
        <p:nvSpPr>
          <p:cNvPr id="19" name="Text 15"/>
          <p:cNvSpPr/>
          <p:nvPr/>
        </p:nvSpPr>
        <p:spPr>
          <a:xfrm>
            <a:off x="3527984" y="5138928"/>
            <a:ext cx="22935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[AREAS: ...]</a:t>
            </a:r>
            <a:endParaRPr lang="en-US" sz="900" dirty="0"/>
          </a:p>
        </p:txBody>
      </p:sp>
      <p:sp>
        <p:nvSpPr>
          <p:cNvPr id="20" name="Shape 16"/>
          <p:cNvSpPr/>
          <p:nvPr/>
        </p:nvSpPr>
        <p:spPr>
          <a:xfrm>
            <a:off x="6187288" y="4352544"/>
            <a:ext cx="2659304" cy="1133856"/>
          </a:xfrm>
          <a:prstGeom prst="roundRect">
            <a:avLst>
              <a:gd name="adj" fmla="val 5645"/>
            </a:avLst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  <a:effectLst>
            <a:outerShdw blurRad="101600" dist="12700" dir="5400000" algn="bl" rotWithShape="0">
              <a:srgbClr val="0A57A5">
                <a:alpha val="10000"/>
              </a:srgbClr>
            </a:outerShdw>
          </a:effectLst>
        </p:spPr>
      </p:sp>
      <p:sp>
        <p:nvSpPr>
          <p:cNvPr id="8" name="Shape 17"/>
          <p:cNvSpPr/>
          <p:nvPr/>
        </p:nvSpPr>
        <p:spPr>
          <a:xfrm>
            <a:off x="6370168" y="4498848"/>
            <a:ext cx="137160" cy="137160"/>
          </a:xfrm>
          <a:prstGeom prst="ellipse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6589624" y="4453128"/>
            <a:ext cx="20923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60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EXECUTION</a:t>
            </a:r>
            <a:endParaRPr lang="en-US" sz="1050" dirty="0"/>
          </a:p>
        </p:txBody>
      </p:sp>
      <p:sp>
        <p:nvSpPr>
          <p:cNvPr id="23" name="Text 19"/>
          <p:cNvSpPr/>
          <p:nvPr/>
        </p:nvSpPr>
        <p:spPr>
          <a:xfrm>
            <a:off x="6370168" y="4700016"/>
            <a:ext cx="22935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Strategically important areas with strong coverage and RF</a:t>
            </a:r>
            <a:endParaRPr lang="en-US" sz="850" dirty="0"/>
          </a:p>
        </p:txBody>
      </p:sp>
      <p:sp>
        <p:nvSpPr>
          <p:cNvPr id="24" name="Text 20"/>
          <p:cNvSpPr/>
          <p:nvPr/>
        </p:nvSpPr>
        <p:spPr>
          <a:xfrm>
            <a:off x="6370168" y="5138928"/>
            <a:ext cx="22935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[AREAS: ...]</a:t>
            </a:r>
            <a:endParaRPr lang="en-US" sz="900" dirty="0"/>
          </a:p>
        </p:txBody>
      </p:sp>
      <p:sp>
        <p:nvSpPr>
          <p:cNvPr id="25" name="Shape 21"/>
          <p:cNvSpPr/>
          <p:nvPr/>
        </p:nvSpPr>
        <p:spPr>
          <a:xfrm>
            <a:off x="9029471" y="4352544"/>
            <a:ext cx="2659304" cy="1133856"/>
          </a:xfrm>
          <a:prstGeom prst="roundRect">
            <a:avLst>
              <a:gd name="adj" fmla="val 5645"/>
            </a:avLst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  <a:effectLst>
            <a:outerShdw blurRad="101600" dist="12700" dir="5400000" algn="bl" rotWithShape="0">
              <a:srgbClr val="0A57A5">
                <a:alpha val="10000"/>
              </a:srgbClr>
            </a:outerShdw>
          </a:effectLst>
        </p:spPr>
      </p:sp>
      <p:sp>
        <p:nvSpPr>
          <p:cNvPr id="26" name="Shape 22"/>
          <p:cNvSpPr/>
          <p:nvPr/>
        </p:nvSpPr>
        <p:spPr>
          <a:xfrm>
            <a:off x="9212351" y="4498848"/>
            <a:ext cx="137160" cy="137160"/>
          </a:xfrm>
          <a:prstGeom prst="ellipse">
            <a:avLst/>
          </a:prstGeom>
          <a:solidFill>
            <a:srgbClr val="B3372C"/>
          </a:solidFill>
          <a:ln w="12700">
            <a:solidFill>
              <a:srgbClr val="B3372C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9431807" y="4453128"/>
            <a:ext cx="20923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60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EXECUTION</a:t>
            </a:r>
            <a:endParaRPr lang="en-US" sz="1050" dirty="0"/>
          </a:p>
        </p:txBody>
      </p:sp>
      <p:sp>
        <p:nvSpPr>
          <p:cNvPr id="28" name="Text 24"/>
          <p:cNvSpPr/>
          <p:nvPr/>
        </p:nvSpPr>
        <p:spPr>
          <a:xfrm>
            <a:off x="9212351" y="4700016"/>
            <a:ext cx="22935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coverage and RF materially weak - full reset required</a:t>
            </a:r>
            <a:endParaRPr lang="en-US" sz="850" dirty="0"/>
          </a:p>
        </p:txBody>
      </p:sp>
      <p:sp>
        <p:nvSpPr>
          <p:cNvPr id="29" name="Text 25"/>
          <p:cNvSpPr/>
          <p:nvPr/>
        </p:nvSpPr>
        <p:spPr>
          <a:xfrm>
            <a:off x="9212351" y="5138928"/>
            <a:ext cx="22935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B33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[AREAS: ...]</a:t>
            </a:r>
            <a:endParaRPr lang="en-US" sz="900" dirty="0"/>
          </a:p>
        </p:txBody>
      </p:sp>
      <p:sp>
        <p:nvSpPr>
          <p:cNvPr id="30" name="Text 26"/>
          <p:cNvSpPr/>
          <p:nvPr/>
        </p:nvSpPr>
        <p:spPr>
          <a:xfrm>
            <a:off x="502920" y="5614416"/>
            <a:ext cx="11183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priority area on this slide must reappear as an owned, dated action in the S2 2026 Action Plan.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c="http://schemas.openxmlformats.org/drawingml/2006/chart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10896"/>
            <a:ext cx="1814170" cy="274320"/>
          </a:xfrm>
          <a:prstGeom prst="roundRect">
            <a:avLst>
              <a:gd name="adj" fmla="val 16667"/>
            </a:avLst>
          </a:prstGeom>
          <a:solidFill>
            <a:srgbClr val="0A57A5"/>
          </a:solidFill>
          <a:ln w="12700">
            <a:solidFill>
              <a:srgbClr val="0A57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181417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PROMOTIONAL BUDGET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02920" y="603504"/>
            <a:ext cx="8778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Promotional Budget Performance</a:t>
            </a:r>
            <a:endParaRPr lang="en-US" sz="26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8323" y="0"/>
            <a:ext cx="1467612" cy="14676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626364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Semester 1 2026 Business Review  |  Cluster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11155680" y="626364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502920" y="1316736"/>
            <a:ext cx="11185855" cy="512064"/>
          </a:xfrm>
          <a:prstGeom prst="roundRect">
            <a:avLst>
              <a:gd name="adj" fmla="val 12500"/>
            </a:avLst>
          </a:prstGeom>
          <a:solidFill>
            <a:srgbClr val="E9EFF3"/>
          </a:solidFill>
          <a:ln w="9525">
            <a:solidFill>
              <a:srgbClr val="D9E0E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85800" y="1417320"/>
            <a:ext cx="108200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BUDGET  </a:t>
            </a:r>
            <a:r>
              <a:rPr lang="en-US" sz="9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promotional budget agreed and approved at the beginning of the year</a:t>
            </a:r>
            <a:r>
              <a:rPr lang="en-US" sz="950" dirty="0">
                <a:solidFill>
                  <a:srgbClr val="B7C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|          </a:t>
            </a:r>
            <a:r>
              <a:rPr lang="en-US" sz="95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BUDGET  </a:t>
            </a:r>
            <a:r>
              <a:rPr lang="en-US" sz="9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actual promotional spending incurred up to the end of S1 2026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502920" y="1975104"/>
            <a:ext cx="2090867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  <a:effectLst>
            <a:outerShdw blurRad="101600" dist="12700" dir="5400000" algn="bl" rotWithShape="0">
              <a:srgbClr val="0A57A5">
                <a:alpha val="1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21792" y="2075688"/>
            <a:ext cx="170681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6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BUDGET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621792" y="2231136"/>
            <a:ext cx="185312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70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125K EGP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2776667" y="1975104"/>
            <a:ext cx="2090867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  <a:effectLst>
            <a:outerShdw blurRad="101600" dist="12700" dir="5400000" algn="bl" rotWithShape="0">
              <a:srgbClr val="0A57A5">
                <a:alpha val="1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2895539" y="2075688"/>
            <a:ext cx="170681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6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/ SPENT BUDGET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2895539" y="2231136"/>
            <a:ext cx="185312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70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31K EGP</a:t>
            </a:r>
            <a:endParaRPr lang="en-US" sz="1700" dirty="0"/>
          </a:p>
        </p:txBody>
      </p:sp>
      <p:sp>
        <p:nvSpPr>
          <p:cNvPr id="16" name="Shape 13"/>
          <p:cNvSpPr/>
          <p:nvPr/>
        </p:nvSpPr>
        <p:spPr>
          <a:xfrm>
            <a:off x="5050414" y="1975104"/>
            <a:ext cx="2090867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  <a:effectLst>
            <a:outerShdw blurRad="101600" dist="12700" dir="5400000" algn="bl" rotWithShape="0">
              <a:srgbClr val="0A57A5">
                <a:alpha val="10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5169286" y="2075688"/>
            <a:ext cx="170681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6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REMAINING BUDGET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5169286" y="2231136"/>
            <a:ext cx="185312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70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93K EGP</a:t>
            </a:r>
            <a:endParaRPr lang="en-US" sz="1700" dirty="0"/>
          </a:p>
        </p:txBody>
      </p:sp>
      <p:sp>
        <p:nvSpPr>
          <p:cNvPr id="19" name="Shape 16"/>
          <p:cNvSpPr/>
          <p:nvPr/>
        </p:nvSpPr>
        <p:spPr>
          <a:xfrm>
            <a:off x="7324161" y="1975104"/>
            <a:ext cx="2090867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  <a:effectLst>
            <a:outerShdw blurRad="101600" dist="12700" dir="5400000" algn="bl" rotWithShape="0">
              <a:srgbClr val="0A57A5">
                <a:alpha val="10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7443033" y="2075688"/>
            <a:ext cx="170681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6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UTILIZATION %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7443033" y="2231136"/>
            <a:ext cx="185312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70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25.1%</a:t>
            </a:r>
            <a:endParaRPr lang="en-US" sz="1700" dirty="0"/>
          </a:p>
        </p:txBody>
      </p:sp>
      <p:sp>
        <p:nvSpPr>
          <p:cNvPr id="22" name="Shape 19"/>
          <p:cNvSpPr/>
          <p:nvPr/>
        </p:nvSpPr>
        <p:spPr>
          <a:xfrm>
            <a:off x="9158996" y="2103120"/>
            <a:ext cx="128016" cy="128016"/>
          </a:xfrm>
          <a:prstGeom prst="ellipse">
            <a:avLst/>
          </a:prstGeom>
          <a:solidFill>
            <a:srgbClr val="C98A16"/>
          </a:solidFill>
          <a:ln w="12700">
            <a:solidFill>
              <a:srgbClr val="C98A16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9597908" y="1975104"/>
            <a:ext cx="2090867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  <a:effectLst>
            <a:outerShdw blurRad="101600" dist="12700" dir="5400000" algn="bl" rotWithShape="0">
              <a:srgbClr val="0A57A5">
                <a:alpha val="10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9716780" y="2075688"/>
            <a:ext cx="170681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6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ACHIEVEMENT %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9716780" y="2231136"/>
            <a:ext cx="185312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70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30.9%</a:t>
            </a:r>
            <a:endParaRPr lang="en-US" sz="1700" dirty="0"/>
          </a:p>
        </p:txBody>
      </p:sp>
      <p:sp>
        <p:nvSpPr>
          <p:cNvPr id="26" name="Shape 23"/>
          <p:cNvSpPr/>
          <p:nvPr/>
        </p:nvSpPr>
        <p:spPr>
          <a:xfrm>
            <a:off x="11432743" y="2103120"/>
            <a:ext cx="128016" cy="128016"/>
          </a:xfrm>
          <a:prstGeom prst="ellipse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02920" y="288950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SPENDING TRANSLATING INTO BUSINESS PERFORMANCE?</a:t>
            </a:r>
            <a:endParaRPr lang="en-US" sz="950" dirty="0"/>
          </a:p>
        </p:txBody>
      </p:sp>
      <p:graphicFrame>
        <p:nvGraphicFramePr>
          <p:cNvPr id="28" name="Chart 0"/>
          <p:cNvGraphicFramePr/>
          <p:nvPr/>
        </p:nvGraphicFramePr>
        <p:xfrm>
          <a:off x="429768" y="3108960"/>
          <a:ext cx="6903720" cy="1874520"/>
        </p:xfrm>
        <a:graphic>
          <a:graphicData uri="http://schemas.openxmlformats.org/drawingml/2006/chart">
            <c:chart r:id="rId4"/>
          </a:graphicData>
        </a:graphic>
      </p:graphicFrame>
      <p:sp>
        <p:nvSpPr>
          <p:cNvPr id="29" name="Text 25"/>
          <p:cNvSpPr/>
          <p:nvPr/>
        </p:nvSpPr>
        <p:spPr>
          <a:xfrm>
            <a:off x="502920" y="4965192"/>
            <a:ext cx="6766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structure only. Values are placeholders. The two bars should be read side by side, not summed.</a:t>
            </a:r>
            <a:endParaRPr lang="en-US" sz="750" dirty="0"/>
          </a:p>
        </p:txBody>
      </p:sp>
      <p:sp>
        <p:nvSpPr>
          <p:cNvPr id="30" name="Shape 26"/>
          <p:cNvSpPr/>
          <p:nvPr/>
        </p:nvSpPr>
        <p:spPr>
          <a:xfrm>
            <a:off x="7790688" y="3108960"/>
            <a:ext cx="3895344" cy="1856232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  <a:effectLst>
            <a:outerShdw blurRad="101600" dist="12700" dir="5400000" algn="bl" rotWithShape="0">
              <a:srgbClr val="0A57A5">
                <a:alpha val="10000"/>
              </a:srgbClr>
            </a:outerShdw>
          </a:effectLst>
        </p:spPr>
      </p:sp>
      <p:sp>
        <p:nvSpPr>
          <p:cNvPr id="31" name="Text 27"/>
          <p:cNvSpPr/>
          <p:nvPr/>
        </p:nvSpPr>
        <p:spPr>
          <a:xfrm>
            <a:off x="7973568" y="3218688"/>
            <a:ext cx="3529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SPEND-TO-PERFORMANCE READING</a:t>
            </a:r>
            <a:endParaRPr lang="en-US" sz="850" dirty="0"/>
          </a:p>
        </p:txBody>
      </p:sp>
      <p:sp>
        <p:nvSpPr>
          <p:cNvPr id="32" name="Shape 28"/>
          <p:cNvSpPr/>
          <p:nvPr/>
        </p:nvSpPr>
        <p:spPr>
          <a:xfrm>
            <a:off x="7973568" y="3520440"/>
            <a:ext cx="118872" cy="118872"/>
          </a:xfrm>
          <a:prstGeom prst="ellipse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8174736" y="3474720"/>
            <a:ext cx="33284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Utilization ≈ Achievement
</a:t>
            </a: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Spending is tracking business delivery</a:t>
            </a:r>
            <a:endParaRPr lang="en-US" sz="950" dirty="0"/>
          </a:p>
        </p:txBody>
      </p:sp>
      <p:sp>
        <p:nvSpPr>
          <p:cNvPr id="34" name="Shape 30"/>
          <p:cNvSpPr/>
          <p:nvPr/>
        </p:nvSpPr>
        <p:spPr>
          <a:xfrm>
            <a:off x="7973568" y="4005072"/>
            <a:ext cx="118872" cy="118872"/>
          </a:xfrm>
          <a:prstGeom prst="ellipse">
            <a:avLst/>
          </a:prstGeom>
          <a:solidFill>
            <a:srgbClr val="B3372C"/>
          </a:solidFill>
          <a:ln w="12700">
            <a:solidFill>
              <a:srgbClr val="B3372C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8174736" y="3959352"/>
            <a:ext cx="33284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Utilization &gt; Achievement
</a:t>
            </a: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is not converting - efficiency issue</a:t>
            </a:r>
            <a:endParaRPr lang="en-US" sz="950" dirty="0"/>
          </a:p>
        </p:txBody>
      </p:sp>
      <p:sp>
        <p:nvSpPr>
          <p:cNvPr id="36" name="Shape 32"/>
          <p:cNvSpPr/>
          <p:nvPr/>
        </p:nvSpPr>
        <p:spPr>
          <a:xfrm>
            <a:off x="7973568" y="4489704"/>
            <a:ext cx="118872" cy="118872"/>
          </a:xfrm>
          <a:prstGeom prst="ellipse">
            <a:avLst/>
          </a:prstGeom>
          <a:solidFill>
            <a:srgbClr val="C98A16"/>
          </a:solidFill>
          <a:ln w="12700">
            <a:solidFill>
              <a:srgbClr val="C98A16"/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8174736" y="4443984"/>
            <a:ext cx="33284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Utilization &lt; Achievement
</a:t>
            </a: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Under-spend - possible missed opportunity</a:t>
            </a:r>
            <a:endParaRPr lang="en-US" sz="950" dirty="0"/>
          </a:p>
        </p:txBody>
      </p:sp>
      <p:sp>
        <p:nvSpPr>
          <p:cNvPr id="38" name="Shape 34"/>
          <p:cNvSpPr/>
          <p:nvPr/>
        </p:nvSpPr>
        <p:spPr>
          <a:xfrm>
            <a:off x="502920" y="5230368"/>
            <a:ext cx="11185855" cy="822960"/>
          </a:xfrm>
          <a:prstGeom prst="roundRect">
            <a:avLst>
              <a:gd name="adj" fmla="val 7778"/>
            </a:avLst>
          </a:prstGeom>
          <a:solidFill>
            <a:srgbClr val="E9F3FB"/>
          </a:solidFill>
          <a:ln w="9525">
            <a:solidFill>
              <a:srgbClr val="C9DFF1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640080" y="5321808"/>
            <a:ext cx="34908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1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850" dirty="0"/>
          </a:p>
        </p:txBody>
      </p:sp>
      <p:sp>
        <p:nvSpPr>
          <p:cNvPr id="40" name="Text 36"/>
          <p:cNvSpPr/>
          <p:nvPr/>
        </p:nvSpPr>
        <p:spPr>
          <a:xfrm>
            <a:off x="640080" y="5504688"/>
            <a:ext cx="349087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[KEY INSIGHT]</a:t>
            </a:r>
            <a:endParaRPr lang="en-US" sz="1000" dirty="0"/>
          </a:p>
        </p:txBody>
      </p:sp>
      <p:sp>
        <p:nvSpPr>
          <p:cNvPr id="41" name="Shape 37"/>
          <p:cNvSpPr/>
          <p:nvPr/>
        </p:nvSpPr>
        <p:spPr>
          <a:xfrm>
            <a:off x="4231538" y="5340096"/>
            <a:ext cx="7315" cy="603504"/>
          </a:xfrm>
          <a:prstGeom prst="rect">
            <a:avLst/>
          </a:prstGeom>
          <a:solidFill>
            <a:srgbClr val="C9DFF1"/>
          </a:solidFill>
          <a:ln/>
        </p:spPr>
      </p:sp>
      <p:sp>
        <p:nvSpPr>
          <p:cNvPr id="42" name="Text 38"/>
          <p:cNvSpPr/>
          <p:nvPr/>
        </p:nvSpPr>
        <p:spPr>
          <a:xfrm>
            <a:off x="4350410" y="5321808"/>
            <a:ext cx="34908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1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</a:t>
            </a:r>
            <a:endParaRPr lang="en-US" sz="850" dirty="0"/>
          </a:p>
        </p:txBody>
      </p:sp>
      <p:sp>
        <p:nvSpPr>
          <p:cNvPr id="43" name="Text 39"/>
          <p:cNvSpPr/>
          <p:nvPr/>
        </p:nvSpPr>
        <p:spPr>
          <a:xfrm>
            <a:off x="4350410" y="5504688"/>
            <a:ext cx="349087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[ROOT CAUSE]</a:t>
            </a:r>
            <a:endParaRPr lang="en-US" sz="1000" dirty="0"/>
          </a:p>
        </p:txBody>
      </p:sp>
      <p:sp>
        <p:nvSpPr>
          <p:cNvPr id="44" name="Shape 40"/>
          <p:cNvSpPr/>
          <p:nvPr/>
        </p:nvSpPr>
        <p:spPr>
          <a:xfrm>
            <a:off x="7941869" y="5340096"/>
            <a:ext cx="7315" cy="603504"/>
          </a:xfrm>
          <a:prstGeom prst="rect">
            <a:avLst/>
          </a:prstGeom>
          <a:solidFill>
            <a:srgbClr val="C9DFF1"/>
          </a:solidFill>
          <a:ln/>
        </p:spPr>
      </p:sp>
      <p:sp>
        <p:nvSpPr>
          <p:cNvPr id="45" name="Text 41"/>
          <p:cNvSpPr/>
          <p:nvPr/>
        </p:nvSpPr>
        <p:spPr>
          <a:xfrm>
            <a:off x="8060741" y="5321808"/>
            <a:ext cx="34908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1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/ IMPLICATION</a:t>
            </a:r>
            <a:endParaRPr lang="en-US" sz="850" dirty="0"/>
          </a:p>
        </p:txBody>
      </p:sp>
      <p:sp>
        <p:nvSpPr>
          <p:cNvPr id="46" name="Text 42"/>
          <p:cNvSpPr/>
          <p:nvPr/>
        </p:nvSpPr>
        <p:spPr>
          <a:xfrm>
            <a:off x="8060741" y="5504688"/>
            <a:ext cx="349087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[ACTION]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ns3="http://schemas.microsoft.com/office/drawing/2014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20" dirty="0">
                <a:solidFill>
                  <a:srgbClr val="1E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PROMOTIONAL BUDGET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8778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Efficiency Analysis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060704"/>
            <a:ext cx="8778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is promotional investment earning its return, and where must it be reallocated?</a:t>
            </a:r>
            <a:endParaRPr lang="en-US" sz="11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8323" y="0"/>
            <a:ext cx="1467612" cy="14676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626364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Semester 1 2026 Business Review  |  Cluster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11155680" y="626364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85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/>
        </p:nvGraphicFramePr>
        <p:xfrm>
          <a:off x="502920" y="1481328"/>
          <a:ext cx="5989320" cy="2272284"/>
        </p:xfrm>
        <a:graphic>
          <a:graphicData uri="http://schemas.openxmlformats.org/drawingml/2006/table">
            <a:tbl>
              <a:tblPr/>
              <a:tblGrid>
                <a:gridCol w="1600200">
                  <a:extLst>
                    <a:ext uri="{9D8B030D-6E8A-4147-A177-3AD203B41FA5}">
                      <ns3:colId val="20000"/>
                    </a:ext>
                  </a:extLst>
                </a:gridCol>
                <a:gridCol w="960120">
                  <a:extLst>
                    <a:ext uri="{9D8B030D-6E8A-4147-A177-3AD203B41FA5}">
                      <ns3:colId val="20001"/>
                    </a:ext>
                  </a:extLst>
                </a:gridCol>
                <a:gridCol w="960120">
                  <a:extLst>
                    <a:ext uri="{9D8B030D-6E8A-4147-A177-3AD203B41FA5}">
                      <ns3:colId val="20002"/>
                    </a:ext>
                  </a:extLst>
                </a:gridCol>
                <a:gridCol w="868680">
                  <a:extLst>
                    <a:ext uri="{9D8B030D-6E8A-4147-A177-3AD203B41FA5}">
                      <ns3:colId val="20003"/>
                    </a:ext>
                  </a:extLst>
                </a:gridCol>
                <a:gridCol w="868680">
                  <a:extLst>
                    <a:ext uri="{9D8B030D-6E8A-4147-A177-3AD203B41FA5}">
                      <ns3:colId val="20004"/>
                    </a:ext>
                  </a:extLst>
                </a:gridCol>
                <a:gridCol w="731520">
                  <a:extLst>
                    <a:ext uri="{9D8B030D-6E8A-4147-A177-3AD203B41FA5}">
                      <ns3:colId val="20005"/>
                    </a:ext>
                  </a:extLst>
                </a:gridCol>
              </a:tblGrid>
              <a:tr h="3246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 / Line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Static Budget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Dynamic Spend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Utilization 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Sales Ach. 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MS Ach.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extLst>
                  <a:ext uri="{0D108BD9-81ED-4DB2-BD59-A6C34878D82A}">
                    <ns3:rowId val="10000"/>
                  </a:ext>
                </a:extLst>
              </a:tr>
              <a:tr h="3246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[PRODUCT / LINE 1]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[VALUE]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[VALUE]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E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3:rowId val="10001"/>
                  </a:ext>
                </a:extLst>
              </a:tr>
              <a:tr h="3246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[PRODUCT / LINE 2]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[VALUE]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[VALUE]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E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ns3:rowId val="10002"/>
                  </a:ext>
                </a:extLst>
              </a:tr>
              <a:tr h="3246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[PRODUCT / LINE 3]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[VALUE]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[VALUE]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C98A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3:rowId val="10003"/>
                  </a:ext>
                </a:extLst>
              </a:tr>
              <a:tr h="3246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[PRODUCT / LINE 4]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[VALUE]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[VALUE]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B337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ns3:rowId val="10004"/>
                  </a:ext>
                </a:extLst>
              </a:tr>
              <a:tr h="3246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[PRODUCT / LINE 5]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[VALUE]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[VALUE]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3:rowId val="10005"/>
                  </a:ext>
                </a:extLst>
              </a:tr>
              <a:tr h="3246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BU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[VALUE]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[VALUE]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ns3:rowId val="10006"/>
                  </a:ext>
                </a:extLst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502920" y="3877056"/>
            <a:ext cx="5989320" cy="1133856"/>
          </a:xfrm>
          <a:prstGeom prst="roundRect">
            <a:avLst>
              <a:gd name="adj" fmla="val 5645"/>
            </a:avLst>
          </a:prstGeom>
          <a:solidFill>
            <a:srgbClr val="E9F3FB"/>
          </a:solidFill>
          <a:ln w="9525">
            <a:solidFill>
              <a:srgbClr val="C9DFF1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640080" y="3968496"/>
            <a:ext cx="27477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1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850" dirty="0"/>
          </a:p>
        </p:txBody>
      </p:sp>
      <p:sp>
        <p:nvSpPr>
          <p:cNvPr id="11" name="Text 7"/>
          <p:cNvSpPr/>
          <p:nvPr/>
        </p:nvSpPr>
        <p:spPr>
          <a:xfrm>
            <a:off x="640080" y="4151376"/>
            <a:ext cx="27477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[Which investments earned their return and which did not?]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3488436" y="3986784"/>
            <a:ext cx="7315" cy="914400"/>
          </a:xfrm>
          <a:prstGeom prst="rect">
            <a:avLst/>
          </a:prstGeom>
          <a:solidFill>
            <a:srgbClr val="C9DFF1"/>
          </a:solidFill>
          <a:ln/>
        </p:spPr>
      </p:sp>
      <p:sp>
        <p:nvSpPr>
          <p:cNvPr id="13" name="Text 9"/>
          <p:cNvSpPr/>
          <p:nvPr/>
        </p:nvSpPr>
        <p:spPr>
          <a:xfrm>
            <a:off x="3607308" y="3968496"/>
            <a:ext cx="27477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1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/ IMPLICATION</a:t>
            </a:r>
            <a:endParaRPr lang="en-US" sz="850" dirty="0"/>
          </a:p>
        </p:txBody>
      </p:sp>
      <p:sp>
        <p:nvSpPr>
          <p:cNvPr id="14" name="Text 10"/>
          <p:cNvSpPr/>
          <p:nvPr/>
        </p:nvSpPr>
        <p:spPr>
          <a:xfrm>
            <a:off x="3607308" y="4151376"/>
            <a:ext cx="27477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[Specific reallocation decision for S2 2026]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7360920" y="1645920"/>
            <a:ext cx="3913632" cy="3035808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360920" y="1645920"/>
            <a:ext cx="1956816" cy="1517904"/>
          </a:xfrm>
          <a:prstGeom prst="rect">
            <a:avLst/>
          </a:prstGeom>
          <a:solidFill>
            <a:srgbClr val="F4F8F7"/>
          </a:solidFill>
          <a:ln w="12700">
            <a:solidFill>
              <a:srgbClr val="F4F8F7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9317736" y="1645920"/>
            <a:ext cx="1956816" cy="1517904"/>
          </a:xfrm>
          <a:prstGeom prst="rect">
            <a:avLst/>
          </a:prstGeom>
          <a:solidFill>
            <a:srgbClr val="EFF4F7"/>
          </a:solidFill>
          <a:ln w="12700">
            <a:solidFill>
              <a:srgbClr val="EFF4F7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7360920" y="3163824"/>
            <a:ext cx="1956816" cy="1517904"/>
          </a:xfrm>
          <a:prstGeom prst="rect">
            <a:avLst/>
          </a:prstGeom>
          <a:solidFill>
            <a:srgbClr val="F7F7F4"/>
          </a:solidFill>
          <a:ln w="12700">
            <a:solidFill>
              <a:srgbClr val="F7F7F4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9317736" y="3163824"/>
            <a:ext cx="1956816" cy="1517904"/>
          </a:xfrm>
          <a:prstGeom prst="rect">
            <a:avLst/>
          </a:prstGeom>
          <a:solidFill>
            <a:srgbClr val="F8F5F4"/>
          </a:solidFill>
          <a:ln w="12700">
            <a:solidFill>
              <a:srgbClr val="F8F5F4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9312250" y="1645920"/>
            <a:ext cx="10973" cy="3035808"/>
          </a:xfrm>
          <a:prstGeom prst="rect">
            <a:avLst/>
          </a:prstGeom>
          <a:solidFill>
            <a:srgbClr val="B7C3CC"/>
          </a:solidFill>
          <a:ln w="12700">
            <a:solidFill>
              <a:srgbClr val="B7C3CC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7360920" y="3158338"/>
            <a:ext cx="3913632" cy="10973"/>
          </a:xfrm>
          <a:prstGeom prst="rect">
            <a:avLst/>
          </a:prstGeom>
          <a:solidFill>
            <a:srgbClr val="B7C3CC"/>
          </a:solidFill>
          <a:ln w="12700">
            <a:solidFill>
              <a:srgbClr val="B7C3CC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7360920" y="1645920"/>
            <a:ext cx="3913632" cy="3035808"/>
          </a:xfrm>
          <a:prstGeom prst="rect">
            <a:avLst/>
          </a:prstGeom>
          <a:ln w="9525">
            <a:solidFill>
              <a:srgbClr val="D9E0E6"/>
            </a:solidFill>
            <a:prstDash val="solid"/>
          </a:ln>
        </p:spPr>
      </p:sp>
      <p:sp>
        <p:nvSpPr>
          <p:cNvPr id="8" name="Text 19"/>
          <p:cNvSpPr/>
          <p:nvPr/>
        </p:nvSpPr>
        <p:spPr>
          <a:xfrm>
            <a:off x="7470648" y="1737360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SPEND / HIGH ACHIEVEMENT</a:t>
            </a:r>
            <a:endParaRPr lang="en-US" sz="900" dirty="0"/>
          </a:p>
          <a:p>
            <a:pPr marL="0" indent="0">
              <a:buNone/>
            </a:pPr>
            <a:r>
              <a:rPr lang="en-US" sz="900" b="1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 - protect and consider investing</a:t>
            </a:r>
            <a:endParaRPr lang="en-US" sz="900" dirty="0"/>
          </a:p>
        </p:txBody>
      </p:sp>
      <p:sp>
        <p:nvSpPr>
          <p:cNvPr id="24" name="Text 20"/>
          <p:cNvSpPr/>
          <p:nvPr/>
        </p:nvSpPr>
        <p:spPr>
          <a:xfrm>
            <a:off x="9427464" y="1737360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SPEND / HIGH ACHIEVEMENT</a:t>
            </a:r>
            <a:endParaRPr lang="en-US" sz="900" dirty="0"/>
          </a:p>
          <a:p>
            <a:pPr marL="0" indent="0">
              <a:buNone/>
            </a:pPr>
            <a:r>
              <a:rPr lang="en-US" sz="900" b="1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- validate the return level</a:t>
            </a:r>
            <a:endParaRPr lang="en-US" sz="900" dirty="0"/>
          </a:p>
        </p:txBody>
      </p:sp>
      <p:sp>
        <p:nvSpPr>
          <p:cNvPr id="25" name="Text 21"/>
          <p:cNvSpPr/>
          <p:nvPr/>
        </p:nvSpPr>
        <p:spPr>
          <a:xfrm>
            <a:off x="7470648" y="3255264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SPEND / LOW ACHIEVEMENT</a:t>
            </a:r>
            <a:endParaRPr lang="en-US" sz="900" dirty="0"/>
          </a:p>
          <a:p>
            <a:pPr marL="0" indent="0">
              <a:buNone/>
            </a:pPr>
            <a:r>
              <a:rPr lang="en-US" sz="900" b="1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Under-supported - decide invest or exit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9427464" y="3255264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SPEND / LOW ACHIEVEMENT</a:t>
            </a:r>
            <a:endParaRPr lang="en-US" sz="900" dirty="0"/>
          </a:p>
          <a:p>
            <a:pPr marL="0" indent="0">
              <a:buNone/>
            </a:pPr>
            <a:r>
              <a:rPr lang="en-US" sz="900" b="1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Inefficient - reallocate the budget</a:t>
            </a:r>
            <a:endParaRPr lang="en-US" sz="900" dirty="0"/>
          </a:p>
        </p:txBody>
      </p:sp>
      <p:sp>
        <p:nvSpPr>
          <p:cNvPr id="27" name="Shape 23"/>
          <p:cNvSpPr/>
          <p:nvPr/>
        </p:nvSpPr>
        <p:spPr>
          <a:xfrm>
            <a:off x="8309884" y="2366650"/>
            <a:ext cx="137160" cy="137160"/>
          </a:xfrm>
          <a:prstGeom prst="ellipse">
            <a:avLst/>
          </a:prstGeom>
          <a:solidFill>
            <a:srgbClr val="0A57A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8469904" y="2330074"/>
            <a:ext cx="12344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[PRODUCT 1]</a:t>
            </a:r>
            <a:endParaRPr lang="en-US" sz="850" dirty="0"/>
          </a:p>
        </p:txBody>
      </p:sp>
      <p:sp>
        <p:nvSpPr>
          <p:cNvPr id="29" name="Shape 25"/>
          <p:cNvSpPr/>
          <p:nvPr/>
        </p:nvSpPr>
        <p:spPr>
          <a:xfrm>
            <a:off x="10031882" y="2245218"/>
            <a:ext cx="137160" cy="137160"/>
          </a:xfrm>
          <a:prstGeom prst="ellipse">
            <a:avLst/>
          </a:prstGeom>
          <a:solidFill>
            <a:srgbClr val="0A57A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10191902" y="2208642"/>
            <a:ext cx="12344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[PRODUCT 2]</a:t>
            </a:r>
            <a:endParaRPr lang="en-US" sz="850" dirty="0"/>
          </a:p>
        </p:txBody>
      </p:sp>
      <p:sp>
        <p:nvSpPr>
          <p:cNvPr id="31" name="Shape 27"/>
          <p:cNvSpPr/>
          <p:nvPr/>
        </p:nvSpPr>
        <p:spPr>
          <a:xfrm>
            <a:off x="9953610" y="3823838"/>
            <a:ext cx="137160" cy="137160"/>
          </a:xfrm>
          <a:prstGeom prst="ellipse">
            <a:avLst/>
          </a:prstGeom>
          <a:solidFill>
            <a:srgbClr val="0A57A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10113630" y="3787262"/>
            <a:ext cx="12344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[PRODUCT 3]</a:t>
            </a:r>
            <a:endParaRPr lang="en-US" sz="850" dirty="0"/>
          </a:p>
        </p:txBody>
      </p:sp>
      <p:sp>
        <p:nvSpPr>
          <p:cNvPr id="33" name="Shape 29"/>
          <p:cNvSpPr/>
          <p:nvPr/>
        </p:nvSpPr>
        <p:spPr>
          <a:xfrm>
            <a:off x="8153339" y="3884554"/>
            <a:ext cx="137160" cy="137160"/>
          </a:xfrm>
          <a:prstGeom prst="ellipse">
            <a:avLst/>
          </a:prstGeom>
          <a:solidFill>
            <a:srgbClr val="0A57A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8313359" y="3847978"/>
            <a:ext cx="12344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[PRODUCT 4]</a:t>
            </a:r>
            <a:endParaRPr lang="en-US" sz="850" dirty="0"/>
          </a:p>
        </p:txBody>
      </p:sp>
      <p:sp>
        <p:nvSpPr>
          <p:cNvPr id="35" name="Text 31"/>
          <p:cNvSpPr/>
          <p:nvPr/>
        </p:nvSpPr>
        <p:spPr>
          <a:xfrm>
            <a:off x="7360920" y="4736592"/>
            <a:ext cx="3913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UTILIZATION %  →</a:t>
            </a:r>
            <a:endParaRPr lang="en-US" sz="900" dirty="0"/>
          </a:p>
        </p:txBody>
      </p:sp>
      <p:sp>
        <p:nvSpPr>
          <p:cNvPr id="36" name="Text 32"/>
          <p:cNvSpPr/>
          <p:nvPr/>
        </p:nvSpPr>
        <p:spPr>
          <a:xfrm>
            <a:off x="7360920" y="1408176"/>
            <a:ext cx="3913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 SALES ACHIEVEMENT %</a:t>
            </a:r>
            <a:endParaRPr lang="en-US" sz="900" dirty="0"/>
          </a:p>
        </p:txBody>
      </p:sp>
      <p:sp>
        <p:nvSpPr>
          <p:cNvPr id="37" name="Text 33"/>
          <p:cNvSpPr/>
          <p:nvPr/>
        </p:nvSpPr>
        <p:spPr>
          <a:xfrm>
            <a:off x="7360920" y="4992624"/>
            <a:ext cx="3913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Marker positions are illustrative only. Plot each product or line using its own utilization and achievement values.</a:t>
            </a:r>
            <a:endParaRPr lang="en-US" sz="7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ns3="http://schemas.microsoft.com/office/drawing/2014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10896"/>
            <a:ext cx="2136038" cy="274320"/>
          </a:xfrm>
          <a:prstGeom prst="roundRect">
            <a:avLst>
              <a:gd name="adj" fmla="val 16667"/>
            </a:avLst>
          </a:prstGeom>
          <a:solidFill>
            <a:srgbClr val="0A57A5"/>
          </a:solidFill>
          <a:ln w="12700">
            <a:solidFill>
              <a:srgbClr val="0A57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21360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CONCLUSIONS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02920" y="603504"/>
            <a:ext cx="8778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Business Gaps &amp; Opportunities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02920" y="1060704"/>
            <a:ext cx="8778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Consolidated findings across the four pillars</a:t>
            </a:r>
            <a:endParaRPr lang="en-US" sz="11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8323" y="0"/>
            <a:ext cx="1467612" cy="14676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626364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Semester 1 2026 Business Review  |  Cluster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11155680" y="626364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85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/>
        </p:nvGraphicFramePr>
        <p:xfrm>
          <a:off x="502920" y="1517904"/>
          <a:ext cx="11073384" cy="3072384"/>
        </p:xfrm>
        <a:graphic>
          <a:graphicData uri="http://schemas.openxmlformats.org/drawingml/2006/table">
            <a:tbl>
              <a:tblPr/>
              <a:tblGrid>
                <a:gridCol w="1325880">
                  <a:extLst>
                    <a:ext uri="{9D8B030D-6E8A-4147-A177-3AD203B41FA5}">
                      <ns3:colId val="20000"/>
                    </a:ext>
                  </a:extLst>
                </a:gridCol>
                <a:gridCol w="2834640">
                  <a:extLst>
                    <a:ext uri="{9D8B030D-6E8A-4147-A177-3AD203B41FA5}">
                      <ns3:colId val="20001"/>
                    </a:ext>
                  </a:extLst>
                </a:gridCol>
                <a:gridCol w="2834640">
                  <a:extLst>
                    <a:ext uri="{9D8B030D-6E8A-4147-A177-3AD203B41FA5}">
                      <ns3:colId val="20002"/>
                    </a:ext>
                  </a:extLst>
                </a:gridCol>
                <a:gridCol w="2798064">
                  <a:extLst>
                    <a:ext uri="{9D8B030D-6E8A-4147-A177-3AD203B41FA5}">
                      <ns3:colId val="20003"/>
                    </a:ext>
                  </a:extLst>
                </a:gridCol>
                <a:gridCol w="1280160">
                  <a:extLst>
                    <a:ext uri="{9D8B030D-6E8A-4147-A177-3AD203B41FA5}">
                      <ns3:colId val="20004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Pillar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Finding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Root Cause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Business Impact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extLst>
                  <a:ext uri="{0D108BD9-81ED-4DB2-BD59-A6C34878D82A}">
                    <ns3:rowId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0A57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PEOPLE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[KEY FINDING]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[ROOT CAUSE]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[BUSINESS IMPACT]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B337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FDC"/>
                    </a:solidFill>
                  </a:tcPr>
                </a:tc>
                <a:extLst>
                  <a:ext uri="{0D108BD9-81ED-4DB2-BD59-A6C34878D82A}">
                    <ns3:rowId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0A57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PEOPLE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[KEY FINDING]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[ROOT CAUSE]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[BUSINESS IMPACT]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C98A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FD8"/>
                    </a:solidFill>
                  </a:tcPr>
                </a:tc>
                <a:extLst>
                  <a:ext uri="{0D108BD9-81ED-4DB2-BD59-A6C34878D82A}">
                    <ns3:rowId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0A57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BUSINESS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[KEY FINDING]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[ROOT CAUSE]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[BUSINESS IMPACT]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B337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FDC"/>
                    </a:solidFill>
                  </a:tcPr>
                </a:tc>
                <a:extLst>
                  <a:ext uri="{0D108BD9-81ED-4DB2-BD59-A6C34878D82A}">
                    <ns3:rowId val="1000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0A57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BUSINESS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[KEY FINDING]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[ROOT CAUSE]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[BUSINESS IMPACT]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ns3:rowId val="10004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0A57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[KEY FINDING]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[ROOT CAUSE]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[BUSINESS IMPACT]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C98A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FD8"/>
                    </a:solidFill>
                  </a:tcPr>
                </a:tc>
                <a:extLst>
                  <a:ext uri="{0D108BD9-81ED-4DB2-BD59-A6C34878D82A}">
                    <ns3:rowId val="10005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0A57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BUDGET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[KEY FINDING]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[ROOT CAUSE]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[BUSINESS IMPACT]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C98A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FD8"/>
                    </a:solidFill>
                  </a:tcPr>
                </a:tc>
                <a:extLst>
                  <a:ext uri="{0D108BD9-81ED-4DB2-BD59-A6C34878D82A}">
                    <ns3:rowId val="10006"/>
                  </a:ext>
                </a:extLst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502920" y="4704588"/>
            <a:ext cx="109728" cy="109728"/>
          </a:xfrm>
          <a:prstGeom prst="ellipse">
            <a:avLst/>
          </a:prstGeom>
          <a:solidFill>
            <a:srgbClr val="B3372C"/>
          </a:solidFill>
          <a:ln w="12700">
            <a:solidFill>
              <a:srgbClr val="B3372C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658368" y="4663440"/>
            <a:ext cx="1481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850" dirty="0"/>
          </a:p>
        </p:txBody>
      </p:sp>
      <p:sp>
        <p:nvSpPr>
          <p:cNvPr id="12" name="Shape 8"/>
          <p:cNvSpPr/>
          <p:nvPr/>
        </p:nvSpPr>
        <p:spPr>
          <a:xfrm>
            <a:off x="1709928" y="4704588"/>
            <a:ext cx="109728" cy="109728"/>
          </a:xfrm>
          <a:prstGeom prst="ellipse">
            <a:avLst/>
          </a:prstGeom>
          <a:solidFill>
            <a:srgbClr val="C98A16"/>
          </a:solidFill>
          <a:ln w="12700">
            <a:solidFill>
              <a:srgbClr val="C98A16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1865376" y="4663440"/>
            <a:ext cx="9692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50" dirty="0"/>
          </a:p>
        </p:txBody>
      </p:sp>
      <p:sp>
        <p:nvSpPr>
          <p:cNvPr id="14" name="Shape 10"/>
          <p:cNvSpPr/>
          <p:nvPr/>
        </p:nvSpPr>
        <p:spPr>
          <a:xfrm>
            <a:off x="2642616" y="4704588"/>
            <a:ext cx="109728" cy="109728"/>
          </a:xfrm>
          <a:prstGeom prst="ellipse">
            <a:avLst/>
          </a:prstGeom>
          <a:solidFill>
            <a:srgbClr val="5E6E7C"/>
          </a:solidFill>
          <a:ln w="12700">
            <a:solidFill>
              <a:srgbClr val="5E6E7C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2798064" y="4663440"/>
            <a:ext cx="1225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850" dirty="0"/>
          </a:p>
        </p:txBody>
      </p:sp>
      <p:sp>
        <p:nvSpPr>
          <p:cNvPr id="16" name="Text 12"/>
          <p:cNvSpPr/>
          <p:nvPr/>
        </p:nvSpPr>
        <p:spPr>
          <a:xfrm>
            <a:off x="6949440" y="4663440"/>
            <a:ext cx="4736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i="1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row on this slide must appear as an action on slide 24.</a:t>
            </a:r>
            <a:endParaRPr lang="en-US" sz="800" dirty="0"/>
          </a:p>
        </p:txBody>
      </p:sp>
      <p:sp>
        <p:nvSpPr>
          <p:cNvPr id="17" name="Shape 13"/>
          <p:cNvSpPr/>
          <p:nvPr/>
        </p:nvSpPr>
        <p:spPr>
          <a:xfrm>
            <a:off x="502920" y="4956048"/>
            <a:ext cx="11185855" cy="1097280"/>
          </a:xfrm>
          <a:prstGeom prst="roundRect">
            <a:avLst>
              <a:gd name="adj" fmla="val 5833"/>
            </a:avLst>
          </a:prstGeom>
          <a:solidFill>
            <a:srgbClr val="E9F3FB"/>
          </a:solidFill>
          <a:ln w="9525">
            <a:solidFill>
              <a:srgbClr val="C9DFF1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640080" y="5047488"/>
            <a:ext cx="1091153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1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CONNECTED STORY</a:t>
            </a:r>
            <a:endParaRPr lang="en-US" sz="850" dirty="0"/>
          </a:p>
        </p:txBody>
      </p:sp>
      <p:sp>
        <p:nvSpPr>
          <p:cNvPr id="19" name="Text 15"/>
          <p:cNvSpPr/>
          <p:nvPr/>
        </p:nvSpPr>
        <p:spPr>
          <a:xfrm>
            <a:off x="640080" y="5230368"/>
            <a:ext cx="1091153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[State the causal chain explicitly. For example: vacancies reduced coverage, reduced coverage lowered right frequency in the priority segments, and that shows up as the market share loss on the affected products.]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ns3="http://schemas.microsoft.com/office/drawing/2014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20" dirty="0">
                <a:solidFill>
                  <a:srgbClr val="1E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CONCLUSIONS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8778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 2026 Action Plan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060704"/>
            <a:ext cx="8778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action is specific, measurable, owned and time-bound</a:t>
            </a:r>
            <a:endParaRPr lang="en-US" sz="11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8323" y="0"/>
            <a:ext cx="1467612" cy="14676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626364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Semester 1 2026 Business Review  |  Cluster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11155680" y="626364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85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/>
        </p:nvGraphicFramePr>
        <p:xfrm>
          <a:off x="502920" y="1426464"/>
          <a:ext cx="11183112" cy="3200400"/>
        </p:xfrm>
        <a:graphic>
          <a:graphicData uri="http://schemas.openxmlformats.org/drawingml/2006/table">
            <a:tbl>
              <a:tblPr/>
              <a:tblGrid>
                <a:gridCol w="1005840">
                  <a:extLst>
                    <a:ext uri="{9D8B030D-6E8A-4147-A177-3AD203B41FA5}">
                      <ns3:colId val="20000"/>
                    </a:ext>
                  </a:extLst>
                </a:gridCol>
                <a:gridCol w="1828800">
                  <a:extLst>
                    <a:ext uri="{9D8B030D-6E8A-4147-A177-3AD203B41FA5}">
                      <ns3:colId val="20001"/>
                    </a:ext>
                  </a:extLst>
                </a:gridCol>
                <a:gridCol w="1645920">
                  <a:extLst>
                    <a:ext uri="{9D8B030D-6E8A-4147-A177-3AD203B41FA5}">
                      <ns3:colId val="20002"/>
                    </a:ext>
                  </a:extLst>
                </a:gridCol>
                <a:gridCol w="2057400">
                  <a:extLst>
                    <a:ext uri="{9D8B030D-6E8A-4147-A177-3AD203B41FA5}">
                      <ns3:colId val="20003"/>
                    </a:ext>
                  </a:extLst>
                </a:gridCol>
                <a:gridCol w="914400">
                  <a:extLst>
                    <a:ext uri="{9D8B030D-6E8A-4147-A177-3AD203B41FA5}">
                      <ns3:colId val="20004"/>
                    </a:ext>
                  </a:extLst>
                </a:gridCol>
                <a:gridCol w="960120">
                  <a:extLst>
                    <a:ext uri="{9D8B030D-6E8A-4147-A177-3AD203B41FA5}">
                      <ns3:colId val="20005"/>
                    </a:ext>
                  </a:extLst>
                </a:gridCol>
                <a:gridCol w="1764792">
                  <a:extLst>
                    <a:ext uri="{9D8B030D-6E8A-4147-A177-3AD203B41FA5}">
                      <ns3:colId val="20006"/>
                    </a:ext>
                  </a:extLst>
                </a:gridCol>
                <a:gridCol w="1005840">
                  <a:extLst>
                    <a:ext uri="{9D8B030D-6E8A-4147-A177-3AD203B41FA5}">
                      <ns3:colId val="20007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Pillar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Issue / Opportunity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Root Cause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Deadline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KPI / Expected Impact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A5"/>
                    </a:solidFill>
                  </a:tcPr>
                </a:tc>
                <a:extLst>
                  <a:ext uri="{0D108BD9-81ED-4DB2-BD59-A6C34878D82A}">
                    <ns3:rowId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A57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PEOPLE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[ISSUE / OPPORTUNITY]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[ROOT CAUSE]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[SPECIFIC ACTION]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[OWNER]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[DD/MM/2026]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[KPI AND TARGET]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[NOT STARTED]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3:rowId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[ISSUE / OPPORTUNITY]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[ROOT CAUSE]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[SPECIFIC ACTION]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[OWNER]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[DD/MM/2026]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[KPI AND TARGET]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[NOT STARTED]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ns3:rowId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A57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BUSINESS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[ISSUE / OPPORTUNITY]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[ROOT CAUSE]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[SPECIFIC ACTION]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[OWNER]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[DD/MM/2026]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[KPI AND TARGET]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[NOT STARTED]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3:rowId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[ISSUE / OPPORTUNITY]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[ROOT CAUSE]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[SPECIFIC ACTION]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[OWNER]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[DD/MM/2026]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[KPI AND TARGET]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[NOT STARTED]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ns3:rowId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A57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[ISSUE / OPPORTUNITY]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[ROOT CAUSE]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[SPECIFIC ACTION]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[OWNER]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[DD/MM/2026]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[KPI AND TARGET]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[NOT STARTED]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3:rowId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A57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BUDGET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[ISSUE / OPPORTUNITY]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[ROOT CAUSE]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[SPECIFIC ACTION]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[OWNER]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[DD/MM/2026]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[KPI AND TARGET]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5E6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[NOT STARTED]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ns3:rowId val="10006"/>
                  </a:ext>
                </a:extLst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502920" y="4718304"/>
            <a:ext cx="7680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rows as required. Actions must trace directly to the findings on slide 23 - avoid generic improvement statements.</a:t>
            </a:r>
            <a:endParaRPr lang="en-US" sz="800" dirty="0"/>
          </a:p>
        </p:txBody>
      </p:sp>
      <p:sp>
        <p:nvSpPr>
          <p:cNvPr id="10" name="Shape 6"/>
          <p:cNvSpPr/>
          <p:nvPr/>
        </p:nvSpPr>
        <p:spPr>
          <a:xfrm>
            <a:off x="8503920" y="4741164"/>
            <a:ext cx="109728" cy="109728"/>
          </a:xfrm>
          <a:prstGeom prst="ellipse">
            <a:avLst/>
          </a:prstGeom>
          <a:solidFill>
            <a:srgbClr val="5E6E7C"/>
          </a:solidFill>
          <a:ln w="12700">
            <a:solidFill>
              <a:srgbClr val="5E6E7C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8659368" y="4700016"/>
            <a:ext cx="1865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Started</a:t>
            </a:r>
            <a:endParaRPr lang="en-US" sz="800" dirty="0"/>
          </a:p>
        </p:txBody>
      </p:sp>
      <p:sp>
        <p:nvSpPr>
          <p:cNvPr id="12" name="Shape 8"/>
          <p:cNvSpPr/>
          <p:nvPr/>
        </p:nvSpPr>
        <p:spPr>
          <a:xfrm>
            <a:off x="9916668" y="4741164"/>
            <a:ext cx="109728" cy="109728"/>
          </a:xfrm>
          <a:prstGeom prst="ellipse">
            <a:avLst/>
          </a:prstGeom>
          <a:solidFill>
            <a:srgbClr val="C98A16"/>
          </a:solidFill>
          <a:ln w="12700">
            <a:solidFill>
              <a:srgbClr val="C98A16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10072116" y="4700016"/>
            <a:ext cx="1865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800" dirty="0"/>
          </a:p>
        </p:txBody>
      </p:sp>
      <p:sp>
        <p:nvSpPr>
          <p:cNvPr id="14" name="Shape 10"/>
          <p:cNvSpPr/>
          <p:nvPr/>
        </p:nvSpPr>
        <p:spPr>
          <a:xfrm>
            <a:off x="11329416" y="4741164"/>
            <a:ext cx="109728" cy="109728"/>
          </a:xfrm>
          <a:prstGeom prst="ellipse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11484864" y="4700016"/>
            <a:ext cx="1609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800" dirty="0"/>
          </a:p>
        </p:txBody>
      </p:sp>
      <p:sp>
        <p:nvSpPr>
          <p:cNvPr id="16" name="Shape 12"/>
          <p:cNvSpPr/>
          <p:nvPr/>
        </p:nvSpPr>
        <p:spPr>
          <a:xfrm>
            <a:off x="502920" y="5029200"/>
            <a:ext cx="11185855" cy="1005840"/>
          </a:xfrm>
          <a:prstGeom prst="roundRect">
            <a:avLst>
              <a:gd name="adj" fmla="val 6364"/>
            </a:avLst>
          </a:prstGeom>
          <a:solidFill>
            <a:srgbClr val="E9F3FB"/>
          </a:solidFill>
          <a:ln w="9525">
            <a:solidFill>
              <a:srgbClr val="C9DFF1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40080" y="5120640"/>
            <a:ext cx="1091153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1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CADENCE</a:t>
            </a:r>
            <a:endParaRPr lang="en-US" sz="850" dirty="0"/>
          </a:p>
        </p:txBody>
      </p:sp>
      <p:sp>
        <p:nvSpPr>
          <p:cNvPr id="18" name="Text 14"/>
          <p:cNvSpPr/>
          <p:nvPr/>
        </p:nvSpPr>
        <p:spPr>
          <a:xfrm>
            <a:off x="640080" y="5303520"/>
            <a:ext cx="1091153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[How and when will progress against this plan be reviewed - monthly business review, S2 checkpoint, year-end]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20" dirty="0">
                <a:solidFill>
                  <a:srgbClr val="1E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CONCLUSIONS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8778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CEO Decisions &amp; Support Required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060704"/>
            <a:ext cx="8778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need from senior management, and what this Business Unit commits to deliver</a:t>
            </a:r>
            <a:endParaRPr lang="en-US" sz="11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8323" y="0"/>
            <a:ext cx="1467612" cy="14676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626364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Semester 1 2026 Business Review  |  Cluster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11155680" y="626364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502920" y="1463040"/>
            <a:ext cx="5455768" cy="2084832"/>
          </a:xfrm>
          <a:prstGeom prst="roundRect">
            <a:avLst>
              <a:gd name="adj" fmla="val 3070"/>
            </a:avLst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  <a:effectLst>
            <a:outerShdw blurRad="101600" dist="12700" dir="5400000" algn="bl" rotWithShape="0">
              <a:srgbClr val="0A57A5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22376" y="1591056"/>
            <a:ext cx="5016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20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REQUIRED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22376" y="1828800"/>
            <a:ext cx="5016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decisions are required from senior management?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740664" y="2121408"/>
            <a:ext cx="498028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[DECISION 1]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[DECISION 2]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[DECISION 3]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233008" y="1463040"/>
            <a:ext cx="5455768" cy="2084832"/>
          </a:xfrm>
          <a:prstGeom prst="roundRect">
            <a:avLst>
              <a:gd name="adj" fmla="val 3070"/>
            </a:avLst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  <a:effectLst>
            <a:outerShdw blurRad="101600" dist="12700" dir="5400000" algn="bl" rotWithShape="0">
              <a:srgbClr val="0A57A5">
                <a:alpha val="1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6452464" y="1591056"/>
            <a:ext cx="5016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20" dirty="0">
                <a:solidFill>
                  <a:srgbClr val="0A5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REQUIRED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452464" y="1828800"/>
            <a:ext cx="5016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support or resources are needed?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6470752" y="2121408"/>
            <a:ext cx="498028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[SUPPORT / RESOURCE 1]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[SUPPORT / RESOURCE 2]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[SUPPORT / RESOURCE 3]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02920" y="3712464"/>
            <a:ext cx="11185855" cy="2340864"/>
          </a:xfrm>
          <a:prstGeom prst="roundRect">
            <a:avLst>
              <a:gd name="adj" fmla="val 2734"/>
            </a:avLst>
          </a:prstGeom>
          <a:solidFill>
            <a:srgbClr val="0A57A5"/>
          </a:solidFill>
          <a:ln w="9525">
            <a:solidFill>
              <a:srgbClr val="0A57A5"/>
            </a:solidFill>
            <a:prstDash val="solid"/>
          </a:ln>
          <a:effectLst>
            <a:outerShdw blurRad="101600" dist="12700" dir="5400000" algn="bl" rotWithShape="0">
              <a:srgbClr val="0A57A5">
                <a:alpha val="10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758952" y="387705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60" dirty="0">
                <a:solidFill>
                  <a:srgbClr val="1E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 2026 COMMITMENTS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758952" y="413308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AEC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Business Unit commits to deliver by year-end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758952" y="4480560"/>
            <a:ext cx="2017715" cy="1298448"/>
          </a:xfrm>
          <a:prstGeom prst="roundRect">
            <a:avLst>
              <a:gd name="adj" fmla="val 4225"/>
            </a:avLst>
          </a:prstGeom>
          <a:solidFill>
            <a:srgbClr val="06376B"/>
          </a:solidFill>
          <a:ln w="9525">
            <a:solidFill>
              <a:srgbClr val="1E436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905256" y="45902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905256" y="4901184"/>
            <a:ext cx="1725107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[COMMITMENT 1 - measurable and dated]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2922971" y="4480560"/>
            <a:ext cx="2017715" cy="1298448"/>
          </a:xfrm>
          <a:prstGeom prst="roundRect">
            <a:avLst>
              <a:gd name="adj" fmla="val 4225"/>
            </a:avLst>
          </a:prstGeom>
          <a:solidFill>
            <a:srgbClr val="06376B"/>
          </a:solidFill>
          <a:ln w="9525">
            <a:solidFill>
              <a:srgbClr val="1E436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069275" y="45902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3069275" y="4901184"/>
            <a:ext cx="1725107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[COMMITMENT 2 - measurable and dated]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5086990" y="4480560"/>
            <a:ext cx="2017715" cy="1298448"/>
          </a:xfrm>
          <a:prstGeom prst="roundRect">
            <a:avLst>
              <a:gd name="adj" fmla="val 4225"/>
            </a:avLst>
          </a:prstGeom>
          <a:solidFill>
            <a:srgbClr val="06376B"/>
          </a:solidFill>
          <a:ln w="9525">
            <a:solidFill>
              <a:srgbClr val="1E4368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233294" y="45902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5233294" y="4901184"/>
            <a:ext cx="1725107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[COMMITMENT 3 - measurable and dated]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7251009" y="4480560"/>
            <a:ext cx="2017715" cy="1298448"/>
          </a:xfrm>
          <a:prstGeom prst="roundRect">
            <a:avLst>
              <a:gd name="adj" fmla="val 4225"/>
            </a:avLst>
          </a:prstGeom>
          <a:solidFill>
            <a:srgbClr val="06376B"/>
          </a:solidFill>
          <a:ln w="9525">
            <a:solidFill>
              <a:srgbClr val="1E4368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397313" y="45902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30" name="Text 27"/>
          <p:cNvSpPr/>
          <p:nvPr/>
        </p:nvSpPr>
        <p:spPr>
          <a:xfrm>
            <a:off x="7397313" y="4901184"/>
            <a:ext cx="1725107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[COMMITMENT 4 - optional]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9415028" y="4480560"/>
            <a:ext cx="2017715" cy="1298448"/>
          </a:xfrm>
          <a:prstGeom prst="roundRect">
            <a:avLst>
              <a:gd name="adj" fmla="val 4225"/>
            </a:avLst>
          </a:prstGeom>
          <a:solidFill>
            <a:srgbClr val="06376B"/>
          </a:solidFill>
          <a:ln w="9525">
            <a:solidFill>
              <a:srgbClr val="1E4368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9561332" y="45902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33" name="Text 30"/>
          <p:cNvSpPr/>
          <p:nvPr/>
        </p:nvSpPr>
        <p:spPr>
          <a:xfrm>
            <a:off x="9561332" y="4901184"/>
            <a:ext cx="1725107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[COMMITMENT 5 - optional]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789</TotalTime>
  <Words>4756</Words>
  <Application>Microsoft Office PowerPoint</Application>
  <PresentationFormat>Widescreen</PresentationFormat>
  <Paragraphs>1063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[COMPANY NAME]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Semester 1 2026 Business Review - BU Template</dc:title>
  <dc:subject>Standardized CEO-level Business Review framework</dc:subject>
  <dc:creator>Business Unit Management</dc:creator>
  <cp:lastModifiedBy>Ahmed Hamid</cp:lastModifiedBy>
  <cp:revision>6</cp:revision>
  <dcterms:created xsi:type="dcterms:W3CDTF">2026-08-02T14:24:58Z</dcterms:created>
  <dcterms:modified xsi:type="dcterms:W3CDTF">2026-08-10T12:06:53Z</dcterms:modified>
</cp:coreProperties>
</file>