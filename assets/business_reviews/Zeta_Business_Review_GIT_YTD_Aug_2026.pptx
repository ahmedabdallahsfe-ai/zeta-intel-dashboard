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9" r:id="rId12"/>
    <p:sldId id="271" r:id="rId13"/>
    <p:sldId id="270" r:id="rId14"/>
    <p:sldId id="272" r:id="rId15"/>
    <p:sldId id="264" r:id="rId8"/>
    <p:sldId id="281" r:id="rId29"/>
    <p:sldId id="265" r:id="rId9"/>
    <p:sldId id="266" r:id="rId10"/>
    <p:sldId id="267" r:id="rId11"/>
    <p:sldId id="273" r:id="rId16"/>
    <p:sldId id="274" r:id="rId17"/>
    <p:sldId id="275" r:id="rId18"/>
    <p:sldId id="259" r:id="rId4"/>
    <p:sldId id="260" r:id="rId5"/>
    <p:sldId id="263" r:id="rId7"/>
    <p:sldId id="262" r:id="rId6"/>
    <p:sldId id="276" r:id="rId19"/>
    <p:sldId id="277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Budgeted HC</c:v>
                </c:pt>
              </c:strCache>
            </c:strRef>
          </c:tx>
          <c:spPr>
            <a:solidFill>
              <a:srgbClr val="AEC0C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GIT-I (6% vac.)</c:v>
                </c:pt>
                <c:pt idx="1">
                  <c:v>GIT-II (8% vac.)</c:v>
                </c:pt>
                <c:pt idx="2">
                  <c:v>GIT-III (9% vac.)</c:v>
                </c:pt>
                <c:pt idx="3">
                  <c:v>Derma (14% vac.)</c:v>
                </c:pt>
                <c:pt idx="4">
                  <c:v>Neuroscience (4% vac.)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65</c:v>
                </c:pt>
                <c:pt idx="2">
                  <c:v>53</c:v>
                </c:pt>
                <c:pt idx="3">
                  <c:v>36</c:v>
                </c:pt>
                <c:pt idx="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E-4F0E-A39A-C6CBA2D74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HC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GIT-I (6% vac.)</c:v>
                </c:pt>
                <c:pt idx="1">
                  <c:v>GIT-II (8% vac.)</c:v>
                </c:pt>
                <c:pt idx="2">
                  <c:v>GIT-III (9% vac.)</c:v>
                </c:pt>
                <c:pt idx="3">
                  <c:v>Derma (14% vac.)</c:v>
                </c:pt>
                <c:pt idx="4">
                  <c:v>Neuroscience (4% vac.)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</c:v>
                </c:pt>
                <c:pt idx="1">
                  <c:v>60</c:v>
                </c:pt>
                <c:pt idx="2">
                  <c:v>48</c:v>
                </c:pt>
                <c:pt idx="3">
                  <c:v>31</c:v>
                </c:pt>
                <c:pt idx="4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0E-4F0E-A39A-C6CBA2D741E9}"/>
            </c:ext>
          </c:extLst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C3C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/ Head (M EGP)</c:v>
                </c:pt>
              </c:strCache>
            </c:strRef>
          </c:tx>
          <c:spPr>
            <a:solidFill>
              <a:srgbClr val="AEC0CE"/>
            </a:solidFill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sz="8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TOTAL BU</c:v>
                </c:pt>
                <c:pt idx="1">
                  <c:v>GIT-I</c:v>
                </c:pt>
                <c:pt idx="2">
                  <c:v>GIT-II</c:v>
                </c:pt>
                <c:pt idx="3">
                  <c:v>GIT-III</c:v>
                </c:pt>
                <c:pt idx="4">
                  <c:v>Derma</c:v>
                </c:pt>
                <c:pt idx="5">
                  <c:v>Neuroscience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2.28</c:v>
                </c:pt>
                <c:pt idx="1">
                  <c:v>4.95</c:v>
                </c:pt>
                <c:pt idx="2">
                  <c:v>2.64</c:v>
                </c:pt>
                <c:pt idx="3">
                  <c:v>0.28</c:v>
                </c:pt>
                <c:pt idx="4">
                  <c:v>0.77</c:v>
                </c:pt>
                <c:pt idx="5">
                  <c:v>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C-4927-AD7B-6EE2DFC34A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/ Head (M EGP)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sz="8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TOTAL BU</c:v>
                </c:pt>
                <c:pt idx="1">
                  <c:v>GIT-I</c:v>
                </c:pt>
                <c:pt idx="2">
                  <c:v>GIT-II</c:v>
                </c:pt>
                <c:pt idx="3">
                  <c:v>GIT-III</c:v>
                </c:pt>
                <c:pt idx="4">
                  <c:v>Derma</c:v>
                </c:pt>
                <c:pt idx="5">
                  <c:v>Neuroscience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2.69</c:v>
                </c:pt>
                <c:pt idx="1">
                  <c:v>6.46</c:v>
                </c:pt>
                <c:pt idx="2">
                  <c:v>2.67</c:v>
                </c:pt>
                <c:pt idx="3">
                  <c:v>0.43</c:v>
                </c:pt>
                <c:pt idx="4">
                  <c:v>0.49</c:v>
                </c:pt>
                <c:pt idx="5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C-4927-AD7B-6EE2DFC34AC1}"/>
            </c:ext>
          </c:extLst>
        </c:ser>
        <c:dLbls>
          <c:numFmt formatCode="0.00&quot;M&quot;" sourceLinked="0"/>
          <c:txPr>
            <a:bodyPr/>
            <a:lstStyle/>
            <a:p>
              <a:pPr>
                <a:defRPr sz="8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C3C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YTD Aug 2025</c:v>
                </c:pt>
              </c:strCache>
            </c:strRef>
          </c:tx>
          <c:spPr>
            <a:solidFill>
              <a:srgbClr val="AEC0CE"/>
            </a:solidFill>
            <a:effectLst/>
          </c:spPr>
          <c:invertIfNegative val="0"/>
          <c:dLbls>
            <c:numFmt formatCode="#,##0&quot;M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TOTAL GIT</c:v>
                </c:pt>
                <c:pt idx="1">
                  <c:v>GIT-I</c:v>
                </c:pt>
                <c:pt idx="2">
                  <c:v>GIT-II</c:v>
                </c:pt>
                <c:pt idx="3">
                  <c:v>GIT-III</c:v>
                </c:pt>
                <c:pt idx="4">
                  <c:v>Derma</c:v>
                </c:pt>
                <c:pt idx="5">
                  <c:v>Neuroscience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1208.2</c:v>
                </c:pt>
                <c:pt idx="1">
                  <c:v>901.8</c:v>
                </c:pt>
                <c:pt idx="2">
                  <c:v>102.9</c:v>
                </c:pt>
                <c:pt idx="3">
                  <c:v>67.3</c:v>
                </c:pt>
                <c:pt idx="4">
                  <c:v>118.2</c:v>
                </c:pt>
                <c:pt idx="5">
                  <c:v>18.1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15-4B05-8EB5-3FB2BCEA4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YTD Aug 2026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&quot;M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TOTAL GIT</c:v>
                </c:pt>
                <c:pt idx="1">
                  <c:v>GIT-I</c:v>
                </c:pt>
                <c:pt idx="2">
                  <c:v>GIT-II</c:v>
                </c:pt>
                <c:pt idx="3">
                  <c:v>GIT-III</c:v>
                </c:pt>
                <c:pt idx="4">
                  <c:v>Derma</c:v>
                </c:pt>
                <c:pt idx="5">
                  <c:v>Neuroscience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1351.5</c:v>
                </c:pt>
                <c:pt idx="1">
                  <c:v>975.1</c:v>
                </c:pt>
                <c:pt idx="2">
                  <c:v>160.0</c:v>
                </c:pt>
                <c:pt idx="3">
                  <c:v>84.6</c:v>
                </c:pt>
                <c:pt idx="4">
                  <c:v>102.3</c:v>
                </c:pt>
                <c:pt idx="5">
                  <c:v>29.5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15-4B05-8EB5-3FB2BCEA4DB7}"/>
            </c:ext>
          </c:extLst>
        </c:ser>
        <c:dLbls>
          <c:numFmt formatCode="#,##0&quot;M&quot;" sourceLinked="0"/>
          <c:txPr>
            <a:bodyPr/>
            <a:lstStyle/>
            <a:p>
              <a:pPr>
                <a:defRPr sz="7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C3C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Index (SU)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dPt>
            <c:idx val="0"/>
            <c:spPr>
              <a:solidFill>
                <a:srgbClr val="2E7D4F"/>
              </a:solidFill>
            </c:spPr>
          </c:dPt>
          <c:dPt>
            <c:idx val="1"/>
            <c:spPr>
              <a:solidFill>
                <a:srgbClr val="2E7D4F"/>
              </a:solidFill>
            </c:spPr>
          </c:dPt>
          <c:dPt>
            <c:idx val="2"/>
            <c:spPr>
              <a:solidFill>
                <a:srgbClr val="2E7D4F"/>
              </a:solidFill>
            </c:spPr>
          </c:dPt>
          <c:dPt>
            <c:idx val="3"/>
            <c:spPr>
              <a:solidFill>
                <a:srgbClr val="B3372C"/>
              </a:solidFill>
            </c:spPr>
          </c:dPt>
          <c:dPt>
            <c:idx val="4"/>
            <c:spPr>
              <a:solidFill>
                <a:srgbClr val="2E7D4F"/>
              </a:solidFill>
            </c:spPr>
          </c:dPt>
          <c:dPt>
            <c:idx val="5"/>
            <c:spPr>
              <a:solidFill>
                <a:srgbClr val="2E7D4F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8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TOTAL GIT
Mkt +12% · Zeta +69%</c:v>
                </c:pt>
                <c:pt idx="1">
                  <c:v>GIT-I
Mkt +8% · Zeta +54%</c:v>
                </c:pt>
                <c:pt idx="2">
                  <c:v>GIT-II
Mkt +56% · Zeta +104%</c:v>
                </c:pt>
                <c:pt idx="3">
                  <c:v>GIT-III
Mkt +26% · Zeta new</c:v>
                </c:pt>
                <c:pt idx="4">
                  <c:v>Derma
Mkt -14% · Zeta +40%</c:v>
                </c:pt>
                <c:pt idx="5">
                  <c:v>Neuroscience
Mkt +63% · Zeta +445%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151</c:v>
                </c:pt>
                <c:pt idx="1">
                  <c:v>142</c:v>
                </c:pt>
                <c:pt idx="2">
                  <c:v>131</c:v>
                </c:pt>
                <c:pt idx="4">
                  <c:v>162</c:v>
                </c:pt>
                <c:pt idx="5">
                  <c:v>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6-42FF-B9A8-1EA3D4FF66D6}"/>
            </c:ext>
          </c:extLst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C3C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Index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Pt>
            <c:idx val="0"/>
            <c:spPr>
              <a:solidFill>
                <a:srgbClr val="B3372C"/>
              </a:solidFill>
            </c:spPr>
          </c:dPt>
          <c:dPt>
            <c:idx val="1"/>
            <c:spPr>
              <a:solidFill>
                <a:srgbClr val="B3372C"/>
              </a:solidFill>
            </c:spPr>
          </c:dPt>
          <c:dPt>
            <c:idx val="2"/>
            <c:spPr>
              <a:solidFill>
                <a:srgbClr val="B3372C"/>
              </a:solidFill>
            </c:spPr>
          </c:dPt>
          <c:dPt>
            <c:idx val="3"/>
            <c:spPr>
              <a:solidFill>
                <a:srgbClr val="B3372C"/>
              </a:solidFill>
            </c:spPr>
          </c:dPt>
          <c:dPt>
            <c:idx val="4"/>
            <c:spPr>
              <a:solidFill>
                <a:srgbClr val="B3372C"/>
              </a:solidFill>
            </c:spPr>
          </c:dPt>
          <c:dPt>
            <c:idx val="5"/>
            <c:spPr>
              <a:solidFill>
                <a:srgbClr val="B3372C"/>
              </a:solidFill>
            </c:spPr>
          </c:dPt>
          <c:dPt>
            <c:idx val="6"/>
            <c:spPr>
              <a:solidFill>
                <a:srgbClr val="B3372C"/>
              </a:solidFill>
            </c:spPr>
          </c:dPt>
          <c:dPt>
            <c:idx val="7"/>
            <c:spPr>
              <a:solidFill>
                <a:srgbClr val="2E7D4F"/>
              </a:solidFill>
            </c:spPr>
          </c:dPt>
          <c:dPt>
            <c:idx val="8"/>
            <c:spPr>
              <a:solidFill>
                <a:srgbClr val="2E7D4F"/>
              </a:solidFill>
            </c:spPr>
          </c:dPt>
          <c:dPt>
            <c:idx val="9"/>
            <c:spPr>
              <a:solidFill>
                <a:srgbClr val="2E7D4F"/>
              </a:solidFill>
            </c:spPr>
          </c:dPt>
          <c:dPt>
            <c:idx val="10"/>
            <c:spPr>
              <a:solidFill>
                <a:srgbClr val="2E7D4F"/>
              </a:solidFill>
            </c:spPr>
          </c:dPt>
          <c:dPt>
            <c:idx val="11"/>
            <c:spPr>
              <a:solidFill>
                <a:srgbClr val="2E7D4F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8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DUXNORZET  – new, no LY</c:v>
                </c:pt>
                <c:pt idx="1">
                  <c:v>EPILOSAMIDE  – new, no LY</c:v>
                </c:pt>
                <c:pt idx="2">
                  <c:v>NEXICURE PLUS (caps)  – new, no LY</c:v>
                </c:pt>
                <c:pt idx="3">
                  <c:v>NEXICURE PLUS (sachets)  – new, no LY</c:v>
                </c:pt>
                <c:pt idx="4">
                  <c:v>VORTAXMODE  – new, no LY</c:v>
                </c:pt>
                <c:pt idx="5">
                  <c:v>PRUCANETIC  – new, no LY</c:v>
                </c:pt>
                <c:pt idx="6">
                  <c:v>ULCEBISMO  – new, no LY</c:v>
                </c:pt>
                <c:pt idx="7">
                  <c:v>MEDIHYALO</c:v>
                </c:pt>
                <c:pt idx="8">
                  <c:v>VONSECA</c:v>
                </c:pt>
                <c:pt idx="9">
                  <c:v>NEXICURE</c:v>
                </c:pt>
                <c:pt idx="10">
                  <c:v>BILASTIGEC</c:v>
                </c:pt>
                <c:pt idx="11">
                  <c:v>ZETAZOLEX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7">
                  <c:v>107</c:v>
                </c:pt>
                <c:pt idx="8">
                  <c:v>128</c:v>
                </c:pt>
                <c:pt idx="9">
                  <c:v>142</c:v>
                </c:pt>
                <c:pt idx="10">
                  <c:v>162</c:v>
                </c:pt>
                <c:pt idx="11">
                  <c:v>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4-4DA3-BAD5-B3C5F8F7B8B0}"/>
            </c:ext>
          </c:extLst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7C3C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 added (M)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dLbls>
            <c:numFmt formatCode="+0.0&quot;M&quot;" sourceLinked="0"/>
            <c:txPr>
              <a:bodyPr/>
              <a:lstStyle/>
              <a:p>
                <a:pPr>
                  <a:defRPr sz="8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VONOPRAVIN (UTOPIA)</c:v>
                </c:pt>
                <c:pt idx="1">
                  <c:v>ZURCAL (AUG PHARMA)</c:v>
                </c:pt>
                <c:pt idx="2">
                  <c:v>VONASPIRE (INSPIRE PHARMA)</c:v>
                </c:pt>
                <c:pt idx="3">
                  <c:v>DOWNOPRAZOL (UTOPIA)</c:v>
                </c:pt>
                <c:pt idx="4">
                  <c:v>CONTROLOC (ACINO)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11.9</c:v>
                </c:pt>
                <c:pt idx="1">
                  <c:v>12.5</c:v>
                </c:pt>
                <c:pt idx="2">
                  <c:v>15.5</c:v>
                </c:pt>
                <c:pt idx="3">
                  <c:v>16.9</c:v>
                </c:pt>
                <c:pt idx="4">
                  <c:v>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7-4E32-97A9-DC62E8F1DA8F}"/>
            </c:ext>
          </c:extLst>
        </c:ser>
        <c:dLbls>
          <c:numFmt formatCode="+0.0&quot;M&quot;" sourceLinked="0"/>
          <c:txPr>
            <a:bodyPr/>
            <a:lstStyle/>
            <a:p>
              <a:pPr>
                <a:defRPr sz="8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7C3C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EC0CE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55.4</c:v>
                </c:pt>
                <c:pt idx="1">
                  <c:v>59.2</c:v>
                </c:pt>
                <c:pt idx="2">
                  <c:v>65.2</c:v>
                </c:pt>
                <c:pt idx="3">
                  <c:v>70.6</c:v>
                </c:pt>
                <c:pt idx="4">
                  <c:v>69.1</c:v>
                </c:pt>
                <c:pt idx="5">
                  <c:v>79.3</c:v>
                </c:pt>
                <c:pt idx="6">
                  <c:v>76.0</c:v>
                </c:pt>
                <c:pt idx="7">
                  <c:v>79.2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D3-4B61-B394-E71754974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34.5</c:v>
                </c:pt>
                <c:pt idx="1">
                  <c:v>69.3</c:v>
                </c:pt>
                <c:pt idx="2">
                  <c:v>106.7</c:v>
                </c:pt>
                <c:pt idx="3">
                  <c:v>39.4</c:v>
                </c:pt>
                <c:pt idx="4">
                  <c:v>84.4</c:v>
                </c:pt>
                <c:pt idx="5">
                  <c:v>93.1</c:v>
                </c:pt>
                <c:pt idx="6">
                  <c:v>76.2</c:v>
                </c:pt>
                <c:pt idx="7">
                  <c:v>97.1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D3-4B61-B394-E71754974059}"/>
            </c:ext>
          </c:extLst>
        </c:ser>
        <c:dLbls>
          <c:numFmt formatCode="0&quot;M&quot;" sourceLinked="0"/>
          <c:txPr>
            <a:bodyPr/>
            <a:lstStyle/>
            <a:p>
              <a:pPr>
                <a:defRPr sz="7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C3C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Pt>
            <c:idx val="0"/>
            <c:spPr>
              <a:solidFill>
                <a:srgbClr val="B3372C"/>
              </a:solidFill>
            </c:spPr>
          </c:dPt>
          <c:dPt>
            <c:idx val="1"/>
            <c:spPr>
              <a:solidFill>
                <a:srgbClr val="B3372C"/>
              </a:solidFill>
            </c:spPr>
          </c:dPt>
          <c:dPt>
            <c:idx val="2"/>
            <c:spPr>
              <a:solidFill>
                <a:srgbClr val="B3372C"/>
              </a:solidFill>
            </c:spPr>
          </c:dPt>
          <c:dPt>
            <c:idx val="3"/>
            <c:spPr>
              <a:solidFill>
                <a:srgbClr val="B3372C"/>
              </a:solidFill>
            </c:spPr>
          </c:dPt>
          <c:dPt>
            <c:idx val="4"/>
            <c:spPr>
              <a:solidFill>
                <a:srgbClr val="B3372C"/>
              </a:solidFill>
            </c:spPr>
          </c:dPt>
          <c:dPt>
            <c:idx val="5"/>
            <c:spPr>
              <a:solidFill>
                <a:srgbClr val="B3372C"/>
              </a:solidFill>
            </c:spPr>
          </c:dPt>
          <c:dPt>
            <c:idx val="6"/>
            <c:spPr>
              <a:solidFill>
                <a:srgbClr val="B3372C"/>
              </a:solidFill>
            </c:spPr>
          </c:dPt>
          <c:dPt>
            <c:idx val="7"/>
            <c:spPr>
              <a:solidFill>
                <a:srgbClr val="B3372C"/>
              </a:solidFill>
            </c:spPr>
          </c:dPt>
          <c:dPt>
            <c:idx val="8"/>
            <c:spPr>
              <a:solidFill>
                <a:srgbClr val="C98A16"/>
              </a:solidFill>
            </c:spPr>
          </c:dPt>
          <c:dPt>
            <c:idx val="9"/>
            <c:spPr>
              <a:solidFill>
                <a:srgbClr val="2E7D4F"/>
              </a:solidFill>
            </c:spPr>
          </c:dPt>
          <c:dPt>
            <c:idx val="10"/>
            <c:spPr>
              <a:solidFill>
                <a:srgbClr val="2E7D4F"/>
              </a:solidFill>
            </c:spPr>
          </c:dPt>
          <c:dPt>
            <c:idx val="11"/>
            <c:spPr>
              <a:solidFill>
                <a:srgbClr val="2E7D4F"/>
              </a:solidFill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EPILOSMIDE</c:v>
                </c:pt>
                <c:pt idx="1">
                  <c:v>DUXNORZET</c:v>
                </c:pt>
                <c:pt idx="2">
                  <c:v>MEDIHYALO</c:v>
                </c:pt>
                <c:pt idx="3">
                  <c:v>ULCEBISMO</c:v>
                </c:pt>
                <c:pt idx="4">
                  <c:v>BUTAZORELLA</c:v>
                </c:pt>
                <c:pt idx="5">
                  <c:v>BILASTIGEC</c:v>
                </c:pt>
                <c:pt idx="6">
                  <c:v>PRUCANETIC</c:v>
                </c:pt>
                <c:pt idx="7">
                  <c:v>ZETAZOLEX</c:v>
                </c:pt>
                <c:pt idx="8">
                  <c:v>VONSECA</c:v>
                </c:pt>
                <c:pt idx="9">
                  <c:v>NEXICURE</c:v>
                </c:pt>
                <c:pt idx="10">
                  <c:v>NEX. PLUS SACH.</c:v>
                </c:pt>
                <c:pt idx="11">
                  <c:v>NEX. PLUS CAP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</c:v>
                </c:pt>
                <c:pt idx="1">
                  <c:v>46</c:v>
                </c:pt>
                <c:pt idx="2">
                  <c:v>48</c:v>
                </c:pt>
                <c:pt idx="3">
                  <c:v>55</c:v>
                </c:pt>
                <c:pt idx="4">
                  <c:v>55</c:v>
                </c:pt>
                <c:pt idx="5">
                  <c:v>57</c:v>
                </c:pt>
                <c:pt idx="6">
                  <c:v>63</c:v>
                </c:pt>
                <c:pt idx="7">
                  <c:v>71</c:v>
                </c:pt>
                <c:pt idx="8">
                  <c:v>96</c:v>
                </c:pt>
                <c:pt idx="9">
                  <c:v>126</c:v>
                </c:pt>
                <c:pt idx="10">
                  <c:v>129</c:v>
                </c:pt>
                <c:pt idx="11">
                  <c:v>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E-4687-9A7D-48ADD5AD9114}"/>
            </c:ext>
          </c:extLst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7C3CC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07-4A06-8D91-CB35DF65CA1F}"/>
              </c:ext>
            </c:extLst>
          </c:dPt>
          <c:dPt>
            <c:idx val="1"/>
            <c:bubble3D val="0"/>
            <c:spPr>
              <a:solidFill>
                <a:srgbClr val="1E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07-4A06-8D91-CB35DF65CA1F}"/>
              </c:ext>
            </c:extLst>
          </c:dPt>
          <c:dPt>
            <c:idx val="2"/>
            <c:bubble3D val="0"/>
            <c:spPr>
              <a:solidFill>
                <a:srgbClr val="5E6E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07-4A06-8D91-CB35DF65CA1F}"/>
              </c:ext>
            </c:extLst>
          </c:dPt>
          <c:dPt>
            <c:idx val="3"/>
            <c:bubble3D val="0"/>
            <c:spPr>
              <a:solidFill>
                <a:srgbClr val="AEC0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07-4A06-8D91-CB35DF65CA1F}"/>
              </c:ext>
            </c:extLst>
          </c:dPt>
          <c:dPt>
            <c:idx val="4"/>
            <c:bubble3D val="0"/>
            <c:spPr>
              <a:solidFill>
                <a:srgbClr val="C9DF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07-4A06-8D91-CB35DF65CA1F}"/>
              </c:ext>
            </c:extLst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NEXICURE</c:v>
                </c:pt>
                <c:pt idx="1">
                  <c:v>VONSECA</c:v>
                </c:pt>
                <c:pt idx="2">
                  <c:v>NEXICURE PLUS</c:v>
                </c:pt>
                <c:pt idx="3">
                  <c:v>BILASTIGEC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55.6</c:v>
                </c:pt>
                <c:pt idx="1">
                  <c:v>29.2</c:v>
                </c:pt>
                <c:pt idx="2">
                  <c:v>2.7</c:v>
                </c:pt>
                <c:pt idx="3">
                  <c:v>3.4</c:v>
                </c:pt>
                <c:pt idx="4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07-4A06-8D91-CB35DF65CA1F}"/>
            </c:ext>
          </c:extLst>
        </c:ser>
        <c:dLbls>
          <c:numFmt formatCode="0&quot;%&quot;" sourceLinked="0"/>
          <c:txPr>
            <a:bodyPr/>
            <a:lstStyle/>
            <a:p>
              <a:pPr>
                <a:defRPr sz="8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Actual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8C-43C3-A22E-DDFC46783348}"/>
              </c:ext>
            </c:extLst>
          </c:dPt>
          <c:dPt>
            <c:idx val="1"/>
            <c:bubble3D val="0"/>
            <c:spPr>
              <a:solidFill>
                <a:srgbClr val="1E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8C-43C3-A22E-DDFC46783348}"/>
              </c:ext>
            </c:extLst>
          </c:dPt>
          <c:dPt>
            <c:idx val="2"/>
            <c:bubble3D val="0"/>
            <c:spPr>
              <a:solidFill>
                <a:srgbClr val="5E6E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8C-43C3-A22E-DDFC46783348}"/>
              </c:ext>
            </c:extLst>
          </c:dPt>
          <c:dPt>
            <c:idx val="3"/>
            <c:bubble3D val="0"/>
            <c:spPr>
              <a:solidFill>
                <a:srgbClr val="AEC0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8C-43C3-A22E-DDFC46783348}"/>
              </c:ext>
            </c:extLst>
          </c:dPt>
          <c:dPt>
            <c:idx val="4"/>
            <c:bubble3D val="0"/>
            <c:spPr>
              <a:solidFill>
                <a:srgbClr val="C9DF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8C-43C3-A22E-DDFC46783348}"/>
              </c:ext>
            </c:extLst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NEXICURE</c:v>
                </c:pt>
                <c:pt idx="1">
                  <c:v>VONSECA</c:v>
                </c:pt>
                <c:pt idx="2">
                  <c:v>NEXICURE PLUS</c:v>
                </c:pt>
                <c:pt idx="3">
                  <c:v>BILASTIGEC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64.4</c:v>
                </c:pt>
                <c:pt idx="1">
                  <c:v>25.7</c:v>
                </c:pt>
                <c:pt idx="2">
                  <c:v>3.5</c:v>
                </c:pt>
                <c:pt idx="3">
                  <c:v>1.8</c:v>
                </c:pt>
                <c:pt idx="4">
                  <c:v>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8C-43C3-A22E-DDFC46783348}"/>
            </c:ext>
          </c:extLst>
        </c:ser>
        <c:dLbls>
          <c:numFmt formatCode="0&quot;%&quot;" sourceLinked="0"/>
          <c:txPr>
            <a:bodyPr/>
            <a:lstStyle/>
            <a:p>
              <a:pPr>
                <a:defRPr sz="8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Utilization %</c:v>
                </c:pt>
              </c:strCache>
            </c:strRef>
          </c:tx>
          <c:spPr>
            <a:solidFill>
              <a:srgbClr val="7CC7E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BU</c:v>
                </c:pt>
                <c:pt idx="1">
                  <c:v>GIT-I</c:v>
                </c:pt>
                <c:pt idx="2">
                  <c:v>GIT-II</c:v>
                </c:pt>
                <c:pt idx="3">
                  <c:v>GIT-III</c:v>
                </c:pt>
                <c:pt idx="4">
                  <c:v>Derma</c:v>
                </c:pt>
                <c:pt idx="5">
                  <c:v>Neuroscience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45B8-4085-BBC1-7FD19C47C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BU</c:v>
                </c:pt>
                <c:pt idx="1">
                  <c:v>GIT-I</c:v>
                </c:pt>
                <c:pt idx="2">
                  <c:v>GIT-II</c:v>
                </c:pt>
                <c:pt idx="3">
                  <c:v>GIT-III</c:v>
                </c:pt>
                <c:pt idx="4">
                  <c:v>Derma</c:v>
                </c:pt>
                <c:pt idx="5">
                  <c:v>Neuroscience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45B8-4085-BBC1-7FD19C47C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 Feb–Aug</c:v>
                </c:pt>
              </c:strCache>
            </c:strRef>
          </c:tx>
          <c:spPr>
            <a:solidFill>
              <a:srgbClr val="AEC0CE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AA2  (4.0k)</c:v>
                </c:pt>
                <c:pt idx="1">
                  <c:v>CC3  (5.0k)</c:v>
                </c:pt>
                <c:pt idx="2">
                  <c:v>AA1  (15.8k)</c:v>
                </c:pt>
                <c:pt idx="3">
                  <c:v>AA3  (29.8k)</c:v>
                </c:pt>
                <c:pt idx="4">
                  <c:v>BB3  (36.9k)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89.6</c:v>
                </c:pt>
                <c:pt idx="1">
                  <c:v>92.6</c:v>
                </c:pt>
                <c:pt idx="2">
                  <c:v>87.9</c:v>
                </c:pt>
                <c:pt idx="3">
                  <c:v>91.2</c:v>
                </c:pt>
                <c:pt idx="4">
                  <c:v>90.8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0A57A5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AA2  (4.0k)</c:v>
                </c:pt>
                <c:pt idx="1">
                  <c:v>CC3  (5.0k)</c:v>
                </c:pt>
                <c:pt idx="2">
                  <c:v>AA1  (15.8k)</c:v>
                </c:pt>
                <c:pt idx="3">
                  <c:v>AA3  (29.8k)</c:v>
                </c:pt>
                <c:pt idx="4">
                  <c:v>BB3  (36.9k)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93.9</c:v>
                </c:pt>
                <c:pt idx="1">
                  <c:v>97.1</c:v>
                </c:pt>
                <c:pt idx="2">
                  <c:v>91.6</c:v>
                </c:pt>
                <c:pt idx="3">
                  <c:v>94.6</c:v>
                </c:pt>
                <c:pt idx="4">
                  <c:v>95.3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7C3CC"/>
            </a:solidFill>
          </a:ln>
        </c:spPr>
        <c:txPr>
          <a:bodyPr/>
          <a:lstStyle/>
          <a:p>
            <a:pPr>
              <a:defRPr sz="800">
                <a:solidFill>
                  <a:srgbClr val="5E6E7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</a:defRPr>
          </a:pPr>
        </a:p>
      </c:txPr>
    </c:legend>
    <c:dispBlanksAs val="gap"/>
  </c:chart>
  <c:txPr>
    <a:bodyPr/>
    <a:lstStyle/>
    <a:p>
      <a:pPr>
        <a:defRPr sz="8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 Feb–Aug</c:v>
                </c:pt>
              </c:strCache>
            </c:strRef>
          </c:tx>
          <c:spPr>
            <a:solidFill>
              <a:srgbClr val="AEC0CE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Cardio  (6.0k)</c:v>
                </c:pt>
                <c:pt idx="1">
                  <c:v>Neuro  (6.4k)</c:v>
                </c:pt>
                <c:pt idx="2">
                  <c:v>GIT  (8.2k)</c:v>
                </c:pt>
                <c:pt idx="3">
                  <c:v>G.P  (14.9k)</c:v>
                </c:pt>
                <c:pt idx="4">
                  <c:v>IM  (47.0k)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90.7</c:v>
                </c:pt>
                <c:pt idx="1">
                  <c:v>93.3</c:v>
                </c:pt>
                <c:pt idx="2">
                  <c:v>88.8</c:v>
                </c:pt>
                <c:pt idx="3">
                  <c:v>94.2</c:v>
                </c:pt>
                <c:pt idx="4">
                  <c:v>92.6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0A57A5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Cardio  (6.0k)</c:v>
                </c:pt>
                <c:pt idx="1">
                  <c:v>Neuro  (6.4k)</c:v>
                </c:pt>
                <c:pt idx="2">
                  <c:v>GIT  (8.2k)</c:v>
                </c:pt>
                <c:pt idx="3">
                  <c:v>G.P  (14.9k)</c:v>
                </c:pt>
                <c:pt idx="4">
                  <c:v>IM  (47.0k)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95.3</c:v>
                </c:pt>
                <c:pt idx="1">
                  <c:v>95.5</c:v>
                </c:pt>
                <c:pt idx="2">
                  <c:v>92.5</c:v>
                </c:pt>
                <c:pt idx="3">
                  <c:v>97.6</c:v>
                </c:pt>
                <c:pt idx="4">
                  <c:v>95.7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7C3CC"/>
            </a:solidFill>
          </a:ln>
        </c:spPr>
        <c:txPr>
          <a:bodyPr/>
          <a:lstStyle/>
          <a:p>
            <a:pPr>
              <a:defRPr sz="800">
                <a:solidFill>
                  <a:srgbClr val="5E6E7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</a:defRPr>
          </a:pPr>
        </a:p>
      </c:txPr>
    </c:legend>
    <c:dispBlanksAs val="gap"/>
  </c:chart>
  <c:txPr>
    <a:bodyPr/>
    <a:lstStyle/>
    <a:p>
      <a:pPr>
        <a:defRPr sz="8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 Feb–Aug</c:v>
                </c:pt>
              </c:strCache>
            </c:strRef>
          </c:tx>
          <c:spPr>
            <a:solidFill>
              <a:srgbClr val="AEC0CE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AA2  (4.0k)</c:v>
                </c:pt>
                <c:pt idx="1">
                  <c:v>CC3  (5.0k)</c:v>
                </c:pt>
                <c:pt idx="2">
                  <c:v>AA1  (15.8k)</c:v>
                </c:pt>
                <c:pt idx="3">
                  <c:v>AA3  (29.8k)</c:v>
                </c:pt>
                <c:pt idx="4">
                  <c:v>BB3  (36.9k)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55.8</c:v>
                </c:pt>
                <c:pt idx="1">
                  <c:v>72.6</c:v>
                </c:pt>
                <c:pt idx="2">
                  <c:v>46.4</c:v>
                </c:pt>
                <c:pt idx="3">
                  <c:v>52.6</c:v>
                </c:pt>
                <c:pt idx="4">
                  <c:v>60.1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0A57A5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AA2  (4.0k)</c:v>
                </c:pt>
                <c:pt idx="1">
                  <c:v>CC3  (5.0k)</c:v>
                </c:pt>
                <c:pt idx="2">
                  <c:v>AA1  (15.8k)</c:v>
                </c:pt>
                <c:pt idx="3">
                  <c:v>AA3  (29.8k)</c:v>
                </c:pt>
                <c:pt idx="4">
                  <c:v>BB3  (36.9k)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70.7</c:v>
                </c:pt>
                <c:pt idx="1">
                  <c:v>89.0</c:v>
                </c:pt>
                <c:pt idx="2">
                  <c:v>57.7</c:v>
                </c:pt>
                <c:pt idx="3">
                  <c:v>69.4</c:v>
                </c:pt>
                <c:pt idx="4">
                  <c:v>76.8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7C3CC"/>
            </a:solidFill>
          </a:ln>
        </c:spPr>
        <c:txPr>
          <a:bodyPr/>
          <a:lstStyle/>
          <a:p>
            <a:pPr>
              <a:defRPr sz="800">
                <a:solidFill>
                  <a:srgbClr val="5E6E7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</a:defRPr>
          </a:pPr>
        </a:p>
      </c:txPr>
    </c:legend>
    <c:dispBlanksAs val="gap"/>
  </c:chart>
  <c:txPr>
    <a:bodyPr/>
    <a:lstStyle/>
    <a:p>
      <a:pPr>
        <a:defRPr sz="800"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 Feb–Aug</c:v>
                </c:pt>
              </c:strCache>
            </c:strRef>
          </c:tx>
          <c:spPr>
            <a:solidFill>
              <a:srgbClr val="AEC0CE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Cardio  (6.0k)</c:v>
                </c:pt>
                <c:pt idx="1">
                  <c:v>Neuro  (6.4k)</c:v>
                </c:pt>
                <c:pt idx="2">
                  <c:v>GIT  (8.2k)</c:v>
                </c:pt>
                <c:pt idx="3">
                  <c:v>G.P  (14.9k)</c:v>
                </c:pt>
                <c:pt idx="4">
                  <c:v>IM  (47.0k)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57.8</c:v>
                </c:pt>
                <c:pt idx="1">
                  <c:v>65.1</c:v>
                </c:pt>
                <c:pt idx="2">
                  <c:v>53.3</c:v>
                </c:pt>
                <c:pt idx="3">
                  <c:v>62.7</c:v>
                </c:pt>
                <c:pt idx="4">
                  <c:v>58.6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0A57A5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Cardio  (6.0k)</c:v>
                </c:pt>
                <c:pt idx="1">
                  <c:v>Neuro  (6.4k)</c:v>
                </c:pt>
                <c:pt idx="2">
                  <c:v>GIT  (8.2k)</c:v>
                </c:pt>
                <c:pt idx="3">
                  <c:v>G.P  (14.9k)</c:v>
                </c:pt>
                <c:pt idx="4">
                  <c:v>IM  (47.0k)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75.5</c:v>
                </c:pt>
                <c:pt idx="1">
                  <c:v>75.5</c:v>
                </c:pt>
                <c:pt idx="2">
                  <c:v>66.2</c:v>
                </c:pt>
                <c:pt idx="3">
                  <c:v>78.4</c:v>
                </c:pt>
                <c:pt idx="4">
                  <c:v>72.7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7C3CC"/>
            </a:solidFill>
          </a:ln>
        </c:spPr>
        <c:txPr>
          <a:bodyPr/>
          <a:lstStyle/>
          <a:p>
            <a:pPr>
              <a:defRPr sz="800">
                <a:solidFill>
                  <a:srgbClr val="5E6E7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</a:defRPr>
          </a:pPr>
        </a:p>
      </c:txPr>
    </c:legend>
    <c:dispBlanksAs val="gap"/>
  </c:chart>
  <c:txPr>
    <a:bodyPr/>
    <a:lstStyle/>
    <a:p>
      <a:pPr>
        <a:defRPr sz="800"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 MS</c:v>
                </c:pt>
              </c:strCache>
            </c:strRef>
          </c:tx>
          <c:spPr>
            <a:solidFill>
              <a:srgbClr val="AEC0CE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VORTAXMODE</c:v>
                </c:pt>
                <c:pt idx="1">
                  <c:v>NEX. PLUS caps</c:v>
                </c:pt>
                <c:pt idx="2">
                  <c:v>EPILOSAMIDE</c:v>
                </c:pt>
                <c:pt idx="3">
                  <c:v>VONSECA</c:v>
                </c:pt>
                <c:pt idx="4">
                  <c:v>MEDIHYALO</c:v>
                </c:pt>
                <c:pt idx="5">
                  <c:v>DUXNORZET</c:v>
                </c:pt>
                <c:pt idx="6">
                  <c:v>NEX. PLUS sach.</c:v>
                </c:pt>
                <c:pt idx="7">
                  <c:v>ZETAZOLEX</c:v>
                </c:pt>
                <c:pt idx="8">
                  <c:v>BILASTIGEC</c:v>
                </c:pt>
                <c:pt idx="9">
                  <c:v>NEXICURE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15.0</c:v>
                </c:pt>
                <c:pt idx="1">
                  <c:v>4.0</c:v>
                </c:pt>
                <c:pt idx="2">
                  <c:v>4.0</c:v>
                </c:pt>
                <c:pt idx="3">
                  <c:v>20.0</c:v>
                </c:pt>
                <c:pt idx="4">
                  <c:v>28.0</c:v>
                </c:pt>
                <c:pt idx="5">
                  <c:v>3.0</c:v>
                </c:pt>
                <c:pt idx="6">
                  <c:v>8.0</c:v>
                </c:pt>
                <c:pt idx="7">
                  <c:v>18.0</c:v>
                </c:pt>
                <c:pt idx="8">
                  <c:v>2.5</c:v>
                </c:pt>
                <c:pt idx="9">
                  <c:v>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MS YTD</c:v>
                </c:pt>
              </c:strCache>
            </c:strRef>
          </c:tx>
          <c:spPr>
            <a:solidFill>
              <a:srgbClr val="0A57A5"/>
            </a:solidFill>
          </c:spPr>
          <c:dPt>
            <c:idx val="0"/>
            <c:spPr>
              <a:solidFill>
                <a:srgbClr val="B3372C"/>
              </a:solidFill>
            </c:spPr>
          </c:dPt>
          <c:dPt>
            <c:idx val="1"/>
            <c:spPr>
              <a:solidFill>
                <a:srgbClr val="B3372C"/>
              </a:solidFill>
            </c:spPr>
          </c:dPt>
          <c:dPt>
            <c:idx val="2"/>
            <c:spPr>
              <a:solidFill>
                <a:srgbClr val="B3372C"/>
              </a:solidFill>
            </c:spPr>
          </c:dPt>
          <c:dPt>
            <c:idx val="3"/>
            <c:spPr>
              <a:solidFill>
                <a:srgbClr val="C98A16"/>
              </a:solidFill>
            </c:spPr>
          </c:dPt>
          <c:dPt>
            <c:idx val="4"/>
            <c:spPr>
              <a:solidFill>
                <a:srgbClr val="C98A16"/>
              </a:solidFill>
            </c:spPr>
          </c:dPt>
          <c:dPt>
            <c:idx val="5"/>
            <c:spPr>
              <a:solidFill>
                <a:srgbClr val="C98A16"/>
              </a:solidFill>
            </c:spPr>
          </c:dPt>
          <c:dPt>
            <c:idx val="6"/>
            <c:spPr>
              <a:solidFill>
                <a:srgbClr val="2E7D4F"/>
              </a:solidFill>
            </c:spPr>
          </c:dPt>
          <c:dPt>
            <c:idx val="7"/>
            <c:spPr>
              <a:solidFill>
                <a:srgbClr val="2E7D4F"/>
              </a:solidFill>
            </c:spPr>
          </c:dPt>
          <c:dPt>
            <c:idx val="8"/>
            <c:spPr>
              <a:solidFill>
                <a:srgbClr val="2E7D4F"/>
              </a:solidFill>
            </c:spPr>
          </c:dPt>
          <c:dPt>
            <c:idx val="9"/>
            <c:spPr>
              <a:solidFill>
                <a:srgbClr val="2E7D4F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700" b="1">
                    <a:solidFill>
                      <a:srgbClr val="1622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VORTAXMODE</c:v>
                </c:pt>
                <c:pt idx="1">
                  <c:v>NEX. PLUS caps</c:v>
                </c:pt>
                <c:pt idx="2">
                  <c:v>EPILOSAMIDE</c:v>
                </c:pt>
                <c:pt idx="3">
                  <c:v>VONSECA</c:v>
                </c:pt>
                <c:pt idx="4">
                  <c:v>MEDIHYALO</c:v>
                </c:pt>
                <c:pt idx="5">
                  <c:v>DUXNORZET</c:v>
                </c:pt>
                <c:pt idx="6">
                  <c:v>NEX. PLUS sach.</c:v>
                </c:pt>
                <c:pt idx="7">
                  <c:v>ZETAZOLEX</c:v>
                </c:pt>
                <c:pt idx="8">
                  <c:v>BILASTIGEC</c:v>
                </c:pt>
                <c:pt idx="9">
                  <c:v>NEXICURE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</c:v>
                </c:pt>
                <c:pt idx="1">
                  <c:v>1.5</c:v>
                </c:pt>
                <c:pt idx="2">
                  <c:v>3.2</c:v>
                </c:pt>
                <c:pt idx="3">
                  <c:v>16.5</c:v>
                </c:pt>
                <c:pt idx="4">
                  <c:v>25.1</c:v>
                </c:pt>
                <c:pt idx="5">
                  <c:v>2.7</c:v>
                </c:pt>
                <c:pt idx="6">
                  <c:v>8.5</c:v>
                </c:pt>
                <c:pt idx="7">
                  <c:v>21.2</c:v>
                </c:pt>
                <c:pt idx="8">
                  <c:v>5.1</c:v>
                </c:pt>
                <c:pt idx="9">
                  <c:v>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00" b="1">
                  <a:solidFill>
                    <a:srgbClr val="1622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7C3CC"/>
            </a:solidFill>
          </a:ln>
        </c:spPr>
        <c:txPr>
          <a:bodyPr/>
          <a:lstStyle/>
          <a:p>
            <a:pPr>
              <a:defRPr sz="800">
                <a:solidFill>
                  <a:srgbClr val="5E6E7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</a:defRPr>
          </a:pPr>
        </a:p>
      </c:txPr>
    </c:legend>
    <c:dispBlanksAs val="gap"/>
  </c:chart>
  <c:txPr>
    <a:bodyPr/>
    <a:lstStyle/>
    <a:p>
      <a:pPr>
        <a:defRPr sz="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0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BU business review, YTD Jan–Aug 2026. All figures from the Zeta Intel Dashboard caches (sales, IQVIA, Coverage, organogram, expense budget) as of 26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Tiles: organogram HC; Sales = Official target, tender excluded, Jan–Aug; IQVIA units share and EI = BU:GIT market (dashboard Executive card rule); Coverage/RF: Filters: Medical Rep + Senior Medical Rep + Product Specialist · Non-Probation · Active · Doctor, Hospital, Contract accounts. YTD Feb–Aug pooled and August. Budget tiles left blank for BU input. Brand MS targets = TARGET_MARKET_SHARE.xlsx (DM2), achievement ≥100% of target counts as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Organogram (budgeted vs active positions). Red dashed box = line with vacancy above 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Organogram (budgeted vs active positions).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Blank – to be completed by the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Actual/Head = YTD actual sales ÷ active HC; Target/Head = YTD Official target ÷ budgeted HC (template definition). Source: Zeta Intel Dashboard – Organogram (budgeted vs active positions).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IQVIA, Standard Units, YTD Jan–Aug 2026 vs Jan–Aug 2025 (OTHER MARKET excluded).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IQVIA, Standard Units, YTD Jan–Aug 2026 vs Jan–Aug 2025 (OTHER MARKET excluded). Targets: iqvia_source/TARGET_MARKET_SHARE.xlsx (DM1 column).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IQVIA, Standard Units, YTD Jan–Aug 2026 vs Jan–Aug 2025 (OTHER MARKET excluded). EI on each product's DM2 market (as in the target file); SU 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IQVIA, Standard Units, YTD Jan–Aug 2026 vs Jan–Aug 2025 (OTHER MARKET excluded). Ranking = contribution to market SU growth (template rule).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Sales (Official target, tender excluded), Jan–Aug 2026. EGP.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Sales (Official target, tender excluded), Jan–Aug 2026. EGP.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Sales (Official target, tender excluded), Jan–Aug 2026. EGP. Brand totals summed across lines. Growth vs LY not possible: no 2025 own-sales file in the dashboard; column shows August achievement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Sales (Official target, tender excluded), Jan–Aug 2026. EGP.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Coverage page rule (active rows, sick-leave-exempt excluded, prorated frequency); YTD = Feb–Aug pooled. Filters: Medical Rep + Senior Medical Rep + Product Specialist · Non-Probation · Active · Doctor, Hospital, Contract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Coverage page rule (active rows, sick-leave-exempt excluded, prorated frequency); YTD = Feb–Aug pooled. Filters: Medical Rep + Senior Medical Rep + Product Specialist · Non-Probation · Active · Doctor, Hospital, Contract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Zeta Intel Dashboard – Coverage page rule (active rows, sick-leave-exempt excluded, prorated frequency); YTD = Feb–Aug pooled. Filters: Medical Rep + Senior Medical Rep + Product Specialist · Non-Probation · Active · Doctor, Hospital, Contract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Blank – to be completed by the BU (actual spend is not loaded in the dashboard).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Blank – to be completed by the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Blank – to be completed by the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Blank – to be completed by the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Blank – to be completed by the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chart" Target="../charts/chart9.xml"/><Relationship Id="rId5" Type="http://schemas.openxmlformats.org/officeDocument/2006/relationships/chart" Target="../charts/char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chart" Target="../charts/chart14.xml"/><Relationship Id="rId5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chart" Target="../charts/char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chart" Target="../charts/chart16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7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55648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AUGUST  | 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48716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5295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Root Causes and Sep–Dec 2026 Commitments  |  Presented to the Chief Executive Officer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9264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69264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BU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56432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602736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02736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Salem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9904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236208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SALES MANAGERS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36208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lines – GIT-I/II/III, Derma, Neuro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869680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696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989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management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August 2026 performance at a glance across the four management pillars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85800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1792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 / 243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51328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02920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1792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(8.2%)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851328" y="2688336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02920" y="344007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21792" y="354065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/ HEAD VS TARGET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792" y="373267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2.69M vs 2.28M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851328" y="3568086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3363392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3546272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63392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3482264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ACHIEVEMENT 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82264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108.4%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711800" y="181051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363392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482264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AT MS TARGET (DM2, SU)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82264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711800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3363392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482264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CHANGE VS LY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82264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+2.81 pts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5711800" y="356616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3363392" y="4315968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3482264" y="4416552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482264" y="4608576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711800" y="4443984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6223864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6406744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23864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6342736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(YTD · AUG)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342736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  ·  95.0%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8572271" y="181051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6223864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6342736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% (YTD · AUG)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342736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57.1%  ·  71.0%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572271" y="2688336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6223864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6342736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BELOW RIGHT FREQUENCY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42736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of 32</a:t>
            </a:r>
            <a:endParaRPr lang="en-US" sz="1700" dirty="0"/>
          </a:p>
        </p:txBody>
      </p:sp>
      <p:sp>
        <p:nvSpPr>
          <p:cNvPr id="57" name="Shape 54"/>
          <p:cNvSpPr/>
          <p:nvPr/>
        </p:nvSpPr>
        <p:spPr>
          <a:xfrm>
            <a:off x="8572271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9084335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  <p:txBody>
          <a:bodyPr/>
          <a:p/>
        </p:txBody>
      </p:sp>
      <p:sp>
        <p:nvSpPr>
          <p:cNvPr id="63" name="Text 60"/>
          <p:cNvSpPr/>
          <p:nvPr/>
        </p:nvSpPr>
        <p:spPr>
          <a:xfrm>
            <a:off x="9267215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PROMO-BUDGET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084335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9203207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9203207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67" name="Shape 64"/>
          <p:cNvSpPr/>
          <p:nvPr/>
        </p:nvSpPr>
        <p:spPr>
          <a:xfrm>
            <a:off x="9084335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9203207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203207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9084335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9203207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9203207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73" name="Shape 70"/>
          <p:cNvSpPr/>
          <p:nvPr/>
        </p:nvSpPr>
        <p:spPr>
          <a:xfrm>
            <a:off x="11432743" y="3566160"/>
            <a:ext cx="128016" cy="128016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  <p:txBody>
          <a:bodyPr/>
          <a:p/>
        </p:txBody>
      </p:sp>
      <p:sp>
        <p:nvSpPr>
          <p:cNvPr id="78" name="Shape 75"/>
          <p:cNvSpPr/>
          <p:nvPr/>
        </p:nvSpPr>
        <p:spPr>
          <a:xfrm>
            <a:off x="502920" y="521665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658368" y="51755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84248" y="521665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2139696" y="51755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191256" y="521665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346704" y="517550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Required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7315200" y="5175504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Sales/Productivity ≥100% green, ≥90% amber · Coverage ≥90/80 · RF ≥80/70 · Vacancy ≤5/10% · EI ≥100/95.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502920" y="5431536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640080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640080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Aug sales 600.6M = 108.4% of Official target (+46.5M); IQVIA units share 8.28% (+2.81 pts), EI 151, rank #3 (LY #5).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6086704" y="5541264"/>
            <a:ext cx="7315" cy="47548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89" name="Text 86"/>
          <p:cNvSpPr/>
          <p:nvPr/>
        </p:nvSpPr>
        <p:spPr>
          <a:xfrm>
            <a:off x="6205576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RISK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6205576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below the 80% bar (YTD 57.1%, Aug 71.0%; coverage 95.0% meets 90%) and NEXICURE = 64% of sales; Derma 54.7% and Neuro 59.4% of target.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102352" y="143560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Hossameldin Mohamed Ibrahim Salem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02352" y="16093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502920" y="5413248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640080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640080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budgeted rep positions across 5 lines: 223 active, 20 vacant (8.2%). Derma carries the highest vacancy (5 of 36, 13.9%); GIT-III and GIT-II 5 each. Only GIT-I/II/III have an Area Manager layer.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086704" y="5522976"/>
            <a:ext cx="7315" cy="47548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6205576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6205576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20 vacant territories – Derma first (13.9%). 48 resignations Feb–Aug (CRM) on 248 active reps in August.</a:t>
            </a:r>
            <a:endParaRPr lang="en-US" sz="1000" dirty="0"/>
          </a:p>
        </p:txBody>
      </p:sp>
      <p:sp>
        <p:nvSpPr>
          <p:cNvPr id="5001" name="Shape 9"/>
          <p:cNvSpPr/>
          <p:nvPr/>
        </p:nvSpPr>
        <p:spPr>
          <a:xfrm>
            <a:off x="1625600" y="2032000"/>
            <a:ext cx="89408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02" name="Shape 8"/>
          <p:cNvSpPr/>
          <p:nvPr/>
        </p:nvSpPr>
        <p:spPr>
          <a:xfrm>
            <a:off x="1625600" y="2032000"/>
            <a:ext cx="10973" cy="1651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03" name="Shape 11"/>
          <p:cNvSpPr/>
          <p:nvPr/>
        </p:nvSpPr>
        <p:spPr>
          <a:xfrm>
            <a:off x="584200" y="2197100"/>
            <a:ext cx="2082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5004" name="Text 12"/>
          <p:cNvSpPr/>
          <p:nvPr/>
        </p:nvSpPr>
        <p:spPr>
          <a:xfrm>
            <a:off x="635000" y="22479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AbdelFatah Farag Maarouf</a:t>
            </a:r>
            <a:endParaRPr lang="en-US" sz="850" dirty="0"/>
          </a:p>
        </p:txBody>
      </p:sp>
      <p:sp>
        <p:nvSpPr>
          <p:cNvPr id="5005" name="Text 13"/>
          <p:cNvSpPr/>
          <p:nvPr/>
        </p:nvSpPr>
        <p:spPr>
          <a:xfrm>
            <a:off x="635000" y="2425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Sales Manager · GIT-I</a:t>
            </a:r>
            <a:endParaRPr lang="en-US" sz="750" dirty="0"/>
          </a:p>
        </p:txBody>
      </p:sp>
      <p:sp>
        <p:nvSpPr>
          <p:cNvPr id="5006" name="Shape 8"/>
          <p:cNvSpPr/>
          <p:nvPr/>
        </p:nvSpPr>
        <p:spPr>
          <a:xfrm>
            <a:off x="1625600" y="2616200"/>
            <a:ext cx="10973" cy="2540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07" name="Shape 39"/>
          <p:cNvSpPr/>
          <p:nvPr/>
        </p:nvSpPr>
        <p:spPr>
          <a:xfrm>
            <a:off x="584200" y="2870200"/>
            <a:ext cx="2082800" cy="812800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  <p:txBody>
          <a:bodyPr/>
          <a:p/>
        </p:txBody>
      </p:sp>
      <p:sp>
        <p:nvSpPr>
          <p:cNvPr id="5008" name="Text 40"/>
          <p:cNvSpPr/>
          <p:nvPr/>
        </p:nvSpPr>
        <p:spPr>
          <a:xfrm>
            <a:off x="635000" y="2933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  ·  9 DMs</a:t>
            </a:r>
            <a:endParaRPr lang="en-US" sz="850" dirty="0"/>
          </a:p>
        </p:txBody>
      </p:sp>
      <p:sp>
        <p:nvSpPr>
          <p:cNvPr id="5009" name="Text 41"/>
          <p:cNvSpPr/>
          <p:nvPr/>
        </p:nvSpPr>
        <p:spPr>
          <a:xfrm>
            <a:off x="635000" y="31242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ASM: Haitham Emara</a:t>
            </a:r>
            <a:endParaRPr lang="en-US" sz="750" dirty="0"/>
          </a:p>
        </p:txBody>
      </p:sp>
      <p:sp>
        <p:nvSpPr>
          <p:cNvPr id="5010" name="Text 42"/>
          <p:cNvSpPr/>
          <p:nvPr/>
        </p:nvSpPr>
        <p:spPr>
          <a:xfrm>
            <a:off x="635000" y="3454400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active  /  4 vacant  (6.2%)</a:t>
            </a:r>
            <a:endParaRPr lang="en-US" sz="750" dirty="0"/>
          </a:p>
        </p:txBody>
      </p:sp>
      <p:sp>
        <p:nvSpPr>
          <p:cNvPr id="5011" name="Shape 8"/>
          <p:cNvSpPr/>
          <p:nvPr/>
        </p:nvSpPr>
        <p:spPr>
          <a:xfrm>
            <a:off x="3860800" y="2032000"/>
            <a:ext cx="10973" cy="1651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12" name="Shape 11"/>
          <p:cNvSpPr/>
          <p:nvPr/>
        </p:nvSpPr>
        <p:spPr>
          <a:xfrm>
            <a:off x="2819400" y="2197100"/>
            <a:ext cx="2082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5013" name="Text 12"/>
          <p:cNvSpPr/>
          <p:nvPr/>
        </p:nvSpPr>
        <p:spPr>
          <a:xfrm>
            <a:off x="2870200" y="22479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Nader Ahmed Khaled Mohamed</a:t>
            </a:r>
            <a:endParaRPr lang="en-US" sz="850" dirty="0"/>
          </a:p>
        </p:txBody>
      </p:sp>
      <p:sp>
        <p:nvSpPr>
          <p:cNvPr id="5014" name="Text 13"/>
          <p:cNvSpPr/>
          <p:nvPr/>
        </p:nvSpPr>
        <p:spPr>
          <a:xfrm>
            <a:off x="2870200" y="2425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Sales Manager · GIT-II</a:t>
            </a:r>
            <a:endParaRPr lang="en-US" sz="750" dirty="0"/>
          </a:p>
        </p:txBody>
      </p:sp>
      <p:sp>
        <p:nvSpPr>
          <p:cNvPr id="5015" name="Shape 8"/>
          <p:cNvSpPr/>
          <p:nvPr/>
        </p:nvSpPr>
        <p:spPr>
          <a:xfrm>
            <a:off x="3860800" y="2616200"/>
            <a:ext cx="10973" cy="2540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16" name="Shape 39"/>
          <p:cNvSpPr/>
          <p:nvPr/>
        </p:nvSpPr>
        <p:spPr>
          <a:xfrm>
            <a:off x="2819400" y="2870200"/>
            <a:ext cx="2082800" cy="812800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  <p:txBody>
          <a:bodyPr/>
          <a:p/>
        </p:txBody>
      </p:sp>
      <p:sp>
        <p:nvSpPr>
          <p:cNvPr id="5017" name="Text 40"/>
          <p:cNvSpPr/>
          <p:nvPr/>
        </p:nvSpPr>
        <p:spPr>
          <a:xfrm>
            <a:off x="2870200" y="2933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GIT-II  ·  9 DMs</a:t>
            </a:r>
            <a:endParaRPr lang="en-US" sz="850" dirty="0"/>
          </a:p>
        </p:txBody>
      </p:sp>
      <p:sp>
        <p:nvSpPr>
          <p:cNvPr id="5018" name="Text 41"/>
          <p:cNvSpPr/>
          <p:nvPr/>
        </p:nvSpPr>
        <p:spPr>
          <a:xfrm>
            <a:off x="2870200" y="31242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ASM: Heba Ibrahim</a:t>
            </a:r>
            <a:endParaRPr lang="en-US" sz="750" dirty="0"/>
          </a:p>
        </p:txBody>
      </p:sp>
      <p:sp>
        <p:nvSpPr>
          <p:cNvPr id="5019" name="Text 42"/>
          <p:cNvSpPr/>
          <p:nvPr/>
        </p:nvSpPr>
        <p:spPr>
          <a:xfrm>
            <a:off x="2870200" y="3454400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active  /  5 vacant  (7.7%)</a:t>
            </a:r>
            <a:endParaRPr lang="en-US" sz="750" dirty="0"/>
          </a:p>
        </p:txBody>
      </p:sp>
      <p:sp>
        <p:nvSpPr>
          <p:cNvPr id="5020" name="Shape 8"/>
          <p:cNvSpPr/>
          <p:nvPr/>
        </p:nvSpPr>
        <p:spPr>
          <a:xfrm>
            <a:off x="6096000" y="2032000"/>
            <a:ext cx="10973" cy="1651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21" name="Shape 11"/>
          <p:cNvSpPr/>
          <p:nvPr/>
        </p:nvSpPr>
        <p:spPr>
          <a:xfrm>
            <a:off x="5054600" y="2197100"/>
            <a:ext cx="2082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5022" name="Text 12"/>
          <p:cNvSpPr/>
          <p:nvPr/>
        </p:nvSpPr>
        <p:spPr>
          <a:xfrm>
            <a:off x="5105400" y="22479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Abdelmoneim Abdelhamid Haridy</a:t>
            </a:r>
            <a:endParaRPr lang="en-US" sz="850" dirty="0"/>
          </a:p>
        </p:txBody>
      </p:sp>
      <p:sp>
        <p:nvSpPr>
          <p:cNvPr id="5023" name="Text 13"/>
          <p:cNvSpPr/>
          <p:nvPr/>
        </p:nvSpPr>
        <p:spPr>
          <a:xfrm>
            <a:off x="5105400" y="2425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Sales Manager · GIT-III</a:t>
            </a:r>
            <a:endParaRPr lang="en-US" sz="750" dirty="0"/>
          </a:p>
        </p:txBody>
      </p:sp>
      <p:sp>
        <p:nvSpPr>
          <p:cNvPr id="5024" name="Shape 8"/>
          <p:cNvSpPr/>
          <p:nvPr/>
        </p:nvSpPr>
        <p:spPr>
          <a:xfrm>
            <a:off x="6096000" y="2616200"/>
            <a:ext cx="10973" cy="2540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25" name="Shape 39"/>
          <p:cNvSpPr/>
          <p:nvPr/>
        </p:nvSpPr>
        <p:spPr>
          <a:xfrm>
            <a:off x="5054600" y="2870200"/>
            <a:ext cx="2082800" cy="812800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  <p:txBody>
          <a:bodyPr/>
          <a:p/>
        </p:txBody>
      </p:sp>
      <p:sp>
        <p:nvSpPr>
          <p:cNvPr id="5026" name="Text 40"/>
          <p:cNvSpPr/>
          <p:nvPr/>
        </p:nvSpPr>
        <p:spPr>
          <a:xfrm>
            <a:off x="5105400" y="2933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GIT-III  ·  7 DMs</a:t>
            </a:r>
            <a:endParaRPr lang="en-US" sz="850" dirty="0"/>
          </a:p>
        </p:txBody>
      </p:sp>
      <p:sp>
        <p:nvSpPr>
          <p:cNvPr id="5027" name="Text 41"/>
          <p:cNvSpPr/>
          <p:nvPr/>
        </p:nvSpPr>
        <p:spPr>
          <a:xfrm>
            <a:off x="5105400" y="31242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ASM: Mohamed Mohamed</a:t>
            </a:r>
            <a:endParaRPr lang="en-US" sz="750" dirty="0"/>
          </a:p>
        </p:txBody>
      </p:sp>
      <p:sp>
        <p:nvSpPr>
          <p:cNvPr id="5028" name="Text 42"/>
          <p:cNvSpPr/>
          <p:nvPr/>
        </p:nvSpPr>
        <p:spPr>
          <a:xfrm>
            <a:off x="5105400" y="3454400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active  /  5 vacant  (9.4%)</a:t>
            </a:r>
            <a:endParaRPr lang="en-US" sz="750" dirty="0"/>
          </a:p>
        </p:txBody>
      </p:sp>
      <p:sp>
        <p:nvSpPr>
          <p:cNvPr id="5029" name="Shape 8"/>
          <p:cNvSpPr/>
          <p:nvPr/>
        </p:nvSpPr>
        <p:spPr>
          <a:xfrm>
            <a:off x="8331200" y="2032000"/>
            <a:ext cx="10973" cy="1651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30" name="Shape 11"/>
          <p:cNvSpPr/>
          <p:nvPr/>
        </p:nvSpPr>
        <p:spPr>
          <a:xfrm>
            <a:off x="7289800" y="2197100"/>
            <a:ext cx="2082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5031" name="Text 12"/>
          <p:cNvSpPr/>
          <p:nvPr/>
        </p:nvSpPr>
        <p:spPr>
          <a:xfrm>
            <a:off x="7340600" y="22479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AbdelFatah Ahmed AbdelHamid</a:t>
            </a:r>
            <a:endParaRPr lang="en-US" sz="850" dirty="0"/>
          </a:p>
        </p:txBody>
      </p:sp>
      <p:sp>
        <p:nvSpPr>
          <p:cNvPr id="5032" name="Text 13"/>
          <p:cNvSpPr/>
          <p:nvPr/>
        </p:nvSpPr>
        <p:spPr>
          <a:xfrm>
            <a:off x="7340600" y="2425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Sales Manager · Derma</a:t>
            </a:r>
            <a:endParaRPr lang="en-US" sz="750" dirty="0"/>
          </a:p>
        </p:txBody>
      </p:sp>
      <p:sp>
        <p:nvSpPr>
          <p:cNvPr id="5033" name="Shape 8"/>
          <p:cNvSpPr/>
          <p:nvPr/>
        </p:nvSpPr>
        <p:spPr>
          <a:xfrm>
            <a:off x="8331200" y="2616200"/>
            <a:ext cx="10973" cy="2540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34" name="Shape 49"/>
          <p:cNvSpPr/>
          <p:nvPr/>
        </p:nvSpPr>
        <p:spPr>
          <a:xfrm>
            <a:off x="7289800" y="2870200"/>
            <a:ext cx="2082800" cy="8128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  <p:txBody>
          <a:bodyPr/>
          <a:p/>
        </p:txBody>
      </p:sp>
      <p:sp>
        <p:nvSpPr>
          <p:cNvPr id="5035" name="Text 40"/>
          <p:cNvSpPr/>
          <p:nvPr/>
        </p:nvSpPr>
        <p:spPr>
          <a:xfrm>
            <a:off x="7340600" y="2933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  ·  6 DMs</a:t>
            </a:r>
            <a:endParaRPr lang="en-US" sz="850" dirty="0"/>
          </a:p>
        </p:txBody>
      </p:sp>
      <p:sp>
        <p:nvSpPr>
          <p:cNvPr id="5036" name="Text 41"/>
          <p:cNvSpPr/>
          <p:nvPr/>
        </p:nvSpPr>
        <p:spPr>
          <a:xfrm>
            <a:off x="7340600" y="31242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Area Manager layer</a:t>
            </a:r>
            <a:endParaRPr lang="en-US" sz="750" dirty="0"/>
          </a:p>
        </p:txBody>
      </p:sp>
      <p:sp>
        <p:nvSpPr>
          <p:cNvPr id="5037" name="Text 42"/>
          <p:cNvSpPr/>
          <p:nvPr/>
        </p:nvSpPr>
        <p:spPr>
          <a:xfrm>
            <a:off x="7340600" y="3454400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active  /  5 vacant  (13.9%)</a:t>
            </a:r>
            <a:endParaRPr lang="en-US" sz="750" dirty="0"/>
          </a:p>
        </p:txBody>
      </p:sp>
      <p:sp>
        <p:nvSpPr>
          <p:cNvPr id="5038" name="Shape 8"/>
          <p:cNvSpPr/>
          <p:nvPr/>
        </p:nvSpPr>
        <p:spPr>
          <a:xfrm>
            <a:off x="10566400" y="2032000"/>
            <a:ext cx="10973" cy="1651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39" name="Shape 11"/>
          <p:cNvSpPr/>
          <p:nvPr/>
        </p:nvSpPr>
        <p:spPr>
          <a:xfrm>
            <a:off x="9525000" y="2197100"/>
            <a:ext cx="2082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5040" name="Text 12"/>
          <p:cNvSpPr/>
          <p:nvPr/>
        </p:nvSpPr>
        <p:spPr>
          <a:xfrm>
            <a:off x="9575800" y="22479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Fekry Reyad Aly</a:t>
            </a:r>
            <a:endParaRPr lang="en-US" sz="850" dirty="0"/>
          </a:p>
        </p:txBody>
      </p:sp>
      <p:sp>
        <p:nvSpPr>
          <p:cNvPr id="5041" name="Text 13"/>
          <p:cNvSpPr/>
          <p:nvPr/>
        </p:nvSpPr>
        <p:spPr>
          <a:xfrm>
            <a:off x="9575800" y="2425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Sales Manager · Neuroscience</a:t>
            </a:r>
            <a:endParaRPr lang="en-US" sz="750" dirty="0"/>
          </a:p>
        </p:txBody>
      </p:sp>
      <p:sp>
        <p:nvSpPr>
          <p:cNvPr id="5042" name="Shape 8"/>
          <p:cNvSpPr/>
          <p:nvPr/>
        </p:nvSpPr>
        <p:spPr>
          <a:xfrm>
            <a:off x="10566400" y="2616200"/>
            <a:ext cx="10973" cy="25400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5043" name="Shape 39"/>
          <p:cNvSpPr/>
          <p:nvPr/>
        </p:nvSpPr>
        <p:spPr>
          <a:xfrm>
            <a:off x="9525000" y="2870200"/>
            <a:ext cx="2082800" cy="812800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  <p:txBody>
          <a:bodyPr/>
          <a:p/>
        </p:txBody>
      </p:sp>
      <p:sp>
        <p:nvSpPr>
          <p:cNvPr id="5044" name="Text 40"/>
          <p:cNvSpPr/>
          <p:nvPr/>
        </p:nvSpPr>
        <p:spPr>
          <a:xfrm>
            <a:off x="9575800" y="2933700"/>
            <a:ext cx="198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  ·  4 DMs</a:t>
            </a:r>
            <a:endParaRPr lang="en-US" sz="850" dirty="0"/>
          </a:p>
        </p:txBody>
      </p:sp>
      <p:sp>
        <p:nvSpPr>
          <p:cNvPr id="5045" name="Text 41"/>
          <p:cNvSpPr/>
          <p:nvPr/>
        </p:nvSpPr>
        <p:spPr>
          <a:xfrm>
            <a:off x="9575800" y="31242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Area Manager layer</a:t>
            </a:r>
            <a:endParaRPr lang="en-US" sz="750" dirty="0"/>
          </a:p>
        </p:txBody>
      </p:sp>
      <p:sp>
        <p:nvSpPr>
          <p:cNvPr id="5046" name="Text 42"/>
          <p:cNvSpPr/>
          <p:nvPr/>
        </p:nvSpPr>
        <p:spPr>
          <a:xfrm>
            <a:off x="9575800" y="3454400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active  /  1 vacant  (4.2%)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Vacancy Analysis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HC VS ACTIVE HC BY LINE</a:t>
            </a:r>
            <a:endParaRPr lang="en-US" sz="95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1557347207"/>
              </p:ext>
            </p:extLst>
          </p:nvPr>
        </p:nvGraphicFramePr>
        <p:xfrm>
          <a:off x="429768" y="2395728"/>
          <a:ext cx="111887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4754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Zeta Intel Dashboard – Organogram (budgeted vs active positions). Total 223 active / 243 budgeted (20 vacant). Vacancy vs August coverage: Derma 13.9% vac. / 94% cov.; GIT-III 9.4% / 95%; GIT-II 7.7% / 95%; GIT-I 6.2% / 96%; Neuro 4.2% / 94%.</a:t>
            </a:r>
            <a:endParaRPr lang="en-US" sz="750" dirty="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7F83BE89-027B-9199-03D4-34D382EF098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35B84C1F-4258-A712-0869-35542479AFA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&amp; Talent Readiness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MATRIX - KEY POSITIONS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8275320" cy="15621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5020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9052560" y="1572768"/>
            <a:ext cx="2633472" cy="1298448"/>
          </a:xfrm>
          <a:prstGeom prst="roundRect">
            <a:avLst>
              <a:gd name="adj" fmla="val 493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9198864" y="1700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COVERAGE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98864" y="1938528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9198864" y="246888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critical positions have an identified successor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9052560" y="2980944"/>
            <a:ext cx="26334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9198864" y="30906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POSITIONS WITHOUT SUCCESSOR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9235440" y="33832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052560" y="413308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9217152" y="422452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MIX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217152" y="4443984"/>
            <a:ext cx="576072" cy="155448"/>
          </a:xfrm>
          <a:prstGeom prst="rect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9793224" y="4443984"/>
            <a:ext cx="576072" cy="155448"/>
          </a:xfrm>
          <a:prstGeom prst="rect">
            <a:avLst/>
          </a:prstGeom>
          <a:solidFill>
            <a:srgbClr val="1078B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10369296" y="4443984"/>
            <a:ext cx="576072" cy="155448"/>
          </a:xfrm>
          <a:prstGeom prst="rect">
            <a:avLst/>
          </a:prstGeom>
          <a:solidFill>
            <a:srgbClr val="C98A1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10945368" y="4443984"/>
            <a:ext cx="576072" cy="155448"/>
          </a:xfrm>
          <a:prstGeom prst="rect">
            <a:avLst/>
          </a:prstGeom>
          <a:solidFill>
            <a:srgbClr val="B3372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9217152" y="46268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0292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58368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778508" y="4265676"/>
            <a:ext cx="109728" cy="109728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1933956" y="42245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&lt; 1 Year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96996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3552444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1-2 Years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84064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5239512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Successor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64008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4008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231538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435041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35041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41869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8060741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060741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727BCC0C-71A9-58A2-F8D0-ED5B015D0AC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2E60DD39-0555-1688-90DC-A15FDBC14F8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per Head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16736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04088" y="1417320"/>
            <a:ext cx="10783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Productivity / Head  =  Actual Sales ÷ Active Headcount</a:t>
            </a:r>
            <a:r>
              <a:rPr lang="en-US" sz="11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Productivity / Head  =  Target Sales ÷ Budgeted Headcount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PRODUCTIVITY PER HEAD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692972305"/>
              </p:ext>
            </p:extLst>
          </p:nvPr>
        </p:nvGraphicFramePr>
        <p:xfrm>
          <a:off x="429768" y="2267712"/>
          <a:ext cx="598932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4791456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Jan–Aug 2026, M EGP per head. Active and budgeted HC from the organogram.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76656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BY LINE VS TARGET (YTD AUG)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267712"/>
          <a:ext cx="4919472" cy="1562100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 act / bud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 / 243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/ 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/ 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/ 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/ 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766560" y="42839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922008" y="42428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Productivity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8590788" y="42839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8746236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9866376" y="4283964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10021824" y="42428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625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64008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008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BU sales are 108.4% of target with 223/243 heads; productivity/head 2.69M vs 2.28M (+18%). GIT-I (6.46M/head) carries it; Derma and Neuro are ~37% below target/head.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31538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435041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35041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Derma: 54.7% sales ach. with 13.9% vacancy; Neuroscience: 59.4% with 4.2% vacancy – the Neuro gap is not a headcount gap.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941869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8060741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060741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 delivers +31% vs target/head with 4 vacancies – protect it; Derma/Neuro need a productivity plan, not only hires.</a:t>
            </a:r>
            <a:endParaRPr lang="en-US" sz="10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FE1CA3C2-AA17-C3AB-D476-591CA14C690D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B364F9C3-D9BD-F747-03FF-8DA22E3F751A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Standard Units  |  YTD Jan–Aug 2026 versus YTD Jan–Aug 2025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1792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(SU)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1,351M SU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45104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463976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63976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+11.9%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87288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06160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6160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471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148343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GROWTH 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8343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+69.3%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EVOLUTION - STANDARD UNITS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407332468"/>
              </p:ext>
            </p:extLst>
          </p:nvPr>
        </p:nvGraphicFramePr>
        <p:xfrm>
          <a:off x="429768" y="2450592"/>
          <a:ext cx="55778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46725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Standard Units. Line markets = IQVIA rows tagged to each line.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49224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 BY LINE (SU) · 100 = MARKET PACE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92240" y="4653813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= (1 + Zeta SU growth) ÷ (1 + market SU growth) × 100. Labels show market and Zeta SU growth. GIT-III: no Zeta LY sales (launch) – no EI.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492240" y="4797712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market trends:  GIT market +11.9% SU  ·  P-CAB market +56% SU  ·  Derma market -13% SU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2920" y="5010912"/>
            <a:ext cx="11185855" cy="1042416"/>
          </a:xfrm>
          <a:prstGeom prst="roundRect">
            <a:avLst>
              <a:gd name="adj" fmla="val 614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640080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DYNAMICS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40080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grew 143M SU (+11.9%). Zeta added 45.8M SU = 32% of market growth. Largest competitor adds: CONTROLOC +18.5M, DOWNOPRAZOL +16.9M SU.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6704" y="5120640"/>
            <a:ext cx="7315" cy="822960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6205576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205576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 grew 69% vs market 11.9% (EI 151); units share 5.47% → 8.28%, rank #5 → #3 of 90. Derma market is shrinking.</a:t>
            </a:r>
            <a:endParaRPr lang="en-US" sz="1000" dirty="0"/>
          </a:p>
        </p:txBody>
      </p:sp>
      <p:graphicFrame>
        <p:nvGraphicFramePr>
          <p:cNvPr id="34" name="Chart 0">
            <a:extLst>
              <a:ext uri="{FF2B5EF4-FFF2-40B4-BE49-F238E27FC236}">
                <a16:creationId xmlns:a16="http://schemas.microsoft.com/office/drawing/2014/main" id="{412D1578-C4DE-A8B9-E989-E7816D384F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900072"/>
              </p:ext>
            </p:extLst>
          </p:nvPr>
        </p:nvGraphicFramePr>
        <p:xfrm>
          <a:off x="6097454" y="2448986"/>
          <a:ext cx="55778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Performance by Product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25273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Aug 2025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Target (DM1)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Aug 2026 Actual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Change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PPI _ORAL_SOLID 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+2.35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P-CAB_MKT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-3.52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+3.60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PPI_SOD BICARB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slide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(NO 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BILASTIGEC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BELASTINE_CETRIZINE TAB 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+2.55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+1.93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MEDIHYALO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OTH W HEALING _MEDIHYALO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ZETAZOLEX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BREXPIPRAZOLE_MKT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+3.22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+12.42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PRUCANETIC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PRUCALOPRIDE_MKT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slide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(NO 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DUXNORZET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Duloxetine 20_30 DIXONORZET MKET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-0.53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(NO 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ULCEBISMO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BISMUTH ANTIULCERANTS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slide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(NO 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VORTAXMODE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Vortaxmode 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-14.92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(NO 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EPILOSAMIDE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LACOSAMIDE_MKT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(NO 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GIT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700"/>
                        <a:t>GIT BU 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+2.81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700">
                          <a:solidFill>
                            <a:srgbClr val="2E7D4F"/>
                          </a:solidFill>
                        </a:rPr>
                        <a:t>GAINING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48513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58368" y="44439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share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052828" y="448513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7" name="Text 7"/>
          <p:cNvSpPr/>
          <p:nvPr/>
        </p:nvSpPr>
        <p:spPr>
          <a:xfrm>
            <a:off x="2208276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34156" y="448513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3689604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share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949440" y="444398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shares in each brand's main IQVIA market (DM1), YTD. Targets from TARGET_MARKET_SHARE.xlsx (dashboard IQVIA source). All GIT products listed. NEXICURE PLUS targets are set per DM2 (caps / sachets) – see slide 8.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02920" y="4828032"/>
            <a:ext cx="11185855" cy="1225296"/>
          </a:xfrm>
          <a:prstGeom prst="roundRect">
            <a:avLst>
              <a:gd name="adj" fmla="val 522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4008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08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GIT brands with LY history gained units share; ZETAZOLEX +12.4 pts and VONSECA +3.6 pts lead. NEXICURE (7.9% vs 3.3% target), ZETAZOLEX and BILASTIGEC are above target.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31538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435041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5041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only: VONSECA 16.5% vs 20% target (−3.5 pts) despite +102% SU in a P-CAB market growing 58%; MEDIHYALO 25.1% vs 28% (−2.9 pts).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41869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8060741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060741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VONSECA and MEDIHYALO share gaps; defend NEXICURE and ZETAZOLEX gains; build share for launches NEXICURE PLUS, PRUCANETIC, ULCEBISMO, EPILOSAMIDE, VORTAXMODE, DUXNORZET.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9FC556F9-B19D-1828-CD0A-AD2F800CE532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14C09FD-F654-5032-EC4E-A030B10ABA77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 by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= (1 + product SU growth) ÷ (1 + DM2 market SU growth) × 100  |  all GIT products, YTD Jan–Aug 2026 vs 2025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RANKING - PRODUCTS ORDERED BY MOMENTUM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088356421"/>
              </p:ext>
            </p:extLst>
          </p:nvPr>
        </p:nvGraphicFramePr>
        <p:xfrm>
          <a:off x="429768" y="1645920"/>
          <a:ext cx="5989320" cy="2999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62686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EI ≥ 100 (outgrowing its DM2 market). Launches with no Jan–Aug 2025 sales have no EI base.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6656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DECOMPOSITION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45920"/>
          <a:ext cx="4919472" cy="2362200"/>
        </p:xfrm>
        <a:graphic>
          <a:graphicData uri="http://schemas.openxmlformats.org/drawingml/2006/table">
            <a:tbl>
              <a:tblPr/>
              <a:tblGrid>
                <a:gridCol w="1444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(DM2 market)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ZETAZOLEX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BILASTIGEC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MEDIHYALO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DUXNORZET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EPILOSAMIDE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 (caps)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 (sachets)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VORTAXMODE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PRUCANETIC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ULCEBISMO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640080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40080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GIT products with 2025 sales outgrow their DM2 market: ZETAZOLEX 241, BILASTIGEC 162, NEXICURE 142, VONSECA 128, MEDIHYALO 107. 7 launch lines have no 2025 base.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6704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6205576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05576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brands for extra investment: ZETAZOLEX, VONSECA. BILASTIGEC outgrows a shrinking market but is at 57% of sales target. Track launch share vs target (slide 8).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D47C4C67-7C9E-D4B2-9436-261006D3F2D0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23F90982-4712-450D-7D34-5E2012AD665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products adding the most Standard Units in the GIT BU market, YTD Aug 2026 vs 2025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PRODUCT GROWTH - STANDARD UNITS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45920"/>
          <a:ext cx="5806440" cy="276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3891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 SU added vs LY. GIT BU market grew +143M SU; Zeta added +45.8M SU (32%).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8368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RANKING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45920"/>
          <a:ext cx="5102352" cy="2204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Growth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Movement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to Market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CONTROLOC (ACINO)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+0.60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DOWNOPRAZOL (UTOPIA)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VONASPIRE (INSPIRE PHARMA)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+0.98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ZURCAL (AUG PHARMA)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-1.30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VONOPRAVIN (UTOPIA)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+0.79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0" y="3931920"/>
            <a:ext cx="510235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6766560" y="401421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COMPETITIVE PRESSURE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CONTROLOC +18.5M and DOWNOPRAZOL +16.9M SU (PPI); VONASPIRE and VONOPRAVIN in P-CAB.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02920" y="4626864"/>
            <a:ext cx="11185855" cy="1426464"/>
          </a:xfrm>
          <a:prstGeom prst="roundRect">
            <a:avLst>
              <a:gd name="adj" fmla="val 448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64008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008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 took more of the market growth (32%) than any competitor. ZURCAL (AUG PHARMA) lost 1.3 pts despite +4.9% SU.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31538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435041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35041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lacosamide entrants in EPILOSAMIDE's market: ANDOVIMPAMIDE 44.1%, LACOVIMP 26.1%, LACOSAMET 22.3% value share with no LY sales.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941869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8060741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60741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VONSECA against VONASPIRE/VONOPRAVIN; EPILOSAMIDE response plan to the 3 lacosamide launches (action A029–A031).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055A175C-6526-1166-A1CE-58DD6B54DB1C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2718EA93-4F93-235D-A035-37CC5663EA4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21792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Aug 2026 TARGET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554.1M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776667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895539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Aug 2026 ACTUAL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95539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600.6M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50414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69286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69286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108.4%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85249" y="146304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324161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443033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LANDING AT PACE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43033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955.8M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158996" y="1463040"/>
            <a:ext cx="128016" cy="128016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597908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716780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TARGET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16780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+46.5M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1432743" y="146304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- TARGET VS ACTUAL, JANUARY TO AUGUST 2026</a:t>
            </a:r>
            <a:endParaRPr lang="en-US" sz="9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29768" y="2432304"/>
          <a:ext cx="7589520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480974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Zeta Intel Dashboard – Sales (Official target, tender excluded), Jan–Aug 2026. EGP. M EGP. Landing = YTD + 4 months × Jun–Aug average (dashboard rule); no Sep–Dec target is loaded.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36676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MAJOR GAPS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2432304"/>
          <a:ext cx="3319272" cy="12435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8366760" y="3749040"/>
            <a:ext cx="331927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8531352" y="384048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GAP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Jan (62%) and Apr (56%) missed. Mar over-delivered +41.4M then Apr −31.2M (Mar+Apr = 108%). YTD split: volume +11.7M, price/mix +34.8M.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33" name="Text 28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BU is +46.5M ahead of YTD target (108.4%); 6 of 8 months at or above target.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the over-achievement is price/mix, 25% volume. Month-to-month phasing is uneven (Mar 164% / Apr 56%).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39" name="Text 34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Jun–Aug 88.8M/month → landing 955.8M. BU to load Sep–Dec target to set the required run-rate.</a:t>
            </a:r>
            <a:endParaRPr lang="en-US" sz="1000" dirty="0"/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855DDA54-D964-1510-8F5D-37B22D2310CC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" name="Text 0"/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Line / Team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PERFORMANCE - RANKED BY ACHIEVEMENT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9776"/>
              </p:ext>
            </p:extLst>
          </p:nvPr>
        </p:nvGraphicFramePr>
        <p:xfrm>
          <a:off x="502920" y="1591056"/>
          <a:ext cx="5532120" cy="15621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/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+72.1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708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TOTAL BU SALES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39243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600200" y="397510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1600200" y="3975100"/>
            <a:ext cx="2308746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5193792" y="39243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4114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GIT-II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00200" y="416560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600200" y="4165600"/>
            <a:ext cx="937455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8" name="Text 13"/>
          <p:cNvSpPr/>
          <p:nvPr/>
        </p:nvSpPr>
        <p:spPr>
          <a:xfrm>
            <a:off x="5193792" y="41148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43053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GIT-III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600200" y="435610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1600200" y="4356100"/>
            <a:ext cx="121526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193792" y="43053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02920" y="4495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600200" y="454660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1600200" y="4546600"/>
            <a:ext cx="89329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5193792" y="44958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2920" y="490220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YTD Aug BU sales (actual).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35508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HEATMAP - PRODUCTS × LINES</a:t>
            </a:r>
            <a:endParaRPr lang="en-US" sz="950" dirty="0"/>
          </a:p>
        </p:txBody>
      </p:sp>
      <p:sp>
        <p:nvSpPr>
          <p:cNvPr id="86" name="Shape 82"/>
          <p:cNvSpPr/>
          <p:nvPr/>
        </p:nvSpPr>
        <p:spPr>
          <a:xfrm>
            <a:off x="635508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87" name="Text 83"/>
          <p:cNvSpPr/>
          <p:nvPr/>
        </p:nvSpPr>
        <p:spPr>
          <a:xfrm>
            <a:off x="6510528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7836408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89" name="Text 85"/>
          <p:cNvSpPr/>
          <p:nvPr/>
        </p:nvSpPr>
        <p:spPr>
          <a:xfrm>
            <a:off x="7991856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9111996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9267444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92" name="Text 88"/>
          <p:cNvSpPr/>
          <p:nvPr/>
        </p:nvSpPr>
        <p:spPr>
          <a:xfrm>
            <a:off x="6355080" y="446227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GIT sales brands. Achievement % of Official target, YTD Aug; "—" = brand not sold on that line.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6355080" y="470001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BILASTIGEC and MEDIHYALO are below target on both lines that carry them – a product issue, not a line issue.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96" name="Text 92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GIT-I: 66% of sales at 122.4% (+72.1M). GIT-II, Derma and Neuroscience are below target.</a:t>
            </a:r>
            <a:endParaRPr lang="en-US" sz="1000" dirty="0"/>
          </a:p>
        </p:txBody>
      </p:sp>
      <p:sp>
        <p:nvSpPr>
          <p:cNvPr id="97" name="Shape 93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98" name="Text 94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99" name="Text 95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 −12.6M (MEDIHYALO 55%, BILASTIGEC 55%); Neuro −7.4M (ZETAZOLEX 71%, EPILOSMIDE 39%); GIT-II −11.4M (VONSECA 96%).</a:t>
            </a:r>
            <a:endParaRPr lang="en-US" sz="1000" dirty="0"/>
          </a:p>
        </p:txBody>
      </p:sp>
      <p:sp>
        <p:nvSpPr>
          <p:cNvPr id="100" name="Shape 96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101" name="Text 97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02" name="Text 98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plans with monthly milestones for MEDIHYALO and ZETAZOLEX (actions A122, A129); review Derma/Neuro target basis (A120, A127).</a:t>
            </a:r>
            <a:endParaRPr lang="en-US" sz="1000" dirty="0"/>
          </a:p>
        </p:txBody>
      </p:sp>
      <p:sp>
        <p:nvSpPr>
          <p:cNvPr id="103" name="Shape 0">
            <a:extLst>
              <a:ext uri="{FF2B5EF4-FFF2-40B4-BE49-F238E27FC236}">
                <a16:creationId xmlns:a16="http://schemas.microsoft.com/office/drawing/2014/main" id="{72A77AE2-5D01-4AE9-F4A8-81E28AC7762A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104" name="Text 0">
            <a:extLst>
              <a:ext uri="{FF2B5EF4-FFF2-40B4-BE49-F238E27FC236}">
                <a16:creationId xmlns:a16="http://schemas.microsoft.com/office/drawing/2014/main" id="{D06D2B2D-5575-BD7C-A159-6C26214ED881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047" name="Text 18"/>
          <p:cNvSpPr/>
          <p:nvPr/>
        </p:nvSpPr>
        <p:spPr>
          <a:xfrm>
            <a:off x="502920" y="46863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</a:t>
            </a:r>
            <a:endParaRPr lang="en-US" sz="900" dirty="0"/>
          </a:p>
        </p:txBody>
      </p:sp>
      <p:sp>
        <p:nvSpPr>
          <p:cNvPr id="5048" name="Shape 19"/>
          <p:cNvSpPr/>
          <p:nvPr/>
        </p:nvSpPr>
        <p:spPr>
          <a:xfrm>
            <a:off x="1600200" y="473710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  <p:txBody>
          <a:bodyPr/>
          <a:p/>
        </p:txBody>
      </p:sp>
      <p:sp>
        <p:nvSpPr>
          <p:cNvPr id="5049" name="Shape 20"/>
          <p:cNvSpPr/>
          <p:nvPr/>
        </p:nvSpPr>
        <p:spPr>
          <a:xfrm>
            <a:off x="1600200" y="4737100"/>
            <a:ext cx="63382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5050" name="Text 21"/>
          <p:cNvSpPr/>
          <p:nvPr/>
        </p:nvSpPr>
        <p:spPr>
          <a:xfrm>
            <a:off x="5193792" y="46863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5051" name="Rectangle 5050"/>
          <p:cNvSpPr/>
          <p:nvPr/>
        </p:nvSpPr>
        <p:spPr>
          <a:xfrm>
            <a:off x="7543800" y="1587500"/>
            <a:ext cx="800100" cy="2286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700" b="1">
                <a:solidFill>
                  <a:srgbClr val="0A57A5"/>
                </a:solidFill>
                <a:latin typeface="Calibri"/>
              </a:rPr>
              <a:t>GIT-I</a:t>
            </a:r>
          </a:p>
        </p:txBody>
      </p:sp>
      <p:sp>
        <p:nvSpPr>
          <p:cNvPr id="5052" name="Rectangle 5051"/>
          <p:cNvSpPr/>
          <p:nvPr/>
        </p:nvSpPr>
        <p:spPr>
          <a:xfrm>
            <a:off x="8369300" y="1587500"/>
            <a:ext cx="800100" cy="2286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700" b="1">
                <a:solidFill>
                  <a:srgbClr val="0A57A5"/>
                </a:solidFill>
                <a:latin typeface="Calibri"/>
              </a:rPr>
              <a:t>GIT-II</a:t>
            </a:r>
          </a:p>
        </p:txBody>
      </p:sp>
      <p:sp>
        <p:nvSpPr>
          <p:cNvPr id="5053" name="Rectangle 5052"/>
          <p:cNvSpPr/>
          <p:nvPr/>
        </p:nvSpPr>
        <p:spPr>
          <a:xfrm>
            <a:off x="9194800" y="1587500"/>
            <a:ext cx="800100" cy="2286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700" b="1">
                <a:solidFill>
                  <a:srgbClr val="0A57A5"/>
                </a:solidFill>
                <a:latin typeface="Calibri"/>
              </a:rPr>
              <a:t>GIT-III</a:t>
            </a:r>
          </a:p>
        </p:txBody>
      </p:sp>
      <p:sp>
        <p:nvSpPr>
          <p:cNvPr id="5054" name="Rectangle 5053"/>
          <p:cNvSpPr/>
          <p:nvPr/>
        </p:nvSpPr>
        <p:spPr>
          <a:xfrm>
            <a:off x="10020300" y="1587500"/>
            <a:ext cx="800100" cy="2286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700" b="1">
                <a:solidFill>
                  <a:srgbClr val="0A57A5"/>
                </a:solidFill>
                <a:latin typeface="Calibri"/>
              </a:rPr>
              <a:t>Derma</a:t>
            </a:r>
          </a:p>
        </p:txBody>
      </p:sp>
      <p:sp>
        <p:nvSpPr>
          <p:cNvPr id="5055" name="Rectangle 5054"/>
          <p:cNvSpPr/>
          <p:nvPr/>
        </p:nvSpPr>
        <p:spPr>
          <a:xfrm>
            <a:off x="10845800" y="1587500"/>
            <a:ext cx="800100" cy="2286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700" b="1">
                <a:solidFill>
                  <a:srgbClr val="0A57A5"/>
                </a:solidFill>
                <a:latin typeface="Calibri"/>
              </a:rPr>
              <a:t>Neuroscience</a:t>
            </a:r>
          </a:p>
        </p:txBody>
      </p:sp>
      <p:sp>
        <p:nvSpPr>
          <p:cNvPr id="5056" name="Rectangle 5055"/>
          <p:cNvSpPr/>
          <p:nvPr/>
        </p:nvSpPr>
        <p:spPr>
          <a:xfrm>
            <a:off x="6350000" y="18161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NEXICURE</a:t>
            </a:r>
          </a:p>
        </p:txBody>
      </p:sp>
      <p:sp>
        <p:nvSpPr>
          <p:cNvPr id="5057" name="Rectangle 5056"/>
          <p:cNvSpPr/>
          <p:nvPr/>
        </p:nvSpPr>
        <p:spPr>
          <a:xfrm>
            <a:off x="7543800" y="1822450"/>
            <a:ext cx="800100" cy="152400"/>
          </a:xfrm>
          <a:prstGeom prst="rect">
            <a:avLst/>
          </a:prstGeom>
          <a:solidFill>
            <a:srgbClr val="DEEEE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126%</a:t>
            </a:r>
          </a:p>
        </p:txBody>
      </p:sp>
      <p:sp>
        <p:nvSpPr>
          <p:cNvPr id="5058" name="Rectangle 5057"/>
          <p:cNvSpPr/>
          <p:nvPr/>
        </p:nvSpPr>
        <p:spPr>
          <a:xfrm>
            <a:off x="8369300" y="18224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59" name="Rectangle 5058"/>
          <p:cNvSpPr/>
          <p:nvPr/>
        </p:nvSpPr>
        <p:spPr>
          <a:xfrm>
            <a:off x="9194800" y="18224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60" name="Rectangle 5059"/>
          <p:cNvSpPr/>
          <p:nvPr/>
        </p:nvSpPr>
        <p:spPr>
          <a:xfrm>
            <a:off x="10020300" y="18224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61" name="Rectangle 5060"/>
          <p:cNvSpPr/>
          <p:nvPr/>
        </p:nvSpPr>
        <p:spPr>
          <a:xfrm>
            <a:off x="10845800" y="18224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62" name="Rectangle 5061"/>
          <p:cNvSpPr/>
          <p:nvPr/>
        </p:nvSpPr>
        <p:spPr>
          <a:xfrm>
            <a:off x="6350000" y="19812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VONSECA</a:t>
            </a:r>
          </a:p>
        </p:txBody>
      </p:sp>
      <p:sp>
        <p:nvSpPr>
          <p:cNvPr id="5063" name="Rectangle 5062"/>
          <p:cNvSpPr/>
          <p:nvPr/>
        </p:nvSpPr>
        <p:spPr>
          <a:xfrm>
            <a:off x="7543800" y="19875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64" name="Rectangle 5063"/>
          <p:cNvSpPr/>
          <p:nvPr/>
        </p:nvSpPr>
        <p:spPr>
          <a:xfrm>
            <a:off x="8369300" y="1987550"/>
            <a:ext cx="800100" cy="152400"/>
          </a:xfrm>
          <a:prstGeom prst="rect">
            <a:avLst/>
          </a:prstGeom>
          <a:solidFill>
            <a:srgbClr val="FAEFD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96%</a:t>
            </a:r>
          </a:p>
        </p:txBody>
      </p:sp>
      <p:sp>
        <p:nvSpPr>
          <p:cNvPr id="5065" name="Rectangle 5064"/>
          <p:cNvSpPr/>
          <p:nvPr/>
        </p:nvSpPr>
        <p:spPr>
          <a:xfrm>
            <a:off x="9194800" y="19875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66" name="Rectangle 5065"/>
          <p:cNvSpPr/>
          <p:nvPr/>
        </p:nvSpPr>
        <p:spPr>
          <a:xfrm>
            <a:off x="10020300" y="19875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67" name="Rectangle 5066"/>
          <p:cNvSpPr/>
          <p:nvPr/>
        </p:nvSpPr>
        <p:spPr>
          <a:xfrm>
            <a:off x="10845800" y="19875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68" name="Rectangle 5067"/>
          <p:cNvSpPr/>
          <p:nvPr/>
        </p:nvSpPr>
        <p:spPr>
          <a:xfrm>
            <a:off x="6350000" y="21463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NEXICURE PLUS SACHETS</a:t>
            </a:r>
          </a:p>
        </p:txBody>
      </p:sp>
      <p:sp>
        <p:nvSpPr>
          <p:cNvPr id="5069" name="Rectangle 5068"/>
          <p:cNvSpPr/>
          <p:nvPr/>
        </p:nvSpPr>
        <p:spPr>
          <a:xfrm>
            <a:off x="7543800" y="2152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70" name="Rectangle 5069"/>
          <p:cNvSpPr/>
          <p:nvPr/>
        </p:nvSpPr>
        <p:spPr>
          <a:xfrm>
            <a:off x="8369300" y="2152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71" name="Rectangle 5070"/>
          <p:cNvSpPr/>
          <p:nvPr/>
        </p:nvSpPr>
        <p:spPr>
          <a:xfrm>
            <a:off x="9194800" y="2152650"/>
            <a:ext cx="800100" cy="152400"/>
          </a:xfrm>
          <a:prstGeom prst="rect">
            <a:avLst/>
          </a:prstGeom>
          <a:solidFill>
            <a:srgbClr val="DEEEE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129%</a:t>
            </a:r>
          </a:p>
        </p:txBody>
      </p:sp>
      <p:sp>
        <p:nvSpPr>
          <p:cNvPr id="5072" name="Rectangle 5071"/>
          <p:cNvSpPr/>
          <p:nvPr/>
        </p:nvSpPr>
        <p:spPr>
          <a:xfrm>
            <a:off x="10020300" y="2152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73" name="Rectangle 5072"/>
          <p:cNvSpPr/>
          <p:nvPr/>
        </p:nvSpPr>
        <p:spPr>
          <a:xfrm>
            <a:off x="10845800" y="2152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74" name="Rectangle 5073"/>
          <p:cNvSpPr/>
          <p:nvPr/>
        </p:nvSpPr>
        <p:spPr>
          <a:xfrm>
            <a:off x="6350000" y="23114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BILASTIGEC</a:t>
            </a:r>
          </a:p>
        </p:txBody>
      </p:sp>
      <p:sp>
        <p:nvSpPr>
          <p:cNvPr id="5075" name="Rectangle 5074"/>
          <p:cNvSpPr/>
          <p:nvPr/>
        </p:nvSpPr>
        <p:spPr>
          <a:xfrm>
            <a:off x="7543800" y="23177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63%</a:t>
            </a:r>
          </a:p>
        </p:txBody>
      </p:sp>
      <p:sp>
        <p:nvSpPr>
          <p:cNvPr id="5076" name="Rectangle 5075"/>
          <p:cNvSpPr/>
          <p:nvPr/>
        </p:nvSpPr>
        <p:spPr>
          <a:xfrm>
            <a:off x="8369300" y="23177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77" name="Rectangle 5076"/>
          <p:cNvSpPr/>
          <p:nvPr/>
        </p:nvSpPr>
        <p:spPr>
          <a:xfrm>
            <a:off x="9194800" y="23177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78" name="Rectangle 5077"/>
          <p:cNvSpPr/>
          <p:nvPr/>
        </p:nvSpPr>
        <p:spPr>
          <a:xfrm>
            <a:off x="10020300" y="23177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55%</a:t>
            </a:r>
          </a:p>
        </p:txBody>
      </p:sp>
      <p:sp>
        <p:nvSpPr>
          <p:cNvPr id="5079" name="Rectangle 5078"/>
          <p:cNvSpPr/>
          <p:nvPr/>
        </p:nvSpPr>
        <p:spPr>
          <a:xfrm>
            <a:off x="10845800" y="23177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80" name="Rectangle 5079"/>
          <p:cNvSpPr/>
          <p:nvPr/>
        </p:nvSpPr>
        <p:spPr>
          <a:xfrm>
            <a:off x="6350000" y="24765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MEDIHYALO</a:t>
            </a:r>
          </a:p>
        </p:txBody>
      </p:sp>
      <p:sp>
        <p:nvSpPr>
          <p:cNvPr id="5081" name="Rectangle 5080"/>
          <p:cNvSpPr/>
          <p:nvPr/>
        </p:nvSpPr>
        <p:spPr>
          <a:xfrm>
            <a:off x="7543800" y="24828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26%</a:t>
            </a:r>
          </a:p>
        </p:txBody>
      </p:sp>
      <p:sp>
        <p:nvSpPr>
          <p:cNvPr id="5082" name="Rectangle 5081"/>
          <p:cNvSpPr/>
          <p:nvPr/>
        </p:nvSpPr>
        <p:spPr>
          <a:xfrm>
            <a:off x="8369300" y="24828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83" name="Rectangle 5082"/>
          <p:cNvSpPr/>
          <p:nvPr/>
        </p:nvSpPr>
        <p:spPr>
          <a:xfrm>
            <a:off x="9194800" y="24828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84" name="Rectangle 5083"/>
          <p:cNvSpPr/>
          <p:nvPr/>
        </p:nvSpPr>
        <p:spPr>
          <a:xfrm>
            <a:off x="10020300" y="24828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55%</a:t>
            </a:r>
          </a:p>
        </p:txBody>
      </p:sp>
      <p:sp>
        <p:nvSpPr>
          <p:cNvPr id="5085" name="Rectangle 5084"/>
          <p:cNvSpPr/>
          <p:nvPr/>
        </p:nvSpPr>
        <p:spPr>
          <a:xfrm>
            <a:off x="10845800" y="24828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86" name="Rectangle 5085"/>
          <p:cNvSpPr/>
          <p:nvPr/>
        </p:nvSpPr>
        <p:spPr>
          <a:xfrm>
            <a:off x="6350000" y="26416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ZETAZOLEX</a:t>
            </a:r>
          </a:p>
        </p:txBody>
      </p:sp>
      <p:sp>
        <p:nvSpPr>
          <p:cNvPr id="5087" name="Rectangle 5086"/>
          <p:cNvSpPr/>
          <p:nvPr/>
        </p:nvSpPr>
        <p:spPr>
          <a:xfrm>
            <a:off x="7543800" y="26479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88" name="Rectangle 5087"/>
          <p:cNvSpPr/>
          <p:nvPr/>
        </p:nvSpPr>
        <p:spPr>
          <a:xfrm>
            <a:off x="8369300" y="26479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89" name="Rectangle 5088"/>
          <p:cNvSpPr/>
          <p:nvPr/>
        </p:nvSpPr>
        <p:spPr>
          <a:xfrm>
            <a:off x="9194800" y="26479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90" name="Rectangle 5089"/>
          <p:cNvSpPr/>
          <p:nvPr/>
        </p:nvSpPr>
        <p:spPr>
          <a:xfrm>
            <a:off x="10020300" y="26479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91" name="Rectangle 5090"/>
          <p:cNvSpPr/>
          <p:nvPr/>
        </p:nvSpPr>
        <p:spPr>
          <a:xfrm>
            <a:off x="10845800" y="26479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71%</a:t>
            </a:r>
          </a:p>
        </p:txBody>
      </p:sp>
      <p:sp>
        <p:nvSpPr>
          <p:cNvPr id="5092" name="Rectangle 5091"/>
          <p:cNvSpPr/>
          <p:nvPr/>
        </p:nvSpPr>
        <p:spPr>
          <a:xfrm>
            <a:off x="6350000" y="28067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NEXICURE PLUS CAP</a:t>
            </a:r>
          </a:p>
        </p:txBody>
      </p:sp>
      <p:sp>
        <p:nvSpPr>
          <p:cNvPr id="5093" name="Rectangle 5092"/>
          <p:cNvSpPr/>
          <p:nvPr/>
        </p:nvSpPr>
        <p:spPr>
          <a:xfrm>
            <a:off x="7543800" y="28130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94" name="Rectangle 5093"/>
          <p:cNvSpPr/>
          <p:nvPr/>
        </p:nvSpPr>
        <p:spPr>
          <a:xfrm>
            <a:off x="8369300" y="28130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95" name="Rectangle 5094"/>
          <p:cNvSpPr/>
          <p:nvPr/>
        </p:nvSpPr>
        <p:spPr>
          <a:xfrm>
            <a:off x="9194800" y="2813050"/>
            <a:ext cx="800100" cy="152400"/>
          </a:xfrm>
          <a:prstGeom prst="rect">
            <a:avLst/>
          </a:prstGeom>
          <a:solidFill>
            <a:srgbClr val="DEEEE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164%</a:t>
            </a:r>
          </a:p>
        </p:txBody>
      </p:sp>
      <p:sp>
        <p:nvSpPr>
          <p:cNvPr id="5096" name="Rectangle 5095"/>
          <p:cNvSpPr/>
          <p:nvPr/>
        </p:nvSpPr>
        <p:spPr>
          <a:xfrm>
            <a:off x="10020300" y="28130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97" name="Rectangle 5096"/>
          <p:cNvSpPr/>
          <p:nvPr/>
        </p:nvSpPr>
        <p:spPr>
          <a:xfrm>
            <a:off x="10845800" y="28130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098" name="Rectangle 5097"/>
          <p:cNvSpPr/>
          <p:nvPr/>
        </p:nvSpPr>
        <p:spPr>
          <a:xfrm>
            <a:off x="6350000" y="29718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BUTAZORELLA</a:t>
            </a:r>
          </a:p>
        </p:txBody>
      </p:sp>
      <p:sp>
        <p:nvSpPr>
          <p:cNvPr id="5099" name="Rectangle 5098"/>
          <p:cNvSpPr/>
          <p:nvPr/>
        </p:nvSpPr>
        <p:spPr>
          <a:xfrm>
            <a:off x="7543800" y="29781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00" name="Rectangle 5099"/>
          <p:cNvSpPr/>
          <p:nvPr/>
        </p:nvSpPr>
        <p:spPr>
          <a:xfrm>
            <a:off x="8369300" y="29781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55%</a:t>
            </a:r>
          </a:p>
        </p:txBody>
      </p:sp>
      <p:sp>
        <p:nvSpPr>
          <p:cNvPr id="5101" name="Rectangle 5100"/>
          <p:cNvSpPr/>
          <p:nvPr/>
        </p:nvSpPr>
        <p:spPr>
          <a:xfrm>
            <a:off x="9194800" y="29781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02" name="Rectangle 5101"/>
          <p:cNvSpPr/>
          <p:nvPr/>
        </p:nvSpPr>
        <p:spPr>
          <a:xfrm>
            <a:off x="10020300" y="29781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03" name="Rectangle 5102"/>
          <p:cNvSpPr/>
          <p:nvPr/>
        </p:nvSpPr>
        <p:spPr>
          <a:xfrm>
            <a:off x="10845800" y="29781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04" name="Rectangle 5103"/>
          <p:cNvSpPr/>
          <p:nvPr/>
        </p:nvSpPr>
        <p:spPr>
          <a:xfrm>
            <a:off x="6350000" y="31369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PRUCANETIC</a:t>
            </a:r>
          </a:p>
        </p:txBody>
      </p:sp>
      <p:sp>
        <p:nvSpPr>
          <p:cNvPr id="5105" name="Rectangle 5104"/>
          <p:cNvSpPr/>
          <p:nvPr/>
        </p:nvSpPr>
        <p:spPr>
          <a:xfrm>
            <a:off x="7543800" y="31432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63%</a:t>
            </a:r>
          </a:p>
        </p:txBody>
      </p:sp>
      <p:sp>
        <p:nvSpPr>
          <p:cNvPr id="5106" name="Rectangle 5105"/>
          <p:cNvSpPr/>
          <p:nvPr/>
        </p:nvSpPr>
        <p:spPr>
          <a:xfrm>
            <a:off x="8369300" y="31432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07" name="Rectangle 5106"/>
          <p:cNvSpPr/>
          <p:nvPr/>
        </p:nvSpPr>
        <p:spPr>
          <a:xfrm>
            <a:off x="9194800" y="31432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08" name="Rectangle 5107"/>
          <p:cNvSpPr/>
          <p:nvPr/>
        </p:nvSpPr>
        <p:spPr>
          <a:xfrm>
            <a:off x="10020300" y="31432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09" name="Rectangle 5108"/>
          <p:cNvSpPr/>
          <p:nvPr/>
        </p:nvSpPr>
        <p:spPr>
          <a:xfrm>
            <a:off x="10845800" y="31432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10" name="Rectangle 5109"/>
          <p:cNvSpPr/>
          <p:nvPr/>
        </p:nvSpPr>
        <p:spPr>
          <a:xfrm>
            <a:off x="6350000" y="33020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DUXNORZET</a:t>
            </a:r>
          </a:p>
        </p:txBody>
      </p:sp>
      <p:sp>
        <p:nvSpPr>
          <p:cNvPr id="5111" name="Rectangle 5110"/>
          <p:cNvSpPr/>
          <p:nvPr/>
        </p:nvSpPr>
        <p:spPr>
          <a:xfrm>
            <a:off x="7543800" y="33083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12" name="Rectangle 5111"/>
          <p:cNvSpPr/>
          <p:nvPr/>
        </p:nvSpPr>
        <p:spPr>
          <a:xfrm>
            <a:off x="8369300" y="33083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13" name="Rectangle 5112"/>
          <p:cNvSpPr/>
          <p:nvPr/>
        </p:nvSpPr>
        <p:spPr>
          <a:xfrm>
            <a:off x="9194800" y="33083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14" name="Rectangle 5113"/>
          <p:cNvSpPr/>
          <p:nvPr/>
        </p:nvSpPr>
        <p:spPr>
          <a:xfrm>
            <a:off x="10020300" y="33083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15" name="Rectangle 5114"/>
          <p:cNvSpPr/>
          <p:nvPr/>
        </p:nvSpPr>
        <p:spPr>
          <a:xfrm>
            <a:off x="10845800" y="33083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46%</a:t>
            </a:r>
          </a:p>
        </p:txBody>
      </p:sp>
      <p:sp>
        <p:nvSpPr>
          <p:cNvPr id="5116" name="Rectangle 5115"/>
          <p:cNvSpPr/>
          <p:nvPr/>
        </p:nvSpPr>
        <p:spPr>
          <a:xfrm>
            <a:off x="6350000" y="34671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EPILOSMIDE</a:t>
            </a:r>
          </a:p>
        </p:txBody>
      </p:sp>
      <p:sp>
        <p:nvSpPr>
          <p:cNvPr id="5117" name="Rectangle 5116"/>
          <p:cNvSpPr/>
          <p:nvPr/>
        </p:nvSpPr>
        <p:spPr>
          <a:xfrm>
            <a:off x="7543800" y="34734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18" name="Rectangle 5117"/>
          <p:cNvSpPr/>
          <p:nvPr/>
        </p:nvSpPr>
        <p:spPr>
          <a:xfrm>
            <a:off x="8369300" y="34734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19" name="Rectangle 5118"/>
          <p:cNvSpPr/>
          <p:nvPr/>
        </p:nvSpPr>
        <p:spPr>
          <a:xfrm>
            <a:off x="9194800" y="34734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20" name="Rectangle 5119"/>
          <p:cNvSpPr/>
          <p:nvPr/>
        </p:nvSpPr>
        <p:spPr>
          <a:xfrm>
            <a:off x="10020300" y="34734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21" name="Rectangle 5120"/>
          <p:cNvSpPr/>
          <p:nvPr/>
        </p:nvSpPr>
        <p:spPr>
          <a:xfrm>
            <a:off x="10845800" y="34734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39%</a:t>
            </a:r>
          </a:p>
        </p:txBody>
      </p:sp>
      <p:sp>
        <p:nvSpPr>
          <p:cNvPr id="5122" name="Rectangle 5121"/>
          <p:cNvSpPr/>
          <p:nvPr/>
        </p:nvSpPr>
        <p:spPr>
          <a:xfrm>
            <a:off x="6350000" y="36322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ULCEBISMO</a:t>
            </a:r>
          </a:p>
        </p:txBody>
      </p:sp>
      <p:sp>
        <p:nvSpPr>
          <p:cNvPr id="5123" name="Rectangle 5122"/>
          <p:cNvSpPr/>
          <p:nvPr/>
        </p:nvSpPr>
        <p:spPr>
          <a:xfrm>
            <a:off x="7543800" y="36385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24" name="Rectangle 5123"/>
          <p:cNvSpPr/>
          <p:nvPr/>
        </p:nvSpPr>
        <p:spPr>
          <a:xfrm>
            <a:off x="8369300" y="3638550"/>
            <a:ext cx="800100" cy="152400"/>
          </a:xfrm>
          <a:prstGeom prst="rect">
            <a:avLst/>
          </a:prstGeom>
          <a:solidFill>
            <a:srgbClr val="F6DFDC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16222E"/>
                </a:solidFill>
                <a:latin typeface="Calibri"/>
              </a:rPr>
              <a:t>55%</a:t>
            </a:r>
          </a:p>
        </p:txBody>
      </p:sp>
      <p:sp>
        <p:nvSpPr>
          <p:cNvPr id="5125" name="Rectangle 5124"/>
          <p:cNvSpPr/>
          <p:nvPr/>
        </p:nvSpPr>
        <p:spPr>
          <a:xfrm>
            <a:off x="9194800" y="36385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26" name="Rectangle 5125"/>
          <p:cNvSpPr/>
          <p:nvPr/>
        </p:nvSpPr>
        <p:spPr>
          <a:xfrm>
            <a:off x="10020300" y="36385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27" name="Rectangle 5126"/>
          <p:cNvSpPr/>
          <p:nvPr/>
        </p:nvSpPr>
        <p:spPr>
          <a:xfrm>
            <a:off x="10845800" y="36385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28" name="Rectangle 5127"/>
          <p:cNvSpPr/>
          <p:nvPr/>
        </p:nvSpPr>
        <p:spPr>
          <a:xfrm>
            <a:off x="6350000" y="37973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VORTAXMODE</a:t>
            </a:r>
          </a:p>
        </p:txBody>
      </p:sp>
      <p:sp>
        <p:nvSpPr>
          <p:cNvPr id="5129" name="Rectangle 5128"/>
          <p:cNvSpPr/>
          <p:nvPr/>
        </p:nvSpPr>
        <p:spPr>
          <a:xfrm>
            <a:off x="7543800" y="3803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30" name="Rectangle 5129"/>
          <p:cNvSpPr/>
          <p:nvPr/>
        </p:nvSpPr>
        <p:spPr>
          <a:xfrm>
            <a:off x="8369300" y="3803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31" name="Rectangle 5130"/>
          <p:cNvSpPr/>
          <p:nvPr/>
        </p:nvSpPr>
        <p:spPr>
          <a:xfrm>
            <a:off x="9194800" y="3803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32" name="Rectangle 5131"/>
          <p:cNvSpPr/>
          <p:nvPr/>
        </p:nvSpPr>
        <p:spPr>
          <a:xfrm>
            <a:off x="10020300" y="3803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33" name="Rectangle 5132"/>
          <p:cNvSpPr/>
          <p:nvPr/>
        </p:nvSpPr>
        <p:spPr>
          <a:xfrm>
            <a:off x="10845800" y="38036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00" b="0">
                <a:solidFill>
                  <a:srgbClr val="5E6E7C"/>
                </a:solidFill>
                <a:latin typeface="Calibri"/>
              </a:rPr>
              <a:t>no target</a:t>
            </a:r>
          </a:p>
        </p:txBody>
      </p:sp>
      <p:sp>
        <p:nvSpPr>
          <p:cNvPr id="5134" name="Rectangle 5133"/>
          <p:cNvSpPr/>
          <p:nvPr/>
        </p:nvSpPr>
        <p:spPr>
          <a:xfrm>
            <a:off x="6350000" y="3962400"/>
            <a:ext cx="1193800" cy="165100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l"/>
            <a:r>
              <a:rPr sz="600" b="1">
                <a:solidFill>
                  <a:srgbClr val="16222E"/>
                </a:solidFill>
                <a:latin typeface="Calibri"/>
              </a:rPr>
              <a:t>DOZOVA GASTROCOL</a:t>
            </a:r>
          </a:p>
        </p:txBody>
      </p:sp>
      <p:sp>
        <p:nvSpPr>
          <p:cNvPr id="5135" name="Rectangle 5134"/>
          <p:cNvSpPr/>
          <p:nvPr/>
        </p:nvSpPr>
        <p:spPr>
          <a:xfrm>
            <a:off x="7543800" y="39687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36" name="Rectangle 5135"/>
          <p:cNvSpPr/>
          <p:nvPr/>
        </p:nvSpPr>
        <p:spPr>
          <a:xfrm>
            <a:off x="8369300" y="39687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00" b="0">
                <a:solidFill>
                  <a:srgbClr val="5E6E7C"/>
                </a:solidFill>
                <a:latin typeface="Calibri"/>
              </a:rPr>
              <a:t>no target</a:t>
            </a:r>
          </a:p>
        </p:txBody>
      </p:sp>
      <p:sp>
        <p:nvSpPr>
          <p:cNvPr id="5137" name="Rectangle 5136"/>
          <p:cNvSpPr/>
          <p:nvPr/>
        </p:nvSpPr>
        <p:spPr>
          <a:xfrm>
            <a:off x="9194800" y="39687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38" name="Rectangle 5137"/>
          <p:cNvSpPr/>
          <p:nvPr/>
        </p:nvSpPr>
        <p:spPr>
          <a:xfrm>
            <a:off x="10020300" y="39687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  <p:sp>
        <p:nvSpPr>
          <p:cNvPr id="5139" name="Rectangle 5138"/>
          <p:cNvSpPr/>
          <p:nvPr/>
        </p:nvSpPr>
        <p:spPr>
          <a:xfrm>
            <a:off x="10845800" y="3968750"/>
            <a:ext cx="800100" cy="15240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/>
          <a:lstStyle/>
          <a:p>
            <a:pPr algn="ctr"/>
            <a:r>
              <a:rPr sz="650" b="0">
                <a:solidFill>
                  <a:srgbClr val="AEC0CE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7086600" cy="2692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Ach.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+78.8M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 SACHETS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BILASTIGEC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MEDIHYALO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ZETAZOLEX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BUTAZORELLA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PRUCANETIC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DUXNORZET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EPILOSMIDE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ULCEBISMO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VORTAXMODE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 GASTROCOL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RANKING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744968" y="1591056"/>
          <a:ext cx="3977640" cy="2450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5"/>
          <p:cNvSpPr/>
          <p:nvPr/>
        </p:nvSpPr>
        <p:spPr>
          <a:xfrm>
            <a:off x="781812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GIT sales brands; VORTAXMODE and DOZOVA GASTROCOL have no YTD target. Source: Zeta Intel Dashboard – Sales (Official target, tender excluded), Jan–Aug 2026. EGP.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658368" y="42062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121408" y="42473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2276856" y="42062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259836" y="42473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7" name="Text 11"/>
          <p:cNvSpPr/>
          <p:nvPr/>
        </p:nvSpPr>
        <p:spPr>
          <a:xfrm>
            <a:off x="3415284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4443984"/>
            <a:ext cx="11185855" cy="1609344"/>
          </a:xfrm>
          <a:prstGeom prst="roundRect">
            <a:avLst>
              <a:gd name="adj" fmla="val 397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64008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4008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NEXICURE (+78.8M) and the NEXICURE PLUS launch carried the period; BILASTIGEC, MEDIHYALO and ZETAZOLEX are the largest shortfalls.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31538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435041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35041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VONSECA 96% (−7.0M) with EI 128 in-market; BILASTIGEC 57%, MEDIHYALO 48%, ZETAZOLEX 71%; smaller brands PRUCANETIC 63%, BUTAZORELLA 55%, DUXNORZET 46%, EPILOSMIDE 39%.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41869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8060741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060741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Brand-level recovery plans for MEDIHYALO, BILASTIGEC, ZETAZOLEX; review target basis where in-market growth is strong but sell-in lags.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8A1B3477-A595-F3AD-A89E-F7B808C92FC4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2F75E294-B73C-EA07-2077-CFA0EA699EE5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 |  Official target mix vs actual mix, YTD Aug 2026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MIX – YTD AUG 2026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82496"/>
          <a:ext cx="3520440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1605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MIX – YTD AUG 2026</a:t>
            </a:r>
            <a:endParaRPr lang="en-US" sz="9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087368" y="1682496"/>
          <a:ext cx="3520440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02920" y="40233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Zeta Intel Dashboard – Sales (Official target, tender excluded), Jan–Aug 2026. EGP. NEXICURE PLUS = sachets + capsules. LY sell-in mix not available (no 2025 own-sales file).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7882128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SHIFT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82128" y="1682496"/>
          <a:ext cx="3803904" cy="18379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mix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+8.8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BILASTIGEC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7882128" y="3621024"/>
            <a:ext cx="3803904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0"/>
          <p:cNvSpPr/>
          <p:nvPr/>
        </p:nvSpPr>
        <p:spPr>
          <a:xfrm>
            <a:off x="8046720" y="37124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CHECK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(NEXICURE) = 64% of BU sales  ·  Top 3 brands = 94%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02920" y="4517136"/>
            <a:ext cx="11185855" cy="1536192"/>
          </a:xfrm>
          <a:prstGeom prst="roundRect">
            <a:avLst>
              <a:gd name="adj" fmla="val 416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40080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moved further toward NEXICURE: 64.4% of actual vs 55.6% planned (+8.8 pts); VONSECA, BILASTIGEC and Others below plan.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86704" y="4626864"/>
            <a:ext cx="7315" cy="1316736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6205576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05576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Over-dependent: one brand = 64% and top 3 = 94% of sales. NEXICURE sell-in Jul–Aug +16% vs Jan–Jun while IQVIA in-market −14% – stock position to be confirmed (A108).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F7DFCBA5-3CEB-3493-B311-4DC362A827DD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1636223D-F070-B49C-EA17-096F5EF97A17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0949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10896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Coverage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the right customers across our priority classes and specialties?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 ·  YTD | AUGUST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  |  95.0%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90% (dashboard bar)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page filters: Medical Rep, Senior Medical Rep, Product Specialist · Non-Probation · Active · Doctor + Hospital + Contract accounts. Five largest classes and specialties by YTD customer-months (count in brackets). A-classes: 90.8% YTD.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CLASS · YTD VS AUGUST · TARGET 90%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SPECIALTY · YTD VS AUGUST · TARGET 90%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Zeta Intel Dashboard – Coverage page rule (active rows, sick-leave-exempt excluded, prorated frequency); YTD = Feb–Aug pooled. Filters: Medical Rep + Senior Medical Rep + Product Specialist · Non-Probation · Active · Doctor, Hospital, Contract accounts.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meets the 90% bar: 91.1% YTD and 95.0% in August. Below 90% YTD: AA1 88%, Ortho 89%, GIT 89%; Contract accounts 79%.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 line 75% YTD (Apr–Jun line start) vs 94% in August; all other lines ≥90% YTD. Territory causes – BU to confirm.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coverage ≥90% on all lines; lift Contract accounts and AA1 class to 90%; keep Derma at August level.</a:t>
            </a:r>
            <a:endParaRPr lang="en-US" sz="1000" dirty="0"/>
          </a:p>
        </p:txBody>
      </p:sp>
      <p:graphicFrame>
        <p:nvGraphicFramePr>
          <p:cNvPr id="78" name="Chart 77"/>
          <p:cNvGraphicFramePr>
            <a:graphicFrameLocks noGrp="1"/>
          </p:cNvGraphicFramePr>
          <p:nvPr/>
        </p:nvGraphicFramePr>
        <p:xfrm>
          <a:off x="508000" y="2603500"/>
          <a:ext cx="5461000" cy="21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9" name="Chart 78"/>
          <p:cNvGraphicFramePr>
            <a:graphicFrameLocks noGrp="1"/>
          </p:cNvGraphicFramePr>
          <p:nvPr/>
        </p:nvGraphicFramePr>
        <p:xfrm>
          <a:off x="6223000" y="2603500"/>
          <a:ext cx="5473700" cy="2133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covered customers with the required call frequency?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RIGHT FREQUENCY  ·  YTD | AUGUST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57.1%  |  71.0%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80% (dashboard bar)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filters and categories as the coverage slide. A-classes: RF 52.5% YTD vs 57.1% overall. Hospital accounts 49%, Contract 37% YTD.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CLASS · YTD VS AUGUST · TARGET 80%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SPECIALTY · YTD VS AUGUST · TARGET 80%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Zeta Intel Dashboard – Coverage page rule (active rows, sick-leave-exempt excluded, prorated frequency); YTD = Feb–Aug pooled. Filters: Medical Rep + Senior Medical Rep + Product Specialist · Non-Probation · Active · Doctor, Hospital, Contract accounts.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is the gap: 57.1% YTD, 71.0% in August vs 80%. Lowest large groups YTD: AA1 46%, AA3 53%, GIT specialty 53%.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72" name="Text 69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achievement 77% of target visits YTD (88% Aug); coaching 5.5 calls per coaching day vs target 7.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Re-balance call plans toward AA-classes, GIT specialists and hospital accounts; weekly RF tracking by territory.</a:t>
            </a:r>
            <a:endParaRPr lang="en-US" sz="1000" dirty="0"/>
          </a:p>
        </p:txBody>
      </p:sp>
      <p:graphicFrame>
        <p:nvGraphicFramePr>
          <p:cNvPr id="77" name="Chart 76"/>
          <p:cNvGraphicFramePr>
            <a:graphicFrameLocks noGrp="1"/>
          </p:cNvGraphicFramePr>
          <p:nvPr/>
        </p:nvGraphicFramePr>
        <p:xfrm>
          <a:off x="508000" y="2603500"/>
          <a:ext cx="5461000" cy="21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8" name="Chart 77"/>
          <p:cNvGraphicFramePr>
            <a:graphicFrameLocks noGrp="1"/>
          </p:cNvGraphicFramePr>
          <p:nvPr/>
        </p:nvGraphicFramePr>
        <p:xfrm>
          <a:off x="6223000" y="2603500"/>
          <a:ext cx="5473700" cy="2133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Sep–Dec Customer Execution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field-force effort be redirected during Sep–Dec 2026?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02920" y="1389888"/>
          <a:ext cx="11164824" cy="26883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Sep–Dec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accounts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coverage 79% → 90% and RF 37% →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AA1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coverage 88% → 90% and RF 46% →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specialty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coverage 89% → 90% and RF 53% →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accounts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(91%); raise RF 49% → 80% with repeat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 specialty (largest list)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(93%); raise RF 59% → 80% with repeat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CC3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coverage 93%; take RF 73% →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15137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Feb–Aug, carried from the two previous slides. Filters: Medical Rep + Senior Medical Rep + Product Specialist · Non-Probation · Active · Doctor, Hospital, Contract accounts. Gap: coverage &lt; 90%, RF &lt; 80%.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02920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85800" y="4498848"/>
            <a:ext cx="137160" cy="137160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905256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areas where customer reach is insufficient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5800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accts (79% / 37%), AA1 (88% / 46%), GIT spec. (89% / 53%)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45104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3527984" y="4498848"/>
            <a:ext cx="137160" cy="137160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747440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FREQUENCY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27984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covered but required call frequency is not achieved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27984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accts (91% / 49%), IM (93% / 59%), AA3 (91% / 53%)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87288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17"/>
          <p:cNvSpPr/>
          <p:nvPr/>
        </p:nvSpPr>
        <p:spPr>
          <a:xfrm>
            <a:off x="6370168" y="4498848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589624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EXECUTION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70168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important areas with strong coverage and RF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370168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CC3 (97% / 89%), G.P (98% / 78%) – August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029471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212351" y="4498848"/>
            <a:ext cx="137160" cy="137160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9431807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12351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coverage and RF materially weak - full reset required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212351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 line YTD (75% / 45%), Contract accts (79% / 37%)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" y="5614416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area on this slide must reappear as an owned, dated action in the Sep–Dec 2026 Action Plan.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814170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10896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 Performance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16736"/>
            <a:ext cx="11185855" cy="512064"/>
          </a:xfrm>
          <a:prstGeom prst="roundRect">
            <a:avLst>
              <a:gd name="adj" fmla="val 1250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85800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  the promotional budget agreed and approved at the beginning of the year          |          DYNAMIC BUDGET  the actual promotional spending incurred up to the end of YTD Aug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1792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776667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895539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95539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050414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169286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69286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324161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443033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43033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158996" y="2103120"/>
            <a:ext cx="128016" cy="128016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597908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16780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ACHIEVEMENT 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716780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1432743" y="2103120"/>
            <a:ext cx="128016" cy="128016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0292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SPENDING TRANSLATING INTO BUSINESS PERFORMANCE?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29768" y="3108960"/>
          <a:ext cx="69037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502920" y="496519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790688" y="3108960"/>
            <a:ext cx="3895344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7973568" y="321868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SPEND-TO-PERFORMANCE READING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973568" y="3520440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8174736" y="347472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≈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tracking business delivery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973568" y="4005072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8174736" y="39593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 not converting - efficiency issue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973568" y="4489704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8174736" y="44439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Under-spend - possible missed opportunity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02920" y="5230368"/>
            <a:ext cx="11185855" cy="822960"/>
          </a:xfrm>
          <a:prstGeom prst="roundRect">
            <a:avLst>
              <a:gd name="adj" fmla="val 7778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64008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64008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31538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435041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35041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941869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8060741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60741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Efficiency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promotional investment earning its return, and where must it be reallocated?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481328"/>
          <a:ext cx="5989320" cy="1473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Ach.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3877056"/>
            <a:ext cx="5989320" cy="1133856"/>
          </a:xfrm>
          <a:prstGeom prst="roundRect">
            <a:avLst>
              <a:gd name="adj" fmla="val 5645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640080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88436" y="3986784"/>
            <a:ext cx="7315" cy="914400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3607308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07308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360920" y="1645920"/>
            <a:ext cx="1956816" cy="1517904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9317736" y="1645920"/>
            <a:ext cx="1956816" cy="1517904"/>
          </a:xfrm>
          <a:prstGeom prst="rect">
            <a:avLst/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7360920" y="3163824"/>
            <a:ext cx="1956816" cy="1517904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9317736" y="3163824"/>
            <a:ext cx="1956816" cy="1517904"/>
          </a:xfrm>
          <a:prstGeom prst="rect">
            <a:avLst/>
          </a:prstGeom>
          <a:solidFill>
            <a:srgbClr val="F8F5F4"/>
          </a:solidFill>
          <a:ln w="12700">
            <a:solidFill>
              <a:srgbClr val="F8F5F4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9312250" y="1645920"/>
            <a:ext cx="10973" cy="303580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7360920" y="3158338"/>
            <a:ext cx="3913632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ln w="9525">
            <a:solidFill>
              <a:srgbClr val="D9E0E6"/>
            </a:solidFill>
            <a:prstDash val="solid"/>
          </a:ln>
        </p:spPr>
        <p:txBody>
          <a:bodyPr/>
          <a:p/>
        </p:txBody>
      </p:sp>
      <p:sp>
        <p:nvSpPr>
          <p:cNvPr id="8" name="Text 19"/>
          <p:cNvSpPr/>
          <p:nvPr/>
        </p:nvSpPr>
        <p:spPr>
          <a:xfrm>
            <a:off x="7470648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- protect and consider investing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427464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- validate the return level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70648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Under-supported - decide invest or exit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427464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- reallocate the budget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360920" y="473659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  →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360920" y="14081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SALES ACHIEVEMENT %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360920" y="499262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13603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10896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Gaps &amp;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across the four pillars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517904"/>
          <a:ext cx="11073384" cy="30723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045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58368" y="46634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709928" y="47045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865376" y="46634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642616" y="4704588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798064" y="4663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949440" y="46634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on this slide appears as an action on slide 22.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2920" y="4956048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640080" y="5047488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STORY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0080" y="5230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Sep–Dec 2026 Action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specific, measurable, owned and time-bound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02920" y="1426464"/>
          <a:ext cx="11183112" cy="23622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 /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Expected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00"/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00"/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718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8503920" y="4741164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659368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916668" y="47411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0072116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1329416" y="47411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1484864" y="47000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40080" y="5120640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40080" y="5303520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Decisions &amp; Support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senior management, and what this Business Unit commits to deliver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22376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are required from senior management?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0664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452464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REQUIRED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2464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or resources are needed?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0752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11185855" cy="2340864"/>
          </a:xfrm>
          <a:prstGeom prst="roundRect">
            <a:avLst>
              <a:gd name="adj" fmla="val 2734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Sep–Dec 2026 COMMITMENTS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" y="4133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Business Unit commits to deliver by year-end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8952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5256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5256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2971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069275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069275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86990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23329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33294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51009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397313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97313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415028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561332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61332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Market Share vs Target – DM2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YTD August 2026 Business Review  |  GIT BU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7302500" cy="2527300"/>
        </p:xfrm>
        <a:graphic>
          <a:graphicData uri="http://schemas.openxmlformats.org/drawingml/2006/table">
            <a:tbl>
              <a:tblPr/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DM2 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Aug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of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PPI _ORAL_SOLID 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BILASTIGEC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BELASTINE_CETRIZINE TAB 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+2.55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ZETAZOLEX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BREXPIPRAZOLE_MKT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+3.22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 (sachets)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PPI_SOD BICARB_SACH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+0.53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DUXNORZET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DULOXETINE_60 MG  _SDUXONORZET 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-0.28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MEDIHYALO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OTH W HEALING _MEDIHYALO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P-CAB_MKT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-3.52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EPILOSAMIDE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LACOSAMIDE_MKT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 (caps)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PPI_SOD BICARB_CAP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-2.52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VORTAXMODE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Vortaxmode 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-14.92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PRUCANETIC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PRUCALOPRIDE_MKT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ULCEBISMO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BISMUTH ANTIULCERANTS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b="1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48513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58368" y="44439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/ above target (≥100%)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052828" y="448513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  <p:txBody>
          <a:bodyPr/>
          <a:p/>
        </p:txBody>
      </p:sp>
      <p:sp>
        <p:nvSpPr>
          <p:cNvPr id="7" name="Text 7"/>
          <p:cNvSpPr/>
          <p:nvPr/>
        </p:nvSpPr>
        <p:spPr>
          <a:xfrm>
            <a:off x="2208276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target (80–99%)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34156" y="448513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3689604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80% of target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949440" y="444398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share of each brand in its DM2 market, YTD Jan–Aug. Targets: TARGET_MARKET_SHARE.xlsx (DM2 column) – same rule as the dashboard Market Intelligence target view.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02920" y="4828032"/>
            <a:ext cx="11185855" cy="1225296"/>
          </a:xfrm>
          <a:prstGeom prst="roundRect">
            <a:avLst>
              <a:gd name="adj" fmla="val 522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4008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08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 brand–market targets met: NEXICURE 241%, BILASTIGEC 202%, ZETAZOLEX 118%, NEXICURE PLUS sach. 107%.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31538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435041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5041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gaps: VORTAXMODE 0.1% vs 15% (-14.9 pts); VONSECA 16.5% vs 20% (-3.5 pts); MEDIHYALO 25.1% vs 28% (-2.9 pts); NEXICURE PLUS caps 1.5% vs 4% (-2.5 pts). EPILOSAMIDE faces 3 new lacosamide entrants.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41869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8060741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060741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recovery plans for VONSECA and MEDIHYALO; VORTAXMODE and NEXICURE PLUS caps launch plans; set targets for PRUCANETIC and ULCEBISMO (TBD in target file).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9FC556F9-B19D-1828-CD0A-AD2F800CE532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  <p:txBody>
          <a:bodyPr/>
          <a:p/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14C09FD-F654-5032-EC4E-A030B10ABA77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  ·  DM2</a:t>
            </a:r>
            <a:endParaRPr lang="en-US" sz="950" dirty="0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128000" y="1320800"/>
          <a:ext cx="3568700" cy="3175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051" name="Text 10"/>
          <p:cNvSpPr/>
          <p:nvPr/>
        </p:nvSpPr>
        <p:spPr>
          <a:xfrm>
            <a:off x="8128000" y="1168400"/>
            <a:ext cx="3568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 b="1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(colour = status) VS TARGET, % SU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4756</Words>
  <Application>Microsoft Office PowerPoint</Application>
  <PresentationFormat>Widescreen</PresentationFormat>
  <Paragraphs>1063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[COMPANY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1 2026 Business Review - BU Template</dc:title>
  <dc:subject>Standardized CEO-level Business Review framework</dc:subject>
  <dc:creator>Business Unit Management</dc:creator>
  <cp:lastModifiedBy>Ahmed Hamid</cp:lastModifiedBy>
  <cp:revision>6</cp:revision>
  <dcterms:created xsi:type="dcterms:W3CDTF">2026-08-02T14:24:58Z</dcterms:created>
  <dcterms:modified xsi:type="dcterms:W3CDTF">2026-08-10T12:06:53Z</dcterms:modified>
</cp:coreProperties>
</file>