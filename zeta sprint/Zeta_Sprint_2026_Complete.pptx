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1" r:id="rId1"/>
  </p:sldMasterIdLst>
  <p:notesMasterIdLst>
    <p:notesMasterId r:id="rId24"/>
  </p:notesMasterIdLst>
  <p:sldIdLst>
    <p:sldId id="283" r:id="rId2"/>
    <p:sldId id="284" r:id="rId3"/>
    <p:sldId id="285" r:id="rId4"/>
    <p:sldId id="286" r:id="rId5"/>
    <p:sldId id="287" r:id="rId6"/>
    <p:sldId id="288" r:id="rId7"/>
    <p:sldId id="289" r:id="rId8"/>
    <p:sldId id="290" r:id="rId9"/>
    <p:sldId id="291" r:id="rId10"/>
    <p:sldId id="292" r:id="rId11"/>
    <p:sldId id="293" r:id="rId12"/>
    <p:sldId id="294" r:id="rId13"/>
    <p:sldId id="295" r:id="rId14"/>
    <p:sldId id="296" r:id="rId15"/>
    <p:sldId id="297" r:id="rId16"/>
    <p:sldId id="298" r:id="rId17"/>
    <p:sldId id="299" r:id="rId18"/>
    <p:sldId id="300" r:id="rId19"/>
    <p:sldId id="301" r:id="rId20"/>
    <p:sldId id="302" r:id="rId21"/>
    <p:sldId id="303" r:id="rId22"/>
    <p:sldId id="304" r:id="rId23"/>
  </p:sldIdLst>
  <p:sldSz cx="9144000" cy="5143500" type="screen16x9"/>
  <p:notesSz cx="5143500" cy="9144000"/>
  <p:embeddedFontLst>
    <p:embeddedFont>
      <p:font typeface="Montserrat" panose="00000500000000000000" pitchFamily="2" charset="0"/>
      <p:regular r:id="rId25"/>
      <p:bold r:id="rId26"/>
      <p:italic r:id="rId27"/>
      <p:boldItalic r:id="rId28"/>
    </p:embeddedFont>
    <p:embeddedFont>
      <p:font typeface="Open Sans" panose="020B0606030504020204" pitchFamily="34" charset="0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" name="Google Shape;2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3" name="Google Shape;113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8" name="Google Shape;168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0" name="Google Shape;180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1" name="Google Shape;27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7" name="Google Shape;337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8" name="Google Shape;338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7" name="Google Shape;457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7" name="Google Shape;537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8" name="Google Shape;538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4" name="Google Shape;674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5" name="Google Shape;675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6" name="Google Shape;686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7" name="Google Shape;687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Google Shape;720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1" name="Google Shape;721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2" name="Google Shape;722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56" name="Google Shape;756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7" name="Google Shape;757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1" name="Google Shape;791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2" name="Google Shape;792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Google Shape;825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6" name="Google Shape;826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Google Shape;860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1" name="Google Shape;861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2" name="Google Shape;862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Google Shape;872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3" name="Google Shape;873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4" name="Google Shape;874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7" name="Google Shape;937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8" name="Google Shape;938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7" name="Google Shape;997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8" name="Google Shape;998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09" name="Google Shape;1009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0" name="Google Shape;1010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" name="Google Shape;1048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49" name="Google Shape;1049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50" name="Google Shape;1050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1" name="Google Shape;1141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42" name="Google Shape;1142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3" name="Google Shape;1143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ahmedabdallahsfe-ai.github.io/Zeta-Sprint-Points-Calculator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https://ahmedabdallahsfe-ai.github.io/Zeta-Sprint-Points-Calculator/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ahmedabdallahsfe-ai.github.io/Zeta-Sprint-Points-Calculator/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hmedabdallahsfe-ai.github.io/Zeta-Sprint-Points-Calculator/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hmedabdallahsfe-ai.github.io/Zeta-Sprint-Points-Calculator/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C">
            <a:alpha val="100000"/>
          </a:srgbClr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/>
          <p:nvPr/>
        </p:nvSpPr>
        <p:spPr>
          <a:xfrm>
            <a:off x="0" y="0"/>
            <a:ext cx="152400" cy="5143500"/>
          </a:xfrm>
          <a:prstGeom prst="rect">
            <a:avLst/>
          </a:prstGeom>
          <a:solidFill>
            <a:srgbClr val="FAAD14"/>
          </a:solidFill>
          <a:ln w="12700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3"/>
          <p:cNvSpPr/>
          <p:nvPr/>
        </p:nvSpPr>
        <p:spPr>
          <a:xfrm>
            <a:off x="487680" y="704088"/>
            <a:ext cx="73152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5400"/>
              <a:buFont typeface="Open Sans"/>
              <a:buNone/>
            </a:pPr>
            <a:r>
              <a:rPr lang="en-US" sz="5400" b="1" i="0" u="none" strike="noStrike" cap="none" dirty="0">
                <a:solidFill>
                  <a:srgbClr val="0F2557"/>
                </a:solidFill>
                <a:latin typeface="Montserrat"/>
                <a:ea typeface="Montserrat"/>
                <a:cs typeface="Montserrat"/>
                <a:sym typeface="Montserrat"/>
              </a:rPr>
              <a:t>ZETA SPRINT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640080" y="1572768"/>
            <a:ext cx="64008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50C9"/>
              </a:buClr>
              <a:buSzPts val="2200"/>
              <a:buFont typeface="Open Sans"/>
              <a:buNone/>
            </a:pPr>
            <a:r>
              <a:rPr lang="en-US" sz="2200" b="0" i="0" u="none" strike="noStrike" cap="none">
                <a:solidFill>
                  <a:srgbClr val="1E50C9"/>
                </a:solidFill>
                <a:latin typeface="Open Sans"/>
                <a:ea typeface="Open Sans"/>
                <a:cs typeface="Open Sans"/>
                <a:sym typeface="Open Sans"/>
              </a:rPr>
              <a:t>2026 Sales Competition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640080" y="2057400"/>
            <a:ext cx="64008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86"/>
              </a:buClr>
              <a:buSzPts val="1600"/>
              <a:buFont typeface="Open Sans"/>
              <a:buNone/>
            </a:pPr>
            <a:r>
              <a:rPr lang="en-US" sz="1600" b="0" i="0" u="none" strike="noStrike" cap="none">
                <a:solidFill>
                  <a:srgbClr val="5B6B86"/>
                </a:solidFill>
                <a:latin typeface="Open Sans"/>
                <a:ea typeface="Open Sans"/>
                <a:cs typeface="Open Sans"/>
                <a:sym typeface="Open Sans"/>
              </a:rPr>
              <a:t>Points Calculator &amp; Complete Guide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640080" y="2542032"/>
            <a:ext cx="2743200" cy="45720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640080" y="2670048"/>
            <a:ext cx="64008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A93"/>
              </a:buClr>
              <a:buSzPts val="1300"/>
              <a:buFont typeface="Open Sans"/>
              <a:buNone/>
            </a:pPr>
            <a:r>
              <a:rPr lang="en-US" sz="1300" b="0" i="0" u="none" strike="noStrike" cap="none">
                <a:solidFill>
                  <a:srgbClr val="6B7A93"/>
                </a:solidFill>
                <a:latin typeface="Open Sans"/>
                <a:ea typeface="Open Sans"/>
                <a:cs typeface="Open Sans"/>
                <a:sym typeface="Open Sans"/>
              </a:rPr>
              <a:t>June - December 2026  |  7 Months  |  All Roles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/>
          <p:nvPr/>
        </p:nvSpPr>
        <p:spPr>
          <a:xfrm>
            <a:off x="640080" y="3154680"/>
            <a:ext cx="3474720" cy="594360"/>
          </a:xfrm>
          <a:prstGeom prst="roundRect">
            <a:avLst>
              <a:gd name="adj" fmla="val 12308"/>
            </a:avLst>
          </a:prstGeom>
          <a:solidFill>
            <a:srgbClr val="FFFFFF">
              <a:alpha val="89804"/>
            </a:srgbClr>
          </a:solidFill>
          <a:ln w="1905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3"/>
          <p:cNvSpPr/>
          <p:nvPr/>
        </p:nvSpPr>
        <p:spPr>
          <a:xfrm>
            <a:off x="685799" y="3154680"/>
            <a:ext cx="6809509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E50C9"/>
              </a:buClr>
              <a:buSzPts val="1600"/>
            </a:pPr>
            <a:r>
              <a:rPr lang="en-US" sz="900" dirty="0">
                <a:solidFill>
                  <a:srgbClr val="1E50C9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https://ahmedabdallahsfe-ai.github.io/Zeta-Sprint-Points-Calculator/</a:t>
            </a:r>
            <a:endParaRPr sz="9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/>
          <p:cNvSpPr/>
          <p:nvPr/>
        </p:nvSpPr>
        <p:spPr>
          <a:xfrm>
            <a:off x="640080" y="3858768"/>
            <a:ext cx="54864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1200"/>
              <a:buFont typeface="Open Sans"/>
              <a:buNone/>
            </a:pPr>
            <a:r>
              <a:rPr lang="en-US" sz="1200" b="0" i="1" u="none" strike="noStrike" cap="none" dirty="0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Perform  |  Earn Points  |  Win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6B7544-F666-8BF2-EF85-69DDC14594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9329" y="9075"/>
            <a:ext cx="3892378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4298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4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4"/>
          <p:cNvSpPr/>
          <p:nvPr/>
        </p:nvSpPr>
        <p:spPr>
          <a:xfrm>
            <a:off x="320040" y="91440"/>
            <a:ext cx="85039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What is Zeta Sprint?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274320" y="1005840"/>
            <a:ext cx="49377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4"/>
          <p:cNvSpPr/>
          <p:nvPr/>
        </p:nvSpPr>
        <p:spPr>
          <a:xfrm>
            <a:off x="411480" y="1234440"/>
            <a:ext cx="502920" cy="502920"/>
          </a:xfrm>
          <a:prstGeom prst="ellipse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4"/>
          <p:cNvSpPr/>
          <p:nvPr/>
        </p:nvSpPr>
        <p:spPr>
          <a:xfrm>
            <a:off x="411480" y="123444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📅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1051560" y="1078992"/>
            <a:ext cx="40233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2026 Sales Competition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1051560" y="1417320"/>
            <a:ext cx="40233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June - December  |  7 months  |  All Roles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274320" y="1005840"/>
            <a:ext cx="54864" cy="10972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4"/>
          <p:cNvSpPr/>
          <p:nvPr/>
        </p:nvSpPr>
        <p:spPr>
          <a:xfrm>
            <a:off x="274320" y="2240280"/>
            <a:ext cx="49377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411480" y="2468880"/>
            <a:ext cx="502920" cy="502920"/>
          </a:xfrm>
          <a:prstGeom prst="ellipse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411480" y="246888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📊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1051560" y="2313432"/>
            <a:ext cx="40233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Scoring System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1051560" y="2651760"/>
            <a:ext cx="40233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Non-linear curve — higher % earns more pts per unit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90% scores far more than double 45%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274320" y="2240280"/>
            <a:ext cx="54864" cy="10972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4"/>
          <p:cNvSpPr/>
          <p:nvPr/>
        </p:nvSpPr>
        <p:spPr>
          <a:xfrm>
            <a:off x="274320" y="3474720"/>
            <a:ext cx="49377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4"/>
          <p:cNvSpPr/>
          <p:nvPr/>
        </p:nvSpPr>
        <p:spPr>
          <a:xfrm>
            <a:off x="411480" y="3703320"/>
            <a:ext cx="502920" cy="502920"/>
          </a:xfrm>
          <a:prstGeom prst="ellipse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4"/>
          <p:cNvSpPr/>
          <p:nvPr/>
        </p:nvSpPr>
        <p:spPr>
          <a:xfrm>
            <a:off x="411480" y="370332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🏅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4"/>
          <p:cNvSpPr/>
          <p:nvPr/>
        </p:nvSpPr>
        <p:spPr>
          <a:xfrm>
            <a:off x="1051560" y="3547872"/>
            <a:ext cx="40233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Competition Levels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1051560" y="3886200"/>
            <a:ext cx="40233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Monthly Sprint  |  Quarterly  |  Annual Marathon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274320" y="3474720"/>
            <a:ext cx="54864" cy="10972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4"/>
          <p:cNvSpPr/>
          <p:nvPr/>
        </p:nvSpPr>
        <p:spPr>
          <a:xfrm>
            <a:off x="5394960" y="1005840"/>
            <a:ext cx="347472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4"/>
          <p:cNvSpPr/>
          <p:nvPr/>
        </p:nvSpPr>
        <p:spPr>
          <a:xfrm>
            <a:off x="5486400" y="1051560"/>
            <a:ext cx="32918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0F2557"/>
                </a:solidFill>
                <a:latin typeface="Montserrat"/>
                <a:ea typeface="Montserrat"/>
                <a:cs typeface="Montserrat"/>
                <a:sym typeface="Montserrat"/>
              </a:rPr>
              <a:t>How It Works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4"/>
          <p:cNvSpPr/>
          <p:nvPr/>
        </p:nvSpPr>
        <p:spPr>
          <a:xfrm>
            <a:off x="5486400" y="1389888"/>
            <a:ext cx="3291840" cy="1307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00"/>
              <a:buFont typeface="Open Sans"/>
              <a:buChar char="•"/>
            </a:pPr>
            <a:r>
              <a:rPr lang="en-US" sz="10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Points collected every month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00"/>
              <a:buFont typeface="Open Sans"/>
              <a:buChar char="•"/>
            </a:pPr>
            <a:r>
              <a:rPr lang="en-US" sz="10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Your performance = your points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00"/>
              <a:buFont typeface="Open Sans"/>
              <a:buChar char="•"/>
            </a:pPr>
            <a:r>
              <a:rPr lang="en-US" sz="10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Higher points = higher ranking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00"/>
              <a:buFont typeface="Open Sans"/>
              <a:buChar char="•"/>
            </a:pPr>
            <a:r>
              <a:rPr lang="en-US" sz="10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Quarter &amp; Annual = cumulative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5394960" y="2926080"/>
            <a:ext cx="347472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4"/>
          <p:cNvSpPr/>
          <p:nvPr/>
        </p:nvSpPr>
        <p:spPr>
          <a:xfrm>
            <a:off x="5486400" y="2971800"/>
            <a:ext cx="32918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0F2557"/>
                </a:solidFill>
                <a:latin typeface="Montserrat"/>
                <a:ea typeface="Montserrat"/>
                <a:cs typeface="Montserrat"/>
                <a:sym typeface="Montserrat"/>
              </a:rPr>
              <a:t>Important Rules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4"/>
          <p:cNvSpPr/>
          <p:nvPr/>
        </p:nvSpPr>
        <p:spPr>
          <a:xfrm>
            <a:off x="5486400" y="3310128"/>
            <a:ext cx="3291840" cy="14081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Char char="•"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Active employees only (after probation)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Char char="•"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Record visits on time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Char char="•"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Sync data daily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Char char="•"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Record all leaves &amp; activities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Char char="•"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Record all double visits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202209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6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6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6"/>
          <p:cNvSpPr/>
          <p:nvPr/>
        </p:nvSpPr>
        <p:spPr>
          <a:xfrm>
            <a:off x="320040" y="91440"/>
            <a:ext cx="64008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Recognition Structure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6"/>
          <p:cNvSpPr/>
          <p:nvPr/>
        </p:nvSpPr>
        <p:spPr>
          <a:xfrm>
            <a:off x="6766560" y="91440"/>
            <a:ext cx="2286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C53D"/>
              </a:buClr>
              <a:buSzPts val="1100"/>
              <a:buFont typeface="Open Sans"/>
              <a:buNone/>
            </a:pPr>
            <a:r>
              <a:rPr lang="en-US" sz="1100" b="0" i="0" u="none" strike="noStrike" cap="none">
                <a:solidFill>
                  <a:srgbClr val="FFC53D"/>
                </a:solidFill>
                <a:latin typeface="Open Sans"/>
                <a:ea typeface="Open Sans"/>
                <a:cs typeface="Open Sans"/>
                <a:sym typeface="Open Sans"/>
              </a:rPr>
              <a:t>All Roles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6"/>
          <p:cNvSpPr/>
          <p:nvPr/>
        </p:nvSpPr>
        <p:spPr>
          <a:xfrm>
            <a:off x="274320" y="960120"/>
            <a:ext cx="3291840" cy="4114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6"/>
          <p:cNvSpPr/>
          <p:nvPr/>
        </p:nvSpPr>
        <p:spPr>
          <a:xfrm>
            <a:off x="320040" y="96012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Montserrat"/>
              <a:buNone/>
            </a:pPr>
            <a:r>
              <a:rPr lang="en-US" sz="105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Role Group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6"/>
          <p:cNvSpPr/>
          <p:nvPr/>
        </p:nvSpPr>
        <p:spPr>
          <a:xfrm>
            <a:off x="3566160" y="960120"/>
            <a:ext cx="1645920" cy="411480"/>
          </a:xfrm>
          <a:prstGeom prst="rect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6"/>
          <p:cNvSpPr/>
          <p:nvPr/>
        </p:nvSpPr>
        <p:spPr>
          <a:xfrm>
            <a:off x="3611880" y="960120"/>
            <a:ext cx="15544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Montserrat"/>
              <a:buNone/>
            </a:pPr>
            <a:r>
              <a:rPr lang="en-US" sz="105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Monthly Sprinters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6"/>
          <p:cNvSpPr/>
          <p:nvPr/>
        </p:nvSpPr>
        <p:spPr>
          <a:xfrm>
            <a:off x="5212080" y="960120"/>
            <a:ext cx="1645920" cy="411480"/>
          </a:xfrm>
          <a:prstGeom prst="rect">
            <a:avLst/>
          </a:prstGeom>
          <a:solidFill>
            <a:srgbClr val="722ED1"/>
          </a:solidFill>
          <a:ln w="12700" cap="flat" cmpd="sng">
            <a:solidFill>
              <a:srgbClr val="722ED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6"/>
          <p:cNvSpPr/>
          <p:nvPr/>
        </p:nvSpPr>
        <p:spPr>
          <a:xfrm>
            <a:off x="5257800" y="960120"/>
            <a:ext cx="15544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Montserrat"/>
              <a:buNone/>
            </a:pPr>
            <a:r>
              <a:rPr lang="en-US" sz="105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Quarter Champions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6"/>
          <p:cNvSpPr/>
          <p:nvPr/>
        </p:nvSpPr>
        <p:spPr>
          <a:xfrm>
            <a:off x="6858000" y="960120"/>
            <a:ext cx="1828800" cy="411480"/>
          </a:xfrm>
          <a:prstGeom prst="rect">
            <a:avLst/>
          </a:prstGeom>
          <a:solidFill>
            <a:srgbClr val="FA8C16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6"/>
          <p:cNvSpPr/>
          <p:nvPr/>
        </p:nvSpPr>
        <p:spPr>
          <a:xfrm>
            <a:off x="6903720" y="960120"/>
            <a:ext cx="17373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Montserrat"/>
              <a:buNone/>
            </a:pPr>
            <a:r>
              <a:rPr lang="en-US" sz="105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Marathon Winners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274320" y="1371600"/>
            <a:ext cx="3291840" cy="914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E4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6"/>
          <p:cNvSpPr/>
          <p:nvPr/>
        </p:nvSpPr>
        <p:spPr>
          <a:xfrm>
            <a:off x="3566160" y="1371600"/>
            <a:ext cx="1645920" cy="914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E4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6"/>
          <p:cNvSpPr/>
          <p:nvPr/>
        </p:nvSpPr>
        <p:spPr>
          <a:xfrm>
            <a:off x="5212080" y="1371600"/>
            <a:ext cx="1645920" cy="914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E4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6"/>
          <p:cNvSpPr/>
          <p:nvPr/>
        </p:nvSpPr>
        <p:spPr>
          <a:xfrm>
            <a:off x="6858000" y="1371600"/>
            <a:ext cx="1828800" cy="914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E4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6"/>
          <p:cNvSpPr/>
          <p:nvPr/>
        </p:nvSpPr>
        <p:spPr>
          <a:xfrm>
            <a:off x="274320" y="1371600"/>
            <a:ext cx="54864" cy="914400"/>
          </a:xfrm>
          <a:prstGeom prst="rect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6"/>
          <p:cNvSpPr/>
          <p:nvPr/>
        </p:nvSpPr>
        <p:spPr>
          <a:xfrm>
            <a:off x="365760" y="1444752"/>
            <a:ext cx="310896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50C9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1E50C9"/>
                </a:solidFill>
                <a:latin typeface="Montserrat"/>
                <a:ea typeface="Montserrat"/>
                <a:cs typeface="Montserrat"/>
                <a:sym typeface="Montserrat"/>
              </a:rPr>
              <a:t>Medical Rep / Sales Rep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6"/>
          <p:cNvSpPr/>
          <p:nvPr/>
        </p:nvSpPr>
        <p:spPr>
          <a:xfrm>
            <a:off x="3611880" y="1444752"/>
            <a:ext cx="155448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2 PER Line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6"/>
          <p:cNvSpPr/>
          <p:nvPr/>
        </p:nvSpPr>
        <p:spPr>
          <a:xfrm>
            <a:off x="5257800" y="1444752"/>
            <a:ext cx="155448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2 PER Line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6903720" y="1444752"/>
            <a:ext cx="173736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 dirty="0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2 PER Line</a:t>
            </a:r>
            <a:endParaRPr sz="10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6"/>
          <p:cNvSpPr/>
          <p:nvPr/>
        </p:nvSpPr>
        <p:spPr>
          <a:xfrm>
            <a:off x="274320" y="2286000"/>
            <a:ext cx="3291840" cy="91440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D8E4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6"/>
          <p:cNvSpPr/>
          <p:nvPr/>
        </p:nvSpPr>
        <p:spPr>
          <a:xfrm>
            <a:off x="3566160" y="2286000"/>
            <a:ext cx="1645920" cy="91440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D8E4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6"/>
          <p:cNvSpPr/>
          <p:nvPr/>
        </p:nvSpPr>
        <p:spPr>
          <a:xfrm>
            <a:off x="5212080" y="2286000"/>
            <a:ext cx="1645920" cy="91440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D8E4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p6"/>
          <p:cNvSpPr/>
          <p:nvPr/>
        </p:nvSpPr>
        <p:spPr>
          <a:xfrm>
            <a:off x="6858000" y="2286000"/>
            <a:ext cx="1828800" cy="91440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D8E4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6"/>
          <p:cNvSpPr/>
          <p:nvPr/>
        </p:nvSpPr>
        <p:spPr>
          <a:xfrm>
            <a:off x="274320" y="2286000"/>
            <a:ext cx="54864" cy="914400"/>
          </a:xfrm>
          <a:prstGeom prst="rect">
            <a:avLst/>
          </a:prstGeom>
          <a:solidFill>
            <a:srgbClr val="722ED1"/>
          </a:solidFill>
          <a:ln w="12700" cap="flat" cmpd="sng">
            <a:solidFill>
              <a:srgbClr val="722ED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6"/>
          <p:cNvSpPr/>
          <p:nvPr/>
        </p:nvSpPr>
        <p:spPr>
          <a:xfrm>
            <a:off x="365760" y="2359152"/>
            <a:ext cx="310896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22ED1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722ED1"/>
                </a:solidFill>
                <a:latin typeface="Montserrat"/>
                <a:ea typeface="Montserrat"/>
                <a:cs typeface="Montserrat"/>
                <a:sym typeface="Montserrat"/>
              </a:rPr>
              <a:t>District Manager / Sales Supervisor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6"/>
          <p:cNvSpPr/>
          <p:nvPr/>
        </p:nvSpPr>
        <p:spPr>
          <a:xfrm>
            <a:off x="3611880" y="2359152"/>
            <a:ext cx="155448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2 PER BU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6"/>
          <p:cNvSpPr/>
          <p:nvPr/>
        </p:nvSpPr>
        <p:spPr>
          <a:xfrm>
            <a:off x="5257800" y="2359152"/>
            <a:ext cx="155448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2 PER BU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6"/>
          <p:cNvSpPr/>
          <p:nvPr/>
        </p:nvSpPr>
        <p:spPr>
          <a:xfrm>
            <a:off x="6903720" y="2359152"/>
            <a:ext cx="173736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2 PER BU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6"/>
          <p:cNvSpPr/>
          <p:nvPr/>
        </p:nvSpPr>
        <p:spPr>
          <a:xfrm>
            <a:off x="274320" y="3200400"/>
            <a:ext cx="3291840" cy="914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E4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6"/>
          <p:cNvSpPr/>
          <p:nvPr/>
        </p:nvSpPr>
        <p:spPr>
          <a:xfrm>
            <a:off x="3566160" y="3200400"/>
            <a:ext cx="1645920" cy="914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E4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6"/>
          <p:cNvSpPr/>
          <p:nvPr/>
        </p:nvSpPr>
        <p:spPr>
          <a:xfrm>
            <a:off x="5212080" y="3200400"/>
            <a:ext cx="1645920" cy="914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E4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6"/>
          <p:cNvSpPr/>
          <p:nvPr/>
        </p:nvSpPr>
        <p:spPr>
          <a:xfrm>
            <a:off x="6858000" y="3200400"/>
            <a:ext cx="1828800" cy="914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E4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6"/>
          <p:cNvSpPr/>
          <p:nvPr/>
        </p:nvSpPr>
        <p:spPr>
          <a:xfrm>
            <a:off x="274320" y="3200400"/>
            <a:ext cx="54864" cy="914400"/>
          </a:xfrm>
          <a:prstGeom prst="rect">
            <a:avLst/>
          </a:prstGeom>
          <a:solidFill>
            <a:srgbClr val="FA8C16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6"/>
          <p:cNvSpPr/>
          <p:nvPr/>
        </p:nvSpPr>
        <p:spPr>
          <a:xfrm>
            <a:off x="365760" y="3273552"/>
            <a:ext cx="310896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8C16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FA8C16"/>
                </a:solidFill>
                <a:latin typeface="Montserrat"/>
                <a:ea typeface="Montserrat"/>
                <a:cs typeface="Montserrat"/>
                <a:sym typeface="Montserrat"/>
              </a:rPr>
              <a:t>Area Sales Manager / National Sales Manager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6"/>
          <p:cNvSpPr/>
          <p:nvPr/>
        </p:nvSpPr>
        <p:spPr>
          <a:xfrm>
            <a:off x="3611880" y="3273552"/>
            <a:ext cx="155448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1 PER Corp.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6"/>
          <p:cNvSpPr/>
          <p:nvPr/>
        </p:nvSpPr>
        <p:spPr>
          <a:xfrm>
            <a:off x="5257800" y="3273552"/>
            <a:ext cx="155448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1 PER Corp.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6"/>
          <p:cNvSpPr/>
          <p:nvPr/>
        </p:nvSpPr>
        <p:spPr>
          <a:xfrm>
            <a:off x="6903720" y="3273552"/>
            <a:ext cx="173736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1 PER Corp.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6"/>
          <p:cNvSpPr/>
          <p:nvPr/>
        </p:nvSpPr>
        <p:spPr>
          <a:xfrm>
            <a:off x="274320" y="4114800"/>
            <a:ext cx="3291840" cy="91440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D8E4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6"/>
          <p:cNvSpPr/>
          <p:nvPr/>
        </p:nvSpPr>
        <p:spPr>
          <a:xfrm>
            <a:off x="3566160" y="4114800"/>
            <a:ext cx="1645920" cy="91440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D8E4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6"/>
          <p:cNvSpPr/>
          <p:nvPr/>
        </p:nvSpPr>
        <p:spPr>
          <a:xfrm>
            <a:off x="5212080" y="4114800"/>
            <a:ext cx="1645920" cy="91440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D8E4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6"/>
          <p:cNvSpPr/>
          <p:nvPr/>
        </p:nvSpPr>
        <p:spPr>
          <a:xfrm>
            <a:off x="6858000" y="4114800"/>
            <a:ext cx="1828800" cy="91440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D8E4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6"/>
          <p:cNvSpPr/>
          <p:nvPr/>
        </p:nvSpPr>
        <p:spPr>
          <a:xfrm>
            <a:off x="274320" y="4114800"/>
            <a:ext cx="54864" cy="914400"/>
          </a:xfrm>
          <a:prstGeom prst="rect">
            <a:avLst/>
          </a:prstGeom>
          <a:solidFill>
            <a:srgbClr val="52C41A"/>
          </a:solidFill>
          <a:ln w="12700" cap="flat" cmpd="sng">
            <a:solidFill>
              <a:srgbClr val="52C41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6"/>
          <p:cNvSpPr/>
          <p:nvPr/>
        </p:nvSpPr>
        <p:spPr>
          <a:xfrm>
            <a:off x="365760" y="4187952"/>
            <a:ext cx="310896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2C41A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52C41A"/>
                </a:solidFill>
                <a:latin typeface="Montserrat"/>
                <a:ea typeface="Montserrat"/>
                <a:cs typeface="Montserrat"/>
                <a:sym typeface="Montserrat"/>
              </a:rPr>
              <a:t>Brand Managers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6"/>
          <p:cNvSpPr/>
          <p:nvPr/>
        </p:nvSpPr>
        <p:spPr>
          <a:xfrm>
            <a:off x="3611880" y="4187952"/>
            <a:ext cx="155448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—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6"/>
          <p:cNvSpPr/>
          <p:nvPr/>
        </p:nvSpPr>
        <p:spPr>
          <a:xfrm>
            <a:off x="5257800" y="4187952"/>
            <a:ext cx="155448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2 PER Corp.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6"/>
          <p:cNvSpPr/>
          <p:nvPr/>
        </p:nvSpPr>
        <p:spPr>
          <a:xfrm>
            <a:off x="6903720" y="4187952"/>
            <a:ext cx="173736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2 PER Corp.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6"/>
          <p:cNvSpPr/>
          <p:nvPr/>
        </p:nvSpPr>
        <p:spPr>
          <a:xfrm>
            <a:off x="274320" y="4663440"/>
            <a:ext cx="8595360" cy="365760"/>
          </a:xfrm>
          <a:prstGeom prst="roundRect">
            <a:avLst>
              <a:gd name="adj" fmla="val 20000"/>
            </a:avLst>
          </a:prstGeom>
          <a:solidFill>
            <a:srgbClr val="EFF3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6"/>
          <p:cNvSpPr/>
          <p:nvPr/>
        </p:nvSpPr>
        <p:spPr>
          <a:xfrm>
            <a:off x="365760" y="4663440"/>
            <a:ext cx="84124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50C9"/>
              </a:buClr>
              <a:buSzPts val="950"/>
              <a:buFont typeface="Open Sans"/>
              <a:buNone/>
            </a:pPr>
            <a:r>
              <a:rPr lang="en-US" sz="950" b="0" i="1" u="none" strike="noStrike" cap="none" dirty="0">
                <a:solidFill>
                  <a:srgbClr val="1E50C9"/>
                </a:solidFill>
                <a:latin typeface="Open Sans"/>
                <a:ea typeface="Open Sans"/>
                <a:cs typeface="Open Sans"/>
                <a:sym typeface="Open Sans"/>
              </a:rPr>
              <a:t>1 Yearly Corporate Champion awarded at al level — highest points across all over year *competitions start.</a:t>
            </a:r>
            <a:endParaRPr sz="9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25809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557"/>
        </a:soli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7"/>
          <p:cNvSpPr/>
          <p:nvPr/>
        </p:nvSpPr>
        <p:spPr>
          <a:xfrm>
            <a:off x="731520" y="1417320"/>
            <a:ext cx="1005840" cy="1005840"/>
          </a:xfrm>
          <a:prstGeom prst="ellipse">
            <a:avLst/>
          </a:prstGeom>
          <a:solidFill>
            <a:srgbClr val="FAAD14">
              <a:alpha val="80000"/>
            </a:srgbClr>
          </a:solidFill>
          <a:ln w="254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7"/>
          <p:cNvSpPr/>
          <p:nvPr/>
        </p:nvSpPr>
        <p:spPr>
          <a:xfrm>
            <a:off x="589281" y="2286000"/>
            <a:ext cx="731520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Montserrat"/>
              <a:buNone/>
            </a:pPr>
            <a:r>
              <a:rPr lang="en-US" sz="3800" b="1" i="0" u="none" strike="noStrike" cap="none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Points Calculation</a:t>
            </a:r>
            <a:endParaRPr sz="3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7"/>
          <p:cNvSpPr/>
          <p:nvPr/>
        </p:nvSpPr>
        <p:spPr>
          <a:xfrm>
            <a:off x="640080" y="324612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C53D"/>
              </a:buClr>
              <a:buSzPts val="1600"/>
              <a:buFont typeface="Open Sans"/>
              <a:buNone/>
            </a:pPr>
            <a:r>
              <a:rPr lang="en-US" sz="1600" b="0" i="0" u="none" strike="noStrike" cap="none">
                <a:solidFill>
                  <a:srgbClr val="FFC53D"/>
                </a:solidFill>
                <a:latin typeface="Open Sans"/>
                <a:ea typeface="Open Sans"/>
                <a:cs typeface="Open Sans"/>
                <a:sym typeface="Open Sans"/>
              </a:rPr>
              <a:t>Role-Based KPI Scoring System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7"/>
          <p:cNvSpPr/>
          <p:nvPr/>
        </p:nvSpPr>
        <p:spPr>
          <a:xfrm>
            <a:off x="640080" y="4754880"/>
            <a:ext cx="2286000" cy="54864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135F429-DF39-BC0E-F2A0-44BAE70C57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9329" y="9075"/>
            <a:ext cx="3892378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21914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8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8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8"/>
          <p:cNvSpPr/>
          <p:nvPr/>
        </p:nvSpPr>
        <p:spPr>
          <a:xfrm>
            <a:off x="320040" y="91440"/>
            <a:ext cx="85039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Points Calculation — Medical Rep (MSR)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274320" y="960120"/>
            <a:ext cx="1828800" cy="347472"/>
          </a:xfrm>
          <a:prstGeom prst="roundRect">
            <a:avLst>
              <a:gd name="adj" fmla="val 15789"/>
            </a:avLst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"/>
          <p:cNvSpPr/>
          <p:nvPr/>
        </p:nvSpPr>
        <p:spPr>
          <a:xfrm>
            <a:off x="274320" y="960120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Total: 100 pts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8"/>
          <p:cNvSpPr/>
          <p:nvPr/>
        </p:nvSpPr>
        <p:spPr>
          <a:xfrm>
            <a:off x="2286000" y="960120"/>
            <a:ext cx="2011680" cy="347472"/>
          </a:xfrm>
          <a:prstGeom prst="roundRect">
            <a:avLst>
              <a:gd name="adj" fmla="val 15789"/>
            </a:avLst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8"/>
          <p:cNvSpPr/>
          <p:nvPr/>
        </p:nvSpPr>
        <p:spPr>
          <a:xfrm>
            <a:off x="2286000" y="960120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Open Sans"/>
              <a:buNone/>
            </a:pPr>
            <a:r>
              <a:rPr lang="en-US" sz="95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Sales Achievement  |  50 pts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4526280" y="960120"/>
            <a:ext cx="2011680" cy="347472"/>
          </a:xfrm>
          <a:prstGeom prst="roundRect">
            <a:avLst>
              <a:gd name="adj" fmla="val 15789"/>
            </a:avLst>
          </a:prstGeom>
          <a:solidFill>
            <a:srgbClr val="722ED1"/>
          </a:solidFill>
          <a:ln w="12700" cap="flat" cmpd="sng">
            <a:solidFill>
              <a:srgbClr val="722ED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"/>
          <p:cNvSpPr/>
          <p:nvPr/>
        </p:nvSpPr>
        <p:spPr>
          <a:xfrm>
            <a:off x="4526280" y="960120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Open Sans"/>
              <a:buNone/>
            </a:pPr>
            <a:r>
              <a:rPr lang="en-US" sz="95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Right Frequency  |  40 pts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8"/>
          <p:cNvSpPr/>
          <p:nvPr/>
        </p:nvSpPr>
        <p:spPr>
          <a:xfrm>
            <a:off x="6766560" y="960120"/>
            <a:ext cx="2011680" cy="347472"/>
          </a:xfrm>
          <a:prstGeom prst="roundRect">
            <a:avLst>
              <a:gd name="adj" fmla="val 15789"/>
            </a:avLst>
          </a:prstGeom>
          <a:solidFill>
            <a:srgbClr val="52C41A"/>
          </a:solidFill>
          <a:ln w="12700" cap="flat" cmpd="sng">
            <a:solidFill>
              <a:srgbClr val="52C41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/>
          <p:nvPr/>
        </p:nvSpPr>
        <p:spPr>
          <a:xfrm>
            <a:off x="6766560" y="960120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Open Sans"/>
              <a:buNone/>
            </a:pPr>
            <a:r>
              <a:rPr lang="en-US" sz="95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Coverage  |  10 pts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8"/>
          <p:cNvSpPr/>
          <p:nvPr/>
        </p:nvSpPr>
        <p:spPr>
          <a:xfrm>
            <a:off x="274320" y="1417320"/>
            <a:ext cx="2651760" cy="31089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8"/>
          <p:cNvSpPr/>
          <p:nvPr/>
        </p:nvSpPr>
        <p:spPr>
          <a:xfrm>
            <a:off x="274320" y="1417320"/>
            <a:ext cx="2651760" cy="4114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8"/>
          <p:cNvSpPr/>
          <p:nvPr/>
        </p:nvSpPr>
        <p:spPr>
          <a:xfrm>
            <a:off x="365760" y="1417320"/>
            <a:ext cx="24688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Sales Achievement  —  Max 50 pts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8"/>
          <p:cNvSpPr/>
          <p:nvPr/>
        </p:nvSpPr>
        <p:spPr>
          <a:xfrm>
            <a:off x="274320" y="1828800"/>
            <a:ext cx="1644091" cy="449580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8"/>
          <p:cNvSpPr/>
          <p:nvPr/>
        </p:nvSpPr>
        <p:spPr>
          <a:xfrm>
            <a:off x="320040" y="1828800"/>
            <a:ext cx="1552651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Achievement 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8"/>
          <p:cNvSpPr/>
          <p:nvPr/>
        </p:nvSpPr>
        <p:spPr>
          <a:xfrm>
            <a:off x="1918411" y="1828800"/>
            <a:ext cx="1007669" cy="449580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8"/>
          <p:cNvSpPr/>
          <p:nvPr/>
        </p:nvSpPr>
        <p:spPr>
          <a:xfrm>
            <a:off x="1964131" y="1828800"/>
            <a:ext cx="916229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Points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8"/>
          <p:cNvSpPr/>
          <p:nvPr/>
        </p:nvSpPr>
        <p:spPr>
          <a:xfrm>
            <a:off x="274320" y="2278380"/>
            <a:ext cx="1644091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8"/>
          <p:cNvSpPr/>
          <p:nvPr/>
        </p:nvSpPr>
        <p:spPr>
          <a:xfrm>
            <a:off x="1918411" y="2278380"/>
            <a:ext cx="1007669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8"/>
          <p:cNvSpPr/>
          <p:nvPr/>
        </p:nvSpPr>
        <p:spPr>
          <a:xfrm>
            <a:off x="320040" y="2278380"/>
            <a:ext cx="1552651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70-84%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8"/>
          <p:cNvSpPr/>
          <p:nvPr/>
        </p:nvSpPr>
        <p:spPr>
          <a:xfrm>
            <a:off x="1964131" y="2278380"/>
            <a:ext cx="916229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1-12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8"/>
          <p:cNvSpPr/>
          <p:nvPr/>
        </p:nvSpPr>
        <p:spPr>
          <a:xfrm>
            <a:off x="274320" y="2727960"/>
            <a:ext cx="1644091" cy="44958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8"/>
          <p:cNvSpPr/>
          <p:nvPr/>
        </p:nvSpPr>
        <p:spPr>
          <a:xfrm>
            <a:off x="1918411" y="2727960"/>
            <a:ext cx="1007669" cy="44958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8"/>
          <p:cNvSpPr/>
          <p:nvPr/>
        </p:nvSpPr>
        <p:spPr>
          <a:xfrm>
            <a:off x="320040" y="2727960"/>
            <a:ext cx="1552651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85-99%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8"/>
          <p:cNvSpPr/>
          <p:nvPr/>
        </p:nvSpPr>
        <p:spPr>
          <a:xfrm>
            <a:off x="1964131" y="2727960"/>
            <a:ext cx="916229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13-24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8"/>
          <p:cNvSpPr/>
          <p:nvPr/>
        </p:nvSpPr>
        <p:spPr>
          <a:xfrm>
            <a:off x="274320" y="3177540"/>
            <a:ext cx="1644091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8"/>
          <p:cNvSpPr/>
          <p:nvPr/>
        </p:nvSpPr>
        <p:spPr>
          <a:xfrm>
            <a:off x="1918411" y="3177540"/>
            <a:ext cx="1007669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8"/>
          <p:cNvSpPr/>
          <p:nvPr/>
        </p:nvSpPr>
        <p:spPr>
          <a:xfrm>
            <a:off x="320040" y="3177540"/>
            <a:ext cx="1552651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100%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8"/>
          <p:cNvSpPr/>
          <p:nvPr/>
        </p:nvSpPr>
        <p:spPr>
          <a:xfrm>
            <a:off x="1964131" y="3177540"/>
            <a:ext cx="916229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25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8"/>
          <p:cNvSpPr/>
          <p:nvPr/>
        </p:nvSpPr>
        <p:spPr>
          <a:xfrm>
            <a:off x="274320" y="3627120"/>
            <a:ext cx="1644091" cy="44958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8"/>
          <p:cNvSpPr/>
          <p:nvPr/>
        </p:nvSpPr>
        <p:spPr>
          <a:xfrm>
            <a:off x="1918411" y="3627120"/>
            <a:ext cx="1007669" cy="44958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8"/>
          <p:cNvSpPr/>
          <p:nvPr/>
        </p:nvSpPr>
        <p:spPr>
          <a:xfrm>
            <a:off x="320040" y="3627120"/>
            <a:ext cx="1552651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101-115%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8"/>
          <p:cNvSpPr/>
          <p:nvPr/>
        </p:nvSpPr>
        <p:spPr>
          <a:xfrm>
            <a:off x="1964131" y="3627120"/>
            <a:ext cx="916229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26-36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8"/>
          <p:cNvSpPr/>
          <p:nvPr/>
        </p:nvSpPr>
        <p:spPr>
          <a:xfrm>
            <a:off x="274320" y="4076700"/>
            <a:ext cx="1644091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8"/>
          <p:cNvSpPr/>
          <p:nvPr/>
        </p:nvSpPr>
        <p:spPr>
          <a:xfrm>
            <a:off x="1918411" y="4076700"/>
            <a:ext cx="1007669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8"/>
          <p:cNvSpPr/>
          <p:nvPr/>
        </p:nvSpPr>
        <p:spPr>
          <a:xfrm>
            <a:off x="320040" y="4076700"/>
            <a:ext cx="1552651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116-130%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8"/>
          <p:cNvSpPr/>
          <p:nvPr/>
        </p:nvSpPr>
        <p:spPr>
          <a:xfrm>
            <a:off x="1964131" y="4076700"/>
            <a:ext cx="916229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37-50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8"/>
          <p:cNvSpPr/>
          <p:nvPr/>
        </p:nvSpPr>
        <p:spPr>
          <a:xfrm>
            <a:off x="3108960" y="1417320"/>
            <a:ext cx="2651760" cy="306324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8"/>
          <p:cNvSpPr/>
          <p:nvPr/>
        </p:nvSpPr>
        <p:spPr>
          <a:xfrm>
            <a:off x="3108960" y="1417320"/>
            <a:ext cx="2651760" cy="4114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8"/>
          <p:cNvSpPr/>
          <p:nvPr/>
        </p:nvSpPr>
        <p:spPr>
          <a:xfrm>
            <a:off x="3200400" y="1417320"/>
            <a:ext cx="24688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Right Frequency  —  Max 40 pts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8"/>
          <p:cNvSpPr/>
          <p:nvPr/>
        </p:nvSpPr>
        <p:spPr>
          <a:xfrm>
            <a:off x="3108960" y="1828800"/>
            <a:ext cx="1644091" cy="530352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8"/>
          <p:cNvSpPr/>
          <p:nvPr/>
        </p:nvSpPr>
        <p:spPr>
          <a:xfrm>
            <a:off x="3154680" y="1828800"/>
            <a:ext cx="1552651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Achievement 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8"/>
          <p:cNvSpPr/>
          <p:nvPr/>
        </p:nvSpPr>
        <p:spPr>
          <a:xfrm>
            <a:off x="4753051" y="1828800"/>
            <a:ext cx="1007669" cy="530352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8"/>
          <p:cNvSpPr/>
          <p:nvPr/>
        </p:nvSpPr>
        <p:spPr>
          <a:xfrm>
            <a:off x="4798771" y="1828800"/>
            <a:ext cx="916229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Points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8"/>
          <p:cNvSpPr/>
          <p:nvPr/>
        </p:nvSpPr>
        <p:spPr>
          <a:xfrm>
            <a:off x="3108960" y="2359152"/>
            <a:ext cx="1644091" cy="53035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8"/>
          <p:cNvSpPr/>
          <p:nvPr/>
        </p:nvSpPr>
        <p:spPr>
          <a:xfrm>
            <a:off x="4753051" y="2359152"/>
            <a:ext cx="1007669" cy="53035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8"/>
          <p:cNvSpPr/>
          <p:nvPr/>
        </p:nvSpPr>
        <p:spPr>
          <a:xfrm>
            <a:off x="3154680" y="2359152"/>
            <a:ext cx="1552651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60-74%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8"/>
          <p:cNvSpPr/>
          <p:nvPr/>
        </p:nvSpPr>
        <p:spPr>
          <a:xfrm>
            <a:off x="4798771" y="2359152"/>
            <a:ext cx="916229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1-10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8"/>
          <p:cNvSpPr/>
          <p:nvPr/>
        </p:nvSpPr>
        <p:spPr>
          <a:xfrm>
            <a:off x="3108960" y="2889504"/>
            <a:ext cx="1644091" cy="53035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8"/>
          <p:cNvSpPr/>
          <p:nvPr/>
        </p:nvSpPr>
        <p:spPr>
          <a:xfrm>
            <a:off x="4753051" y="2889504"/>
            <a:ext cx="1007669" cy="53035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8"/>
          <p:cNvSpPr/>
          <p:nvPr/>
        </p:nvSpPr>
        <p:spPr>
          <a:xfrm>
            <a:off x="3154680" y="2889504"/>
            <a:ext cx="1552651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75-89%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8"/>
          <p:cNvSpPr/>
          <p:nvPr/>
        </p:nvSpPr>
        <p:spPr>
          <a:xfrm>
            <a:off x="4798771" y="2889504"/>
            <a:ext cx="916229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11-25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8"/>
          <p:cNvSpPr/>
          <p:nvPr/>
        </p:nvSpPr>
        <p:spPr>
          <a:xfrm>
            <a:off x="3108960" y="3419856"/>
            <a:ext cx="1644091" cy="53035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8"/>
          <p:cNvSpPr/>
          <p:nvPr/>
        </p:nvSpPr>
        <p:spPr>
          <a:xfrm>
            <a:off x="4753051" y="3419856"/>
            <a:ext cx="1007669" cy="53035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p8"/>
          <p:cNvSpPr/>
          <p:nvPr/>
        </p:nvSpPr>
        <p:spPr>
          <a:xfrm>
            <a:off x="3154680" y="3419856"/>
            <a:ext cx="1552651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90-99%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8"/>
          <p:cNvSpPr/>
          <p:nvPr/>
        </p:nvSpPr>
        <p:spPr>
          <a:xfrm>
            <a:off x="4798771" y="3419856"/>
            <a:ext cx="916229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26-39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8"/>
          <p:cNvSpPr/>
          <p:nvPr/>
        </p:nvSpPr>
        <p:spPr>
          <a:xfrm>
            <a:off x="3108960" y="3950208"/>
            <a:ext cx="1644091" cy="53035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8"/>
          <p:cNvSpPr/>
          <p:nvPr/>
        </p:nvSpPr>
        <p:spPr>
          <a:xfrm>
            <a:off x="4753051" y="3950208"/>
            <a:ext cx="1007669" cy="53035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8"/>
          <p:cNvSpPr/>
          <p:nvPr/>
        </p:nvSpPr>
        <p:spPr>
          <a:xfrm>
            <a:off x="3154680" y="3950208"/>
            <a:ext cx="1552651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100%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8"/>
          <p:cNvSpPr/>
          <p:nvPr/>
        </p:nvSpPr>
        <p:spPr>
          <a:xfrm>
            <a:off x="4798771" y="3950208"/>
            <a:ext cx="916229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40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8"/>
          <p:cNvSpPr/>
          <p:nvPr/>
        </p:nvSpPr>
        <p:spPr>
          <a:xfrm>
            <a:off x="5943600" y="1417320"/>
            <a:ext cx="288036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8"/>
          <p:cNvSpPr/>
          <p:nvPr/>
        </p:nvSpPr>
        <p:spPr>
          <a:xfrm>
            <a:off x="5943600" y="1417320"/>
            <a:ext cx="2880360" cy="4114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8"/>
          <p:cNvSpPr/>
          <p:nvPr/>
        </p:nvSpPr>
        <p:spPr>
          <a:xfrm>
            <a:off x="6035040" y="1417320"/>
            <a:ext cx="26974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Coverage  —  Max 10 pts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8"/>
          <p:cNvSpPr/>
          <p:nvPr/>
        </p:nvSpPr>
        <p:spPr>
          <a:xfrm>
            <a:off x="5943600" y="1828800"/>
            <a:ext cx="1785823" cy="438912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8"/>
          <p:cNvSpPr/>
          <p:nvPr/>
        </p:nvSpPr>
        <p:spPr>
          <a:xfrm>
            <a:off x="5989320" y="1828800"/>
            <a:ext cx="1694383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Achievement 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8"/>
          <p:cNvSpPr/>
          <p:nvPr/>
        </p:nvSpPr>
        <p:spPr>
          <a:xfrm>
            <a:off x="7729423" y="1828800"/>
            <a:ext cx="1094537" cy="438912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8"/>
          <p:cNvSpPr/>
          <p:nvPr/>
        </p:nvSpPr>
        <p:spPr>
          <a:xfrm>
            <a:off x="7775143" y="1828800"/>
            <a:ext cx="1003097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Points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8"/>
          <p:cNvSpPr/>
          <p:nvPr/>
        </p:nvSpPr>
        <p:spPr>
          <a:xfrm>
            <a:off x="5943600" y="2267712"/>
            <a:ext cx="1785823" cy="43891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8"/>
          <p:cNvSpPr/>
          <p:nvPr/>
        </p:nvSpPr>
        <p:spPr>
          <a:xfrm>
            <a:off x="7729423" y="2267712"/>
            <a:ext cx="1094537" cy="43891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3" name="Google Shape;253;p8"/>
          <p:cNvSpPr/>
          <p:nvPr/>
        </p:nvSpPr>
        <p:spPr>
          <a:xfrm>
            <a:off x="5989320" y="2267712"/>
            <a:ext cx="1694383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90-93%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8"/>
          <p:cNvSpPr/>
          <p:nvPr/>
        </p:nvSpPr>
        <p:spPr>
          <a:xfrm>
            <a:off x="7775143" y="2267712"/>
            <a:ext cx="1003097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1-3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8"/>
          <p:cNvSpPr/>
          <p:nvPr/>
        </p:nvSpPr>
        <p:spPr>
          <a:xfrm>
            <a:off x="5943600" y="2706624"/>
            <a:ext cx="1785823" cy="43891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8"/>
          <p:cNvSpPr/>
          <p:nvPr/>
        </p:nvSpPr>
        <p:spPr>
          <a:xfrm>
            <a:off x="7729423" y="2706624"/>
            <a:ext cx="1094537" cy="43891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8"/>
          <p:cNvSpPr/>
          <p:nvPr/>
        </p:nvSpPr>
        <p:spPr>
          <a:xfrm>
            <a:off x="5989320" y="2706624"/>
            <a:ext cx="1694383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94-96%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8"/>
          <p:cNvSpPr/>
          <p:nvPr/>
        </p:nvSpPr>
        <p:spPr>
          <a:xfrm>
            <a:off x="7775143" y="2706624"/>
            <a:ext cx="1003097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4-6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8"/>
          <p:cNvSpPr/>
          <p:nvPr/>
        </p:nvSpPr>
        <p:spPr>
          <a:xfrm>
            <a:off x="5943600" y="3145536"/>
            <a:ext cx="1785823" cy="43891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8"/>
          <p:cNvSpPr/>
          <p:nvPr/>
        </p:nvSpPr>
        <p:spPr>
          <a:xfrm>
            <a:off x="7729423" y="3145536"/>
            <a:ext cx="1094537" cy="43891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8"/>
          <p:cNvSpPr/>
          <p:nvPr/>
        </p:nvSpPr>
        <p:spPr>
          <a:xfrm>
            <a:off x="5989320" y="3145536"/>
            <a:ext cx="1694383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97-99%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8"/>
          <p:cNvSpPr/>
          <p:nvPr/>
        </p:nvSpPr>
        <p:spPr>
          <a:xfrm>
            <a:off x="7775143" y="3145536"/>
            <a:ext cx="1003097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7-9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8"/>
          <p:cNvSpPr/>
          <p:nvPr/>
        </p:nvSpPr>
        <p:spPr>
          <a:xfrm>
            <a:off x="5943600" y="3584448"/>
            <a:ext cx="1785823" cy="43891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8"/>
          <p:cNvSpPr/>
          <p:nvPr/>
        </p:nvSpPr>
        <p:spPr>
          <a:xfrm>
            <a:off x="7729423" y="3584448"/>
            <a:ext cx="1094537" cy="43891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8"/>
          <p:cNvSpPr/>
          <p:nvPr/>
        </p:nvSpPr>
        <p:spPr>
          <a:xfrm>
            <a:off x="5989320" y="3584448"/>
            <a:ext cx="1694383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100%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8"/>
          <p:cNvSpPr/>
          <p:nvPr/>
        </p:nvSpPr>
        <p:spPr>
          <a:xfrm>
            <a:off x="7775143" y="3584448"/>
            <a:ext cx="1003097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8"/>
          <p:cNvSpPr/>
          <p:nvPr/>
        </p:nvSpPr>
        <p:spPr>
          <a:xfrm>
            <a:off x="274320" y="4663440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EFF3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8"/>
          <p:cNvSpPr/>
          <p:nvPr/>
        </p:nvSpPr>
        <p:spPr>
          <a:xfrm>
            <a:off x="365760" y="4663440"/>
            <a:ext cx="8412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50C9"/>
              </a:buClr>
              <a:buSzPts val="950"/>
              <a:buFont typeface="Open Sans"/>
              <a:buNone/>
            </a:pPr>
            <a:r>
              <a:rPr lang="en-US" sz="950" b="0" i="1" u="none" strike="noStrike" cap="none">
                <a:solidFill>
                  <a:srgbClr val="1E50C9"/>
                </a:solidFill>
                <a:latin typeface="Open Sans"/>
                <a:ea typeface="Open Sans"/>
                <a:cs typeface="Open Sans"/>
                <a:sym typeface="Open Sans"/>
              </a:rPr>
              <a:t>KPI Threshold to score: Sales 70%  |  Right Freq 60%  |  Coverage 90%. Points may be updated quarterly.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22182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9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p9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9"/>
          <p:cNvSpPr/>
          <p:nvPr/>
        </p:nvSpPr>
        <p:spPr>
          <a:xfrm>
            <a:off x="320040" y="91440"/>
            <a:ext cx="85039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Points Calculation — CHC / Sales Rep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9"/>
          <p:cNvSpPr/>
          <p:nvPr/>
        </p:nvSpPr>
        <p:spPr>
          <a:xfrm>
            <a:off x="274320" y="960120"/>
            <a:ext cx="1828800" cy="347472"/>
          </a:xfrm>
          <a:prstGeom prst="roundRect">
            <a:avLst>
              <a:gd name="adj" fmla="val 15789"/>
            </a:avLst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9"/>
          <p:cNvSpPr/>
          <p:nvPr/>
        </p:nvSpPr>
        <p:spPr>
          <a:xfrm>
            <a:off x="274320" y="960120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Total: 100 pts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9"/>
          <p:cNvSpPr/>
          <p:nvPr/>
        </p:nvSpPr>
        <p:spPr>
          <a:xfrm>
            <a:off x="2286000" y="960120"/>
            <a:ext cx="2286000" cy="347472"/>
          </a:xfrm>
          <a:prstGeom prst="roundRect">
            <a:avLst>
              <a:gd name="adj" fmla="val 15789"/>
            </a:avLst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" name="Google Shape;280;p9"/>
          <p:cNvSpPr/>
          <p:nvPr/>
        </p:nvSpPr>
        <p:spPr>
          <a:xfrm>
            <a:off x="2286000" y="960120"/>
            <a:ext cx="2286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Open Sans"/>
              <a:buNone/>
            </a:pPr>
            <a:r>
              <a:rPr lang="en-US" sz="10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Sales Achievement  |  60 pts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9"/>
          <p:cNvSpPr/>
          <p:nvPr/>
        </p:nvSpPr>
        <p:spPr>
          <a:xfrm>
            <a:off x="4754880" y="960120"/>
            <a:ext cx="2286000" cy="347472"/>
          </a:xfrm>
          <a:prstGeom prst="roundRect">
            <a:avLst>
              <a:gd name="adj" fmla="val 15789"/>
            </a:avLst>
          </a:prstGeom>
          <a:solidFill>
            <a:srgbClr val="52C41A"/>
          </a:solidFill>
          <a:ln w="12700" cap="flat" cmpd="sng">
            <a:solidFill>
              <a:srgbClr val="52C41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p9"/>
          <p:cNvSpPr/>
          <p:nvPr/>
        </p:nvSpPr>
        <p:spPr>
          <a:xfrm>
            <a:off x="4754880" y="960120"/>
            <a:ext cx="2286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Open Sans"/>
              <a:buNone/>
            </a:pPr>
            <a:r>
              <a:rPr lang="en-US" sz="10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Coverage  |  40 pts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9"/>
          <p:cNvSpPr/>
          <p:nvPr/>
        </p:nvSpPr>
        <p:spPr>
          <a:xfrm>
            <a:off x="274320" y="1417320"/>
            <a:ext cx="384048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4" name="Google Shape;284;p9"/>
          <p:cNvSpPr/>
          <p:nvPr/>
        </p:nvSpPr>
        <p:spPr>
          <a:xfrm>
            <a:off x="274320" y="1417320"/>
            <a:ext cx="3840480" cy="4114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p9"/>
          <p:cNvSpPr/>
          <p:nvPr/>
        </p:nvSpPr>
        <p:spPr>
          <a:xfrm>
            <a:off x="365760" y="141732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Sales Achievement  —  Max 60 pts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9"/>
          <p:cNvSpPr/>
          <p:nvPr/>
        </p:nvSpPr>
        <p:spPr>
          <a:xfrm>
            <a:off x="274320" y="1828800"/>
            <a:ext cx="2381098" cy="449580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7" name="Google Shape;287;p9"/>
          <p:cNvSpPr/>
          <p:nvPr/>
        </p:nvSpPr>
        <p:spPr>
          <a:xfrm>
            <a:off x="320040" y="1828800"/>
            <a:ext cx="2289658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Achievement 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9"/>
          <p:cNvSpPr/>
          <p:nvPr/>
        </p:nvSpPr>
        <p:spPr>
          <a:xfrm>
            <a:off x="2655418" y="1828800"/>
            <a:ext cx="1459382" cy="449580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9"/>
          <p:cNvSpPr/>
          <p:nvPr/>
        </p:nvSpPr>
        <p:spPr>
          <a:xfrm>
            <a:off x="2701138" y="1828800"/>
            <a:ext cx="1367942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Points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9"/>
          <p:cNvSpPr/>
          <p:nvPr/>
        </p:nvSpPr>
        <p:spPr>
          <a:xfrm>
            <a:off x="274320" y="2278380"/>
            <a:ext cx="2381098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" name="Google Shape;291;p9"/>
          <p:cNvSpPr/>
          <p:nvPr/>
        </p:nvSpPr>
        <p:spPr>
          <a:xfrm>
            <a:off x="2655418" y="2278380"/>
            <a:ext cx="1459382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p9"/>
          <p:cNvSpPr/>
          <p:nvPr/>
        </p:nvSpPr>
        <p:spPr>
          <a:xfrm>
            <a:off x="320040" y="2278380"/>
            <a:ext cx="2289658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70-84%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9"/>
          <p:cNvSpPr/>
          <p:nvPr/>
        </p:nvSpPr>
        <p:spPr>
          <a:xfrm>
            <a:off x="2701138" y="2278380"/>
            <a:ext cx="1367942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1-13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9"/>
          <p:cNvSpPr/>
          <p:nvPr/>
        </p:nvSpPr>
        <p:spPr>
          <a:xfrm>
            <a:off x="274320" y="2727960"/>
            <a:ext cx="2381098" cy="44958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9"/>
          <p:cNvSpPr/>
          <p:nvPr/>
        </p:nvSpPr>
        <p:spPr>
          <a:xfrm>
            <a:off x="2655418" y="2727960"/>
            <a:ext cx="1459382" cy="44958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p9"/>
          <p:cNvSpPr/>
          <p:nvPr/>
        </p:nvSpPr>
        <p:spPr>
          <a:xfrm>
            <a:off x="320040" y="2727960"/>
            <a:ext cx="2289658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85-99%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9"/>
          <p:cNvSpPr/>
          <p:nvPr/>
        </p:nvSpPr>
        <p:spPr>
          <a:xfrm>
            <a:off x="2701138" y="2727960"/>
            <a:ext cx="1367942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14-29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9"/>
          <p:cNvSpPr/>
          <p:nvPr/>
        </p:nvSpPr>
        <p:spPr>
          <a:xfrm>
            <a:off x="274320" y="3177540"/>
            <a:ext cx="2381098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9"/>
          <p:cNvSpPr/>
          <p:nvPr/>
        </p:nvSpPr>
        <p:spPr>
          <a:xfrm>
            <a:off x="2655418" y="3177540"/>
            <a:ext cx="1459382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p9"/>
          <p:cNvSpPr/>
          <p:nvPr/>
        </p:nvSpPr>
        <p:spPr>
          <a:xfrm>
            <a:off x="320040" y="3177540"/>
            <a:ext cx="2289658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100%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9"/>
          <p:cNvSpPr/>
          <p:nvPr/>
        </p:nvSpPr>
        <p:spPr>
          <a:xfrm>
            <a:off x="2701138" y="3177540"/>
            <a:ext cx="1367942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30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9"/>
          <p:cNvSpPr/>
          <p:nvPr/>
        </p:nvSpPr>
        <p:spPr>
          <a:xfrm>
            <a:off x="274320" y="3627120"/>
            <a:ext cx="2381098" cy="44958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3" name="Google Shape;303;p9"/>
          <p:cNvSpPr/>
          <p:nvPr/>
        </p:nvSpPr>
        <p:spPr>
          <a:xfrm>
            <a:off x="2655418" y="3627120"/>
            <a:ext cx="1459382" cy="44958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4" name="Google Shape;304;p9"/>
          <p:cNvSpPr/>
          <p:nvPr/>
        </p:nvSpPr>
        <p:spPr>
          <a:xfrm>
            <a:off x="320040" y="3627120"/>
            <a:ext cx="2289658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101-115%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9"/>
          <p:cNvSpPr/>
          <p:nvPr/>
        </p:nvSpPr>
        <p:spPr>
          <a:xfrm>
            <a:off x="2701138" y="3627120"/>
            <a:ext cx="1367942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21-43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9"/>
          <p:cNvSpPr/>
          <p:nvPr/>
        </p:nvSpPr>
        <p:spPr>
          <a:xfrm>
            <a:off x="274320" y="4076700"/>
            <a:ext cx="2381098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9"/>
          <p:cNvSpPr/>
          <p:nvPr/>
        </p:nvSpPr>
        <p:spPr>
          <a:xfrm>
            <a:off x="2655418" y="4076700"/>
            <a:ext cx="1459382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9"/>
          <p:cNvSpPr/>
          <p:nvPr/>
        </p:nvSpPr>
        <p:spPr>
          <a:xfrm>
            <a:off x="320040" y="4076700"/>
            <a:ext cx="2289658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116-130%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9"/>
          <p:cNvSpPr/>
          <p:nvPr/>
        </p:nvSpPr>
        <p:spPr>
          <a:xfrm>
            <a:off x="2701138" y="4076700"/>
            <a:ext cx="1367942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44-60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9"/>
          <p:cNvSpPr/>
          <p:nvPr/>
        </p:nvSpPr>
        <p:spPr>
          <a:xfrm>
            <a:off x="4297680" y="1417320"/>
            <a:ext cx="384048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p9"/>
          <p:cNvSpPr/>
          <p:nvPr/>
        </p:nvSpPr>
        <p:spPr>
          <a:xfrm>
            <a:off x="4297680" y="1417320"/>
            <a:ext cx="3840480" cy="4114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9"/>
          <p:cNvSpPr/>
          <p:nvPr/>
        </p:nvSpPr>
        <p:spPr>
          <a:xfrm>
            <a:off x="4389120" y="141732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Coverage  —  Max 40 pts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9"/>
          <p:cNvSpPr/>
          <p:nvPr/>
        </p:nvSpPr>
        <p:spPr>
          <a:xfrm>
            <a:off x="4297680" y="1828800"/>
            <a:ext cx="2381098" cy="530352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9"/>
          <p:cNvSpPr/>
          <p:nvPr/>
        </p:nvSpPr>
        <p:spPr>
          <a:xfrm>
            <a:off x="4343400" y="1828800"/>
            <a:ext cx="228965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Achievement 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9"/>
          <p:cNvSpPr/>
          <p:nvPr/>
        </p:nvSpPr>
        <p:spPr>
          <a:xfrm>
            <a:off x="6678778" y="1828800"/>
            <a:ext cx="1459382" cy="530352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p9"/>
          <p:cNvSpPr/>
          <p:nvPr/>
        </p:nvSpPr>
        <p:spPr>
          <a:xfrm>
            <a:off x="6724498" y="1828800"/>
            <a:ext cx="1367942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Points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9"/>
          <p:cNvSpPr/>
          <p:nvPr/>
        </p:nvSpPr>
        <p:spPr>
          <a:xfrm>
            <a:off x="4297680" y="2359152"/>
            <a:ext cx="2381098" cy="53035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p9"/>
          <p:cNvSpPr/>
          <p:nvPr/>
        </p:nvSpPr>
        <p:spPr>
          <a:xfrm>
            <a:off x="6678778" y="2359152"/>
            <a:ext cx="1459382" cy="53035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9"/>
          <p:cNvSpPr/>
          <p:nvPr/>
        </p:nvSpPr>
        <p:spPr>
          <a:xfrm>
            <a:off x="4343400" y="2359152"/>
            <a:ext cx="228965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60-74%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9"/>
          <p:cNvSpPr/>
          <p:nvPr/>
        </p:nvSpPr>
        <p:spPr>
          <a:xfrm>
            <a:off x="6724498" y="2359152"/>
            <a:ext cx="1367942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1-10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9"/>
          <p:cNvSpPr/>
          <p:nvPr/>
        </p:nvSpPr>
        <p:spPr>
          <a:xfrm>
            <a:off x="4297680" y="2889504"/>
            <a:ext cx="2381098" cy="53035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2" name="Google Shape;322;p9"/>
          <p:cNvSpPr/>
          <p:nvPr/>
        </p:nvSpPr>
        <p:spPr>
          <a:xfrm>
            <a:off x="6678778" y="2889504"/>
            <a:ext cx="1459382" cy="53035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p9"/>
          <p:cNvSpPr/>
          <p:nvPr/>
        </p:nvSpPr>
        <p:spPr>
          <a:xfrm>
            <a:off x="4343400" y="2889504"/>
            <a:ext cx="228965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75-89%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9"/>
          <p:cNvSpPr/>
          <p:nvPr/>
        </p:nvSpPr>
        <p:spPr>
          <a:xfrm>
            <a:off x="6724498" y="2889504"/>
            <a:ext cx="1367942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11-25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9"/>
          <p:cNvSpPr/>
          <p:nvPr/>
        </p:nvSpPr>
        <p:spPr>
          <a:xfrm>
            <a:off x="4297680" y="3419856"/>
            <a:ext cx="2381098" cy="53035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6" name="Google Shape;326;p9"/>
          <p:cNvSpPr/>
          <p:nvPr/>
        </p:nvSpPr>
        <p:spPr>
          <a:xfrm>
            <a:off x="6678778" y="3419856"/>
            <a:ext cx="1459382" cy="53035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7" name="Google Shape;327;p9"/>
          <p:cNvSpPr/>
          <p:nvPr/>
        </p:nvSpPr>
        <p:spPr>
          <a:xfrm>
            <a:off x="4343400" y="3419856"/>
            <a:ext cx="228965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90-99%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9"/>
          <p:cNvSpPr/>
          <p:nvPr/>
        </p:nvSpPr>
        <p:spPr>
          <a:xfrm>
            <a:off x="6724498" y="3419856"/>
            <a:ext cx="1367942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26-39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9"/>
          <p:cNvSpPr/>
          <p:nvPr/>
        </p:nvSpPr>
        <p:spPr>
          <a:xfrm>
            <a:off x="4297680" y="3950208"/>
            <a:ext cx="2381098" cy="53035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0" name="Google Shape;330;p9"/>
          <p:cNvSpPr/>
          <p:nvPr/>
        </p:nvSpPr>
        <p:spPr>
          <a:xfrm>
            <a:off x="6678778" y="3950208"/>
            <a:ext cx="1459382" cy="53035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p9"/>
          <p:cNvSpPr/>
          <p:nvPr/>
        </p:nvSpPr>
        <p:spPr>
          <a:xfrm>
            <a:off x="4343400" y="3950208"/>
            <a:ext cx="228965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100%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9"/>
          <p:cNvSpPr/>
          <p:nvPr/>
        </p:nvSpPr>
        <p:spPr>
          <a:xfrm>
            <a:off x="6724498" y="3950208"/>
            <a:ext cx="1367942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40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9"/>
          <p:cNvSpPr/>
          <p:nvPr/>
        </p:nvSpPr>
        <p:spPr>
          <a:xfrm>
            <a:off x="274320" y="4663440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EFF3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4" name="Google Shape;334;p9"/>
          <p:cNvSpPr/>
          <p:nvPr/>
        </p:nvSpPr>
        <p:spPr>
          <a:xfrm>
            <a:off x="365760" y="4663440"/>
            <a:ext cx="8412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50C9"/>
              </a:buClr>
              <a:buSzPts val="950"/>
              <a:buFont typeface="Open Sans"/>
              <a:buNone/>
            </a:pPr>
            <a:r>
              <a:rPr lang="en-US" sz="950" b="0" i="1" u="none" strike="noStrike" cap="none">
                <a:solidFill>
                  <a:srgbClr val="1E50C9"/>
                </a:solidFill>
                <a:latin typeface="Open Sans"/>
                <a:ea typeface="Open Sans"/>
                <a:cs typeface="Open Sans"/>
                <a:sym typeface="Open Sans"/>
              </a:rPr>
              <a:t>KPI Threshold to score: Sales 70%  |  Coverage 90%. Points accumulate cumulatively.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856233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1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0"/>
          <p:cNvSpPr/>
          <p:nvPr/>
        </p:nvSpPr>
        <p:spPr>
          <a:xfrm>
            <a:off x="320040" y="91440"/>
            <a:ext cx="85039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Points Calculation — District Manager (DM/DSM)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0"/>
          <p:cNvSpPr/>
          <p:nvPr/>
        </p:nvSpPr>
        <p:spPr>
          <a:xfrm>
            <a:off x="274320" y="960120"/>
            <a:ext cx="1828800" cy="347472"/>
          </a:xfrm>
          <a:prstGeom prst="roundRect">
            <a:avLst>
              <a:gd name="adj" fmla="val 15789"/>
            </a:avLst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10"/>
          <p:cNvSpPr/>
          <p:nvPr/>
        </p:nvSpPr>
        <p:spPr>
          <a:xfrm>
            <a:off x="274320" y="960120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Total: 100 pts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286000" y="960120"/>
            <a:ext cx="1600200" cy="347472"/>
          </a:xfrm>
          <a:prstGeom prst="roundRect">
            <a:avLst>
              <a:gd name="adj" fmla="val 15789"/>
            </a:avLst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10"/>
          <p:cNvSpPr/>
          <p:nvPr/>
        </p:nvSpPr>
        <p:spPr>
          <a:xfrm>
            <a:off x="2286000" y="960120"/>
            <a:ext cx="16002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Open Sans"/>
              <a:buNone/>
            </a:pPr>
            <a:r>
              <a:rPr lang="en-US" sz="85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Team Avg Score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Open Sans"/>
              <a:buNone/>
            </a:pPr>
            <a:r>
              <a:rPr lang="en-US" sz="85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70 pts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0"/>
          <p:cNvSpPr/>
          <p:nvPr/>
        </p:nvSpPr>
        <p:spPr>
          <a:xfrm>
            <a:off x="3977640" y="960120"/>
            <a:ext cx="1600200" cy="347472"/>
          </a:xfrm>
          <a:prstGeom prst="roundRect">
            <a:avLst>
              <a:gd name="adj" fmla="val 15789"/>
            </a:avLst>
          </a:prstGeom>
          <a:solidFill>
            <a:srgbClr val="722ED1"/>
          </a:solidFill>
          <a:ln w="12700" cap="flat" cmpd="sng">
            <a:solidFill>
              <a:srgbClr val="722ED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10"/>
          <p:cNvSpPr/>
          <p:nvPr/>
        </p:nvSpPr>
        <p:spPr>
          <a:xfrm>
            <a:off x="3977640" y="960120"/>
            <a:ext cx="16002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Open Sans"/>
              <a:buNone/>
            </a:pPr>
            <a:r>
              <a:rPr lang="en-US" sz="850" b="1" i="0" u="none" strike="noStrike" cap="none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Field Days</a:t>
            </a:r>
            <a:endParaRPr sz="8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Open Sans"/>
              <a:buNone/>
            </a:pPr>
            <a:r>
              <a:rPr lang="en-US" sz="850" b="1" i="0" u="none" strike="noStrike" cap="none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10 pts</a:t>
            </a:r>
            <a:endParaRPr sz="8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0"/>
          <p:cNvSpPr/>
          <p:nvPr/>
        </p:nvSpPr>
        <p:spPr>
          <a:xfrm>
            <a:off x="5669280" y="960120"/>
            <a:ext cx="1600200" cy="347472"/>
          </a:xfrm>
          <a:prstGeom prst="roundRect">
            <a:avLst>
              <a:gd name="adj" fmla="val 15789"/>
            </a:avLst>
          </a:prstGeom>
          <a:solidFill>
            <a:srgbClr val="52C41A"/>
          </a:solidFill>
          <a:ln w="12700" cap="flat" cmpd="sng">
            <a:solidFill>
              <a:srgbClr val="52C41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10"/>
          <p:cNvSpPr/>
          <p:nvPr/>
        </p:nvSpPr>
        <p:spPr>
          <a:xfrm>
            <a:off x="5669280" y="960120"/>
            <a:ext cx="16002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Open Sans"/>
              <a:buNone/>
            </a:pPr>
            <a:r>
              <a:rPr lang="en-US" sz="85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DV Coverage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Open Sans"/>
              <a:buNone/>
            </a:pPr>
            <a:r>
              <a:rPr lang="en-US" sz="85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10 pts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0"/>
          <p:cNvSpPr/>
          <p:nvPr/>
        </p:nvSpPr>
        <p:spPr>
          <a:xfrm>
            <a:off x="7360920" y="960120"/>
            <a:ext cx="1600200" cy="347472"/>
          </a:xfrm>
          <a:prstGeom prst="roundRect">
            <a:avLst>
              <a:gd name="adj" fmla="val 15789"/>
            </a:avLst>
          </a:prstGeom>
          <a:solidFill>
            <a:srgbClr val="FA8C16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10"/>
          <p:cNvSpPr/>
          <p:nvPr/>
        </p:nvSpPr>
        <p:spPr>
          <a:xfrm>
            <a:off x="7360920" y="960120"/>
            <a:ext cx="16002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Open Sans"/>
              <a:buNone/>
            </a:pPr>
            <a:r>
              <a:rPr lang="en-US" sz="85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Calls/DV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Open Sans"/>
              <a:buNone/>
            </a:pPr>
            <a:r>
              <a:rPr lang="en-US" sz="85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10 pts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0"/>
          <p:cNvSpPr/>
          <p:nvPr/>
        </p:nvSpPr>
        <p:spPr>
          <a:xfrm>
            <a:off x="274320" y="1417320"/>
            <a:ext cx="274320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4" name="Google Shape;354;p10"/>
          <p:cNvSpPr/>
          <p:nvPr/>
        </p:nvSpPr>
        <p:spPr>
          <a:xfrm>
            <a:off x="274320" y="1417320"/>
            <a:ext cx="2743200" cy="4114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10"/>
          <p:cNvSpPr/>
          <p:nvPr/>
        </p:nvSpPr>
        <p:spPr>
          <a:xfrm>
            <a:off x="365760" y="1417320"/>
            <a:ext cx="25603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Team Avg Performance Score  —  Max 70 pts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0"/>
          <p:cNvSpPr/>
          <p:nvPr/>
        </p:nvSpPr>
        <p:spPr>
          <a:xfrm>
            <a:off x="274320" y="1828800"/>
            <a:ext cx="1700784" cy="388620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p10"/>
          <p:cNvSpPr/>
          <p:nvPr/>
        </p:nvSpPr>
        <p:spPr>
          <a:xfrm>
            <a:off x="320040" y="1828800"/>
            <a:ext cx="1609344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Achievement 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0"/>
          <p:cNvSpPr/>
          <p:nvPr/>
        </p:nvSpPr>
        <p:spPr>
          <a:xfrm>
            <a:off x="1975104" y="1828800"/>
            <a:ext cx="1042416" cy="388620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10"/>
          <p:cNvSpPr/>
          <p:nvPr/>
        </p:nvSpPr>
        <p:spPr>
          <a:xfrm>
            <a:off x="2020824" y="1828800"/>
            <a:ext cx="950976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Points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0"/>
          <p:cNvSpPr/>
          <p:nvPr/>
        </p:nvSpPr>
        <p:spPr>
          <a:xfrm>
            <a:off x="274320" y="2217420"/>
            <a:ext cx="1700784" cy="3886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1" name="Google Shape;361;p10"/>
          <p:cNvSpPr/>
          <p:nvPr/>
        </p:nvSpPr>
        <p:spPr>
          <a:xfrm>
            <a:off x="1975104" y="2217420"/>
            <a:ext cx="1042416" cy="3886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" name="Google Shape;362;p10"/>
          <p:cNvSpPr/>
          <p:nvPr/>
        </p:nvSpPr>
        <p:spPr>
          <a:xfrm>
            <a:off x="320040" y="2217420"/>
            <a:ext cx="1609344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Team 1-20%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0"/>
          <p:cNvSpPr/>
          <p:nvPr/>
        </p:nvSpPr>
        <p:spPr>
          <a:xfrm>
            <a:off x="2020824" y="2217420"/>
            <a:ext cx="950976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0.7-14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0"/>
          <p:cNvSpPr/>
          <p:nvPr/>
        </p:nvSpPr>
        <p:spPr>
          <a:xfrm>
            <a:off x="274320" y="2606040"/>
            <a:ext cx="1700784" cy="38862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p10"/>
          <p:cNvSpPr/>
          <p:nvPr/>
        </p:nvSpPr>
        <p:spPr>
          <a:xfrm>
            <a:off x="1975104" y="2606040"/>
            <a:ext cx="1042416" cy="38862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p10"/>
          <p:cNvSpPr/>
          <p:nvPr/>
        </p:nvSpPr>
        <p:spPr>
          <a:xfrm>
            <a:off x="320040" y="2606040"/>
            <a:ext cx="1609344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Team 21-40%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0"/>
          <p:cNvSpPr/>
          <p:nvPr/>
        </p:nvSpPr>
        <p:spPr>
          <a:xfrm>
            <a:off x="2020824" y="2606040"/>
            <a:ext cx="950976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14.7-28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0"/>
          <p:cNvSpPr/>
          <p:nvPr/>
        </p:nvSpPr>
        <p:spPr>
          <a:xfrm>
            <a:off x="274320" y="2994660"/>
            <a:ext cx="1700784" cy="3886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9" name="Google Shape;369;p10"/>
          <p:cNvSpPr/>
          <p:nvPr/>
        </p:nvSpPr>
        <p:spPr>
          <a:xfrm>
            <a:off x="1975104" y="2994660"/>
            <a:ext cx="1042416" cy="3886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10"/>
          <p:cNvSpPr/>
          <p:nvPr/>
        </p:nvSpPr>
        <p:spPr>
          <a:xfrm>
            <a:off x="320040" y="2994660"/>
            <a:ext cx="1609344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Team 41-60%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0"/>
          <p:cNvSpPr/>
          <p:nvPr/>
        </p:nvSpPr>
        <p:spPr>
          <a:xfrm>
            <a:off x="2020824" y="2994660"/>
            <a:ext cx="950976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28.7-42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0"/>
          <p:cNvSpPr/>
          <p:nvPr/>
        </p:nvSpPr>
        <p:spPr>
          <a:xfrm>
            <a:off x="274320" y="3383280"/>
            <a:ext cx="1700784" cy="38862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3" name="Google Shape;373;p10"/>
          <p:cNvSpPr/>
          <p:nvPr/>
        </p:nvSpPr>
        <p:spPr>
          <a:xfrm>
            <a:off x="1975104" y="3383280"/>
            <a:ext cx="1042416" cy="38862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p10"/>
          <p:cNvSpPr/>
          <p:nvPr/>
        </p:nvSpPr>
        <p:spPr>
          <a:xfrm>
            <a:off x="320040" y="3383280"/>
            <a:ext cx="1609344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Team 61-80%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0"/>
          <p:cNvSpPr/>
          <p:nvPr/>
        </p:nvSpPr>
        <p:spPr>
          <a:xfrm>
            <a:off x="2020824" y="3383280"/>
            <a:ext cx="950976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42.7-56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0"/>
          <p:cNvSpPr/>
          <p:nvPr/>
        </p:nvSpPr>
        <p:spPr>
          <a:xfrm>
            <a:off x="274320" y="3771900"/>
            <a:ext cx="1700784" cy="3886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7" name="Google Shape;377;p10"/>
          <p:cNvSpPr/>
          <p:nvPr/>
        </p:nvSpPr>
        <p:spPr>
          <a:xfrm>
            <a:off x="1975104" y="3771900"/>
            <a:ext cx="1042416" cy="3886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8" name="Google Shape;378;p10"/>
          <p:cNvSpPr/>
          <p:nvPr/>
        </p:nvSpPr>
        <p:spPr>
          <a:xfrm>
            <a:off x="320040" y="3771900"/>
            <a:ext cx="1609344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Team 81-100%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0"/>
          <p:cNvSpPr/>
          <p:nvPr/>
        </p:nvSpPr>
        <p:spPr>
          <a:xfrm>
            <a:off x="2020824" y="3771900"/>
            <a:ext cx="950976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56.7-70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0"/>
          <p:cNvSpPr/>
          <p:nvPr/>
        </p:nvSpPr>
        <p:spPr>
          <a:xfrm>
            <a:off x="3200400" y="141732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1" name="Google Shape;381;p10"/>
          <p:cNvSpPr/>
          <p:nvPr/>
        </p:nvSpPr>
        <p:spPr>
          <a:xfrm>
            <a:off x="3200400" y="1417320"/>
            <a:ext cx="2651760" cy="4114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0"/>
          <p:cNvSpPr/>
          <p:nvPr/>
        </p:nvSpPr>
        <p:spPr>
          <a:xfrm>
            <a:off x="3291840" y="1417320"/>
            <a:ext cx="24688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Field Working Days  —  Max 10 pts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0"/>
          <p:cNvSpPr/>
          <p:nvPr/>
        </p:nvSpPr>
        <p:spPr>
          <a:xfrm>
            <a:off x="3200400" y="1828800"/>
            <a:ext cx="1644091" cy="388620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4" name="Google Shape;384;p10"/>
          <p:cNvSpPr/>
          <p:nvPr/>
        </p:nvSpPr>
        <p:spPr>
          <a:xfrm>
            <a:off x="3246120" y="1828800"/>
            <a:ext cx="1552651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Achievement 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0"/>
          <p:cNvSpPr/>
          <p:nvPr/>
        </p:nvSpPr>
        <p:spPr>
          <a:xfrm>
            <a:off x="4844491" y="1828800"/>
            <a:ext cx="1007669" cy="388620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6" name="Google Shape;386;p10"/>
          <p:cNvSpPr/>
          <p:nvPr/>
        </p:nvSpPr>
        <p:spPr>
          <a:xfrm>
            <a:off x="4890211" y="1828800"/>
            <a:ext cx="916229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Points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0"/>
          <p:cNvSpPr/>
          <p:nvPr/>
        </p:nvSpPr>
        <p:spPr>
          <a:xfrm>
            <a:off x="3200400" y="2217420"/>
            <a:ext cx="1644091" cy="3886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8" name="Google Shape;388;p10"/>
          <p:cNvSpPr/>
          <p:nvPr/>
        </p:nvSpPr>
        <p:spPr>
          <a:xfrm>
            <a:off x="4844491" y="2217420"/>
            <a:ext cx="1007669" cy="3886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9" name="Google Shape;389;p10"/>
          <p:cNvSpPr/>
          <p:nvPr/>
        </p:nvSpPr>
        <p:spPr>
          <a:xfrm>
            <a:off x="3246120" y="2217420"/>
            <a:ext cx="1552651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60-69%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0"/>
          <p:cNvSpPr/>
          <p:nvPr/>
        </p:nvSpPr>
        <p:spPr>
          <a:xfrm>
            <a:off x="4890211" y="2217420"/>
            <a:ext cx="916229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1.0-2.7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0"/>
          <p:cNvSpPr/>
          <p:nvPr/>
        </p:nvSpPr>
        <p:spPr>
          <a:xfrm>
            <a:off x="3200400" y="2606040"/>
            <a:ext cx="1644091" cy="38862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Google Shape;392;p10"/>
          <p:cNvSpPr/>
          <p:nvPr/>
        </p:nvSpPr>
        <p:spPr>
          <a:xfrm>
            <a:off x="4844491" y="2606040"/>
            <a:ext cx="1007669" cy="38862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3" name="Google Shape;393;p10"/>
          <p:cNvSpPr/>
          <p:nvPr/>
        </p:nvSpPr>
        <p:spPr>
          <a:xfrm>
            <a:off x="3246120" y="2606040"/>
            <a:ext cx="1552651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70-79%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0"/>
          <p:cNvSpPr/>
          <p:nvPr/>
        </p:nvSpPr>
        <p:spPr>
          <a:xfrm>
            <a:off x="4890211" y="2606040"/>
            <a:ext cx="916229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2.9-5.0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0"/>
          <p:cNvSpPr/>
          <p:nvPr/>
        </p:nvSpPr>
        <p:spPr>
          <a:xfrm>
            <a:off x="3200400" y="2994660"/>
            <a:ext cx="1644091" cy="3886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10"/>
          <p:cNvSpPr/>
          <p:nvPr/>
        </p:nvSpPr>
        <p:spPr>
          <a:xfrm>
            <a:off x="4844491" y="2994660"/>
            <a:ext cx="1007669" cy="3886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7" name="Google Shape;397;p10"/>
          <p:cNvSpPr/>
          <p:nvPr/>
        </p:nvSpPr>
        <p:spPr>
          <a:xfrm>
            <a:off x="3246120" y="2994660"/>
            <a:ext cx="1552651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80-89%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0"/>
          <p:cNvSpPr/>
          <p:nvPr/>
        </p:nvSpPr>
        <p:spPr>
          <a:xfrm>
            <a:off x="4890211" y="2994660"/>
            <a:ext cx="916229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5.2-7.3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0"/>
          <p:cNvSpPr/>
          <p:nvPr/>
        </p:nvSpPr>
        <p:spPr>
          <a:xfrm>
            <a:off x="3200400" y="3383280"/>
            <a:ext cx="1644091" cy="38862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10"/>
          <p:cNvSpPr/>
          <p:nvPr/>
        </p:nvSpPr>
        <p:spPr>
          <a:xfrm>
            <a:off x="4844491" y="3383280"/>
            <a:ext cx="1007669" cy="38862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1" name="Google Shape;401;p10"/>
          <p:cNvSpPr/>
          <p:nvPr/>
        </p:nvSpPr>
        <p:spPr>
          <a:xfrm>
            <a:off x="3246120" y="3383280"/>
            <a:ext cx="1552651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90-95%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0"/>
          <p:cNvSpPr/>
          <p:nvPr/>
        </p:nvSpPr>
        <p:spPr>
          <a:xfrm>
            <a:off x="4890211" y="3383280"/>
            <a:ext cx="916229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7.5-8.8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0"/>
          <p:cNvSpPr/>
          <p:nvPr/>
        </p:nvSpPr>
        <p:spPr>
          <a:xfrm>
            <a:off x="3200400" y="3771900"/>
            <a:ext cx="1644091" cy="3886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4" name="Google Shape;404;p10"/>
          <p:cNvSpPr/>
          <p:nvPr/>
        </p:nvSpPr>
        <p:spPr>
          <a:xfrm>
            <a:off x="4844491" y="3771900"/>
            <a:ext cx="1007669" cy="3886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5" name="Google Shape;405;p10"/>
          <p:cNvSpPr/>
          <p:nvPr/>
        </p:nvSpPr>
        <p:spPr>
          <a:xfrm>
            <a:off x="3246120" y="3771900"/>
            <a:ext cx="1552651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96-100%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0"/>
          <p:cNvSpPr/>
          <p:nvPr/>
        </p:nvSpPr>
        <p:spPr>
          <a:xfrm>
            <a:off x="4890211" y="3771900"/>
            <a:ext cx="916229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9.0-10.0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0"/>
          <p:cNvSpPr/>
          <p:nvPr/>
        </p:nvSpPr>
        <p:spPr>
          <a:xfrm>
            <a:off x="5989320" y="1417320"/>
            <a:ext cx="1554480" cy="237744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8" name="Google Shape;408;p10"/>
          <p:cNvSpPr/>
          <p:nvPr/>
        </p:nvSpPr>
        <p:spPr>
          <a:xfrm>
            <a:off x="5989320" y="1417320"/>
            <a:ext cx="1554480" cy="4114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p10"/>
          <p:cNvSpPr/>
          <p:nvPr/>
        </p:nvSpPr>
        <p:spPr>
          <a:xfrm>
            <a:off x="6080760" y="1417320"/>
            <a:ext cx="1371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ontserrat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DV Coverage  —  Max 10 pts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0"/>
          <p:cNvSpPr/>
          <p:nvPr/>
        </p:nvSpPr>
        <p:spPr>
          <a:xfrm>
            <a:off x="5989320" y="1828800"/>
            <a:ext cx="963778" cy="393192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10"/>
          <p:cNvSpPr/>
          <p:nvPr/>
        </p:nvSpPr>
        <p:spPr>
          <a:xfrm>
            <a:off x="6035040" y="1828800"/>
            <a:ext cx="872338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0"/>
          <p:cNvSpPr/>
          <p:nvPr/>
        </p:nvSpPr>
        <p:spPr>
          <a:xfrm>
            <a:off x="6953098" y="1828800"/>
            <a:ext cx="590702" cy="393192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0"/>
          <p:cNvSpPr/>
          <p:nvPr/>
        </p:nvSpPr>
        <p:spPr>
          <a:xfrm>
            <a:off x="6998818" y="1828800"/>
            <a:ext cx="499262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Pts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0"/>
          <p:cNvSpPr/>
          <p:nvPr/>
        </p:nvSpPr>
        <p:spPr>
          <a:xfrm>
            <a:off x="5989320" y="2221992"/>
            <a:ext cx="963778" cy="39319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5" name="Google Shape;415;p10"/>
          <p:cNvSpPr/>
          <p:nvPr/>
        </p:nvSpPr>
        <p:spPr>
          <a:xfrm>
            <a:off x="6953098" y="2221992"/>
            <a:ext cx="590702" cy="39319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10"/>
          <p:cNvSpPr/>
          <p:nvPr/>
        </p:nvSpPr>
        <p:spPr>
          <a:xfrm>
            <a:off x="6035040" y="2221992"/>
            <a:ext cx="872338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80-87%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0"/>
          <p:cNvSpPr/>
          <p:nvPr/>
        </p:nvSpPr>
        <p:spPr>
          <a:xfrm>
            <a:off x="6998818" y="2221992"/>
            <a:ext cx="499262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1.0-3.8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0"/>
          <p:cNvSpPr/>
          <p:nvPr/>
        </p:nvSpPr>
        <p:spPr>
          <a:xfrm>
            <a:off x="5989320" y="2615184"/>
            <a:ext cx="963778" cy="39319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10"/>
          <p:cNvSpPr/>
          <p:nvPr/>
        </p:nvSpPr>
        <p:spPr>
          <a:xfrm>
            <a:off x="6953098" y="2615184"/>
            <a:ext cx="590702" cy="39319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0" name="Google Shape;420;p10"/>
          <p:cNvSpPr/>
          <p:nvPr/>
        </p:nvSpPr>
        <p:spPr>
          <a:xfrm>
            <a:off x="6035040" y="2615184"/>
            <a:ext cx="872338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88-93%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0"/>
          <p:cNvSpPr/>
          <p:nvPr/>
        </p:nvSpPr>
        <p:spPr>
          <a:xfrm>
            <a:off x="6998818" y="2615184"/>
            <a:ext cx="499262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4.3-6.6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0"/>
          <p:cNvSpPr/>
          <p:nvPr/>
        </p:nvSpPr>
        <p:spPr>
          <a:xfrm>
            <a:off x="5989320" y="3008376"/>
            <a:ext cx="963778" cy="39319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p10"/>
          <p:cNvSpPr/>
          <p:nvPr/>
        </p:nvSpPr>
        <p:spPr>
          <a:xfrm>
            <a:off x="6953098" y="3008376"/>
            <a:ext cx="590702" cy="39319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10"/>
          <p:cNvSpPr/>
          <p:nvPr/>
        </p:nvSpPr>
        <p:spPr>
          <a:xfrm>
            <a:off x="6035040" y="3008376"/>
            <a:ext cx="872338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94-97%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0"/>
          <p:cNvSpPr/>
          <p:nvPr/>
        </p:nvSpPr>
        <p:spPr>
          <a:xfrm>
            <a:off x="6998818" y="3008376"/>
            <a:ext cx="499262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7.1-8.5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0"/>
          <p:cNvSpPr/>
          <p:nvPr/>
        </p:nvSpPr>
        <p:spPr>
          <a:xfrm>
            <a:off x="5989320" y="3401568"/>
            <a:ext cx="963778" cy="39319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7" name="Google Shape;427;p10"/>
          <p:cNvSpPr/>
          <p:nvPr/>
        </p:nvSpPr>
        <p:spPr>
          <a:xfrm>
            <a:off x="6953098" y="3401568"/>
            <a:ext cx="590702" cy="39319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8" name="Google Shape;428;p10"/>
          <p:cNvSpPr/>
          <p:nvPr/>
        </p:nvSpPr>
        <p:spPr>
          <a:xfrm>
            <a:off x="6035040" y="3401568"/>
            <a:ext cx="872338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98-100%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10"/>
          <p:cNvSpPr/>
          <p:nvPr/>
        </p:nvSpPr>
        <p:spPr>
          <a:xfrm>
            <a:off x="6998818" y="3401568"/>
            <a:ext cx="499262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9-10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0"/>
          <p:cNvSpPr/>
          <p:nvPr/>
        </p:nvSpPr>
        <p:spPr>
          <a:xfrm>
            <a:off x="7635240" y="1417320"/>
            <a:ext cx="1234440" cy="2377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1" name="Google Shape;431;p10"/>
          <p:cNvSpPr/>
          <p:nvPr/>
        </p:nvSpPr>
        <p:spPr>
          <a:xfrm>
            <a:off x="7635240" y="1417320"/>
            <a:ext cx="1234440" cy="4114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2" name="Google Shape;432;p10"/>
          <p:cNvSpPr/>
          <p:nvPr/>
        </p:nvSpPr>
        <p:spPr>
          <a:xfrm>
            <a:off x="7726680" y="1417320"/>
            <a:ext cx="10515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ontserrat"/>
              <a:buNone/>
            </a:pPr>
            <a:r>
              <a:rPr lang="en-US" sz="75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Calls/DV  —  Max 10 pts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10"/>
          <p:cNvSpPr/>
          <p:nvPr/>
        </p:nvSpPr>
        <p:spPr>
          <a:xfrm>
            <a:off x="7635240" y="1828800"/>
            <a:ext cx="765353" cy="393192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p10"/>
          <p:cNvSpPr/>
          <p:nvPr/>
        </p:nvSpPr>
        <p:spPr>
          <a:xfrm>
            <a:off x="7680960" y="1828800"/>
            <a:ext cx="673913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0"/>
          <p:cNvSpPr/>
          <p:nvPr/>
        </p:nvSpPr>
        <p:spPr>
          <a:xfrm>
            <a:off x="8400593" y="1828800"/>
            <a:ext cx="469087" cy="393192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10"/>
          <p:cNvSpPr/>
          <p:nvPr/>
        </p:nvSpPr>
        <p:spPr>
          <a:xfrm>
            <a:off x="8446313" y="1828800"/>
            <a:ext cx="377647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Pts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0"/>
          <p:cNvSpPr/>
          <p:nvPr/>
        </p:nvSpPr>
        <p:spPr>
          <a:xfrm>
            <a:off x="7635240" y="2221992"/>
            <a:ext cx="765353" cy="39319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8" name="Google Shape;438;p10"/>
          <p:cNvSpPr/>
          <p:nvPr/>
        </p:nvSpPr>
        <p:spPr>
          <a:xfrm>
            <a:off x="8400593" y="2221992"/>
            <a:ext cx="469087" cy="39319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9" name="Google Shape;439;p10"/>
          <p:cNvSpPr/>
          <p:nvPr/>
        </p:nvSpPr>
        <p:spPr>
          <a:xfrm>
            <a:off x="7680960" y="2221992"/>
            <a:ext cx="673913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90-92%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0"/>
          <p:cNvSpPr/>
          <p:nvPr/>
        </p:nvSpPr>
        <p:spPr>
          <a:xfrm>
            <a:off x="8446313" y="2221992"/>
            <a:ext cx="377647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6.1-6.9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0"/>
          <p:cNvSpPr/>
          <p:nvPr/>
        </p:nvSpPr>
        <p:spPr>
          <a:xfrm>
            <a:off x="7635240" y="2615184"/>
            <a:ext cx="765353" cy="39319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2" name="Google Shape;442;p10"/>
          <p:cNvSpPr/>
          <p:nvPr/>
        </p:nvSpPr>
        <p:spPr>
          <a:xfrm>
            <a:off x="8400593" y="2615184"/>
            <a:ext cx="469087" cy="39319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3" name="Google Shape;443;p10"/>
          <p:cNvSpPr/>
          <p:nvPr/>
        </p:nvSpPr>
        <p:spPr>
          <a:xfrm>
            <a:off x="7680960" y="2615184"/>
            <a:ext cx="673913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93-95%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0"/>
          <p:cNvSpPr/>
          <p:nvPr/>
        </p:nvSpPr>
        <p:spPr>
          <a:xfrm>
            <a:off x="8446313" y="2615184"/>
            <a:ext cx="377647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7.3-8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0"/>
          <p:cNvSpPr/>
          <p:nvPr/>
        </p:nvSpPr>
        <p:spPr>
          <a:xfrm>
            <a:off x="7635240" y="3008376"/>
            <a:ext cx="765353" cy="39319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6" name="Google Shape;446;p10"/>
          <p:cNvSpPr/>
          <p:nvPr/>
        </p:nvSpPr>
        <p:spPr>
          <a:xfrm>
            <a:off x="8400593" y="3008376"/>
            <a:ext cx="469087" cy="39319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7" name="Google Shape;447;p10"/>
          <p:cNvSpPr/>
          <p:nvPr/>
        </p:nvSpPr>
        <p:spPr>
          <a:xfrm>
            <a:off x="7680960" y="3008376"/>
            <a:ext cx="673913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96-98%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10"/>
          <p:cNvSpPr/>
          <p:nvPr/>
        </p:nvSpPr>
        <p:spPr>
          <a:xfrm>
            <a:off x="8446313" y="3008376"/>
            <a:ext cx="377647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8.4-9.2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0"/>
          <p:cNvSpPr/>
          <p:nvPr/>
        </p:nvSpPr>
        <p:spPr>
          <a:xfrm>
            <a:off x="7635240" y="3401568"/>
            <a:ext cx="765353" cy="39319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0" name="Google Shape;450;p10"/>
          <p:cNvSpPr/>
          <p:nvPr/>
        </p:nvSpPr>
        <p:spPr>
          <a:xfrm>
            <a:off x="8400593" y="3401568"/>
            <a:ext cx="469087" cy="39319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1" name="Google Shape;451;p10"/>
          <p:cNvSpPr/>
          <p:nvPr/>
        </p:nvSpPr>
        <p:spPr>
          <a:xfrm>
            <a:off x="7680960" y="3401568"/>
            <a:ext cx="673913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99-100%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0"/>
          <p:cNvSpPr/>
          <p:nvPr/>
        </p:nvSpPr>
        <p:spPr>
          <a:xfrm>
            <a:off x="8446313" y="3401568"/>
            <a:ext cx="377647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9.6-10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0"/>
          <p:cNvSpPr/>
          <p:nvPr/>
        </p:nvSpPr>
        <p:spPr>
          <a:xfrm>
            <a:off x="274320" y="4663440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EFF3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4" name="Google Shape;454;p10"/>
          <p:cNvSpPr/>
          <p:nvPr/>
        </p:nvSpPr>
        <p:spPr>
          <a:xfrm>
            <a:off x="365760" y="4663440"/>
            <a:ext cx="8412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50C9"/>
              </a:buClr>
              <a:buSzPts val="950"/>
              <a:buFont typeface="Open Sans"/>
              <a:buNone/>
            </a:pPr>
            <a:r>
              <a:rPr lang="en-US" sz="950" b="0" i="1" u="none" strike="noStrike" cap="none">
                <a:solidFill>
                  <a:srgbClr val="1E50C9"/>
                </a:solidFill>
                <a:latin typeface="Open Sans"/>
                <a:ea typeface="Open Sans"/>
                <a:cs typeface="Open Sans"/>
                <a:sym typeface="Open Sans"/>
              </a:rPr>
              <a:t>Quarterly adds: KOL Coverage + Individual Knowledge. Field Days threshold 60% | DV Coverage 80% | Calls/DV 90%.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867936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1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1" name="Google Shape;461;p1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2" name="Google Shape;462;p11"/>
          <p:cNvSpPr/>
          <p:nvPr/>
        </p:nvSpPr>
        <p:spPr>
          <a:xfrm>
            <a:off x="320040" y="91440"/>
            <a:ext cx="85039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Points Calculation — ASM &amp; NSM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1"/>
          <p:cNvSpPr/>
          <p:nvPr/>
        </p:nvSpPr>
        <p:spPr>
          <a:xfrm>
            <a:off x="274320" y="960120"/>
            <a:ext cx="54864" cy="3657600"/>
          </a:xfrm>
          <a:prstGeom prst="rect">
            <a:avLst/>
          </a:prstGeom>
          <a:solidFill>
            <a:srgbClr val="722ED1"/>
          </a:solidFill>
          <a:ln w="12700" cap="flat" cmpd="sng">
            <a:solidFill>
              <a:srgbClr val="722ED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11"/>
          <p:cNvSpPr/>
          <p:nvPr/>
        </p:nvSpPr>
        <p:spPr>
          <a:xfrm>
            <a:off x="457200" y="960120"/>
            <a:ext cx="36576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22ED1"/>
              </a:buClr>
              <a:buSzPts val="1300"/>
              <a:buFont typeface="Montserrat"/>
              <a:buNone/>
            </a:pPr>
            <a:r>
              <a:rPr lang="en-US" sz="1300" b="1" i="0" u="none" strike="noStrike" cap="none" dirty="0">
                <a:solidFill>
                  <a:srgbClr val="722ED1"/>
                </a:solidFill>
                <a:latin typeface="Montserrat"/>
                <a:ea typeface="Montserrat"/>
                <a:cs typeface="Montserrat"/>
                <a:sym typeface="Montserrat"/>
              </a:rPr>
              <a:t>Area Sales Manager (ASM / NSM )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1"/>
          <p:cNvSpPr/>
          <p:nvPr/>
        </p:nvSpPr>
        <p:spPr>
          <a:xfrm>
            <a:off x="457200" y="1298448"/>
            <a:ext cx="6217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00"/>
              <a:buFont typeface="Open Sans"/>
              <a:buNone/>
            </a:pPr>
            <a:r>
              <a:rPr lang="en-US" sz="10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Total: 100 pts  |  80 pts (DSM Team Avg) + 20 pts (Field Days)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11"/>
          <p:cNvSpPr/>
          <p:nvPr/>
        </p:nvSpPr>
        <p:spPr>
          <a:xfrm>
            <a:off x="457200" y="1645920"/>
            <a:ext cx="2926080" cy="3246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11"/>
          <p:cNvSpPr/>
          <p:nvPr/>
        </p:nvSpPr>
        <p:spPr>
          <a:xfrm>
            <a:off x="457200" y="1645920"/>
            <a:ext cx="2926080" cy="4114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p11"/>
          <p:cNvSpPr/>
          <p:nvPr/>
        </p:nvSpPr>
        <p:spPr>
          <a:xfrm>
            <a:off x="548640" y="1645920"/>
            <a:ext cx="27432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DSM Team Avg Score  —  Max 80 pts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1"/>
          <p:cNvSpPr/>
          <p:nvPr/>
        </p:nvSpPr>
        <p:spPr>
          <a:xfrm>
            <a:off x="457200" y="2057400"/>
            <a:ext cx="1814170" cy="472440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11"/>
          <p:cNvSpPr/>
          <p:nvPr/>
        </p:nvSpPr>
        <p:spPr>
          <a:xfrm>
            <a:off x="502920" y="2057400"/>
            <a:ext cx="1722730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Achievement 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11"/>
          <p:cNvSpPr/>
          <p:nvPr/>
        </p:nvSpPr>
        <p:spPr>
          <a:xfrm>
            <a:off x="2271370" y="2057400"/>
            <a:ext cx="1111910" cy="472440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11"/>
          <p:cNvSpPr/>
          <p:nvPr/>
        </p:nvSpPr>
        <p:spPr>
          <a:xfrm>
            <a:off x="2317090" y="2057400"/>
            <a:ext cx="1020470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Points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1"/>
          <p:cNvSpPr/>
          <p:nvPr/>
        </p:nvSpPr>
        <p:spPr>
          <a:xfrm>
            <a:off x="457200" y="2529840"/>
            <a:ext cx="1814170" cy="4724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11"/>
          <p:cNvSpPr/>
          <p:nvPr/>
        </p:nvSpPr>
        <p:spPr>
          <a:xfrm>
            <a:off x="2271370" y="2529840"/>
            <a:ext cx="1111910" cy="4724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p11"/>
          <p:cNvSpPr/>
          <p:nvPr/>
        </p:nvSpPr>
        <p:spPr>
          <a:xfrm>
            <a:off x="502920" y="2529840"/>
            <a:ext cx="1722730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Team 1-20%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11"/>
          <p:cNvSpPr/>
          <p:nvPr/>
        </p:nvSpPr>
        <p:spPr>
          <a:xfrm>
            <a:off x="2317090" y="2529840"/>
            <a:ext cx="1020470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0.8-16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1"/>
          <p:cNvSpPr/>
          <p:nvPr/>
        </p:nvSpPr>
        <p:spPr>
          <a:xfrm>
            <a:off x="457200" y="3002280"/>
            <a:ext cx="1814170" cy="47244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8" name="Google Shape;478;p11"/>
          <p:cNvSpPr/>
          <p:nvPr/>
        </p:nvSpPr>
        <p:spPr>
          <a:xfrm>
            <a:off x="2271370" y="3002280"/>
            <a:ext cx="1111910" cy="47244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9" name="Google Shape;479;p11"/>
          <p:cNvSpPr/>
          <p:nvPr/>
        </p:nvSpPr>
        <p:spPr>
          <a:xfrm>
            <a:off x="502920" y="3002280"/>
            <a:ext cx="1722730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Team 21-40%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11"/>
          <p:cNvSpPr/>
          <p:nvPr/>
        </p:nvSpPr>
        <p:spPr>
          <a:xfrm>
            <a:off x="2317090" y="3002280"/>
            <a:ext cx="1020470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16.8-32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11"/>
          <p:cNvSpPr/>
          <p:nvPr/>
        </p:nvSpPr>
        <p:spPr>
          <a:xfrm>
            <a:off x="457200" y="3474720"/>
            <a:ext cx="1814170" cy="4724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2" name="Google Shape;482;p11"/>
          <p:cNvSpPr/>
          <p:nvPr/>
        </p:nvSpPr>
        <p:spPr>
          <a:xfrm>
            <a:off x="2271370" y="3474720"/>
            <a:ext cx="1111910" cy="4724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3" name="Google Shape;483;p11"/>
          <p:cNvSpPr/>
          <p:nvPr/>
        </p:nvSpPr>
        <p:spPr>
          <a:xfrm>
            <a:off x="502920" y="3474720"/>
            <a:ext cx="1722730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Team 41-60%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11"/>
          <p:cNvSpPr/>
          <p:nvPr/>
        </p:nvSpPr>
        <p:spPr>
          <a:xfrm>
            <a:off x="2317090" y="3474720"/>
            <a:ext cx="1020470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32.8-48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1"/>
          <p:cNvSpPr/>
          <p:nvPr/>
        </p:nvSpPr>
        <p:spPr>
          <a:xfrm>
            <a:off x="457200" y="3947160"/>
            <a:ext cx="1814170" cy="47244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11"/>
          <p:cNvSpPr/>
          <p:nvPr/>
        </p:nvSpPr>
        <p:spPr>
          <a:xfrm>
            <a:off x="2271370" y="3947160"/>
            <a:ext cx="1111910" cy="47244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7" name="Google Shape;487;p11"/>
          <p:cNvSpPr/>
          <p:nvPr/>
        </p:nvSpPr>
        <p:spPr>
          <a:xfrm>
            <a:off x="502920" y="3947160"/>
            <a:ext cx="1722730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Team 61-80%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11"/>
          <p:cNvSpPr/>
          <p:nvPr/>
        </p:nvSpPr>
        <p:spPr>
          <a:xfrm>
            <a:off x="2317090" y="3947160"/>
            <a:ext cx="1020470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48.8-64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11"/>
          <p:cNvSpPr/>
          <p:nvPr/>
        </p:nvSpPr>
        <p:spPr>
          <a:xfrm>
            <a:off x="457200" y="4419600"/>
            <a:ext cx="1814170" cy="4724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11"/>
          <p:cNvSpPr/>
          <p:nvPr/>
        </p:nvSpPr>
        <p:spPr>
          <a:xfrm>
            <a:off x="2271370" y="4419600"/>
            <a:ext cx="1111910" cy="4724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1" name="Google Shape;491;p11"/>
          <p:cNvSpPr/>
          <p:nvPr/>
        </p:nvSpPr>
        <p:spPr>
          <a:xfrm>
            <a:off x="502920" y="4419600"/>
            <a:ext cx="1722730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Team 81-100%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11"/>
          <p:cNvSpPr/>
          <p:nvPr/>
        </p:nvSpPr>
        <p:spPr>
          <a:xfrm>
            <a:off x="2317090" y="4419600"/>
            <a:ext cx="1020470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64.8-80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11"/>
          <p:cNvSpPr/>
          <p:nvPr/>
        </p:nvSpPr>
        <p:spPr>
          <a:xfrm>
            <a:off x="3566160" y="1645920"/>
            <a:ext cx="2743200" cy="324612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11"/>
          <p:cNvSpPr/>
          <p:nvPr/>
        </p:nvSpPr>
        <p:spPr>
          <a:xfrm>
            <a:off x="3566160" y="1645920"/>
            <a:ext cx="2743200" cy="4114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5" name="Google Shape;495;p11"/>
          <p:cNvSpPr/>
          <p:nvPr/>
        </p:nvSpPr>
        <p:spPr>
          <a:xfrm>
            <a:off x="3657600" y="1645920"/>
            <a:ext cx="25603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Field Working Days  —  Max 20 pts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1"/>
          <p:cNvSpPr/>
          <p:nvPr/>
        </p:nvSpPr>
        <p:spPr>
          <a:xfrm>
            <a:off x="3566160" y="2057400"/>
            <a:ext cx="1700784" cy="472440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p11"/>
          <p:cNvSpPr/>
          <p:nvPr/>
        </p:nvSpPr>
        <p:spPr>
          <a:xfrm>
            <a:off x="3611880" y="2057400"/>
            <a:ext cx="1609344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Achievement 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11"/>
          <p:cNvSpPr/>
          <p:nvPr/>
        </p:nvSpPr>
        <p:spPr>
          <a:xfrm>
            <a:off x="5266944" y="2057400"/>
            <a:ext cx="1042416" cy="472440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p11"/>
          <p:cNvSpPr/>
          <p:nvPr/>
        </p:nvSpPr>
        <p:spPr>
          <a:xfrm>
            <a:off x="5312664" y="2057400"/>
            <a:ext cx="950976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Points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11"/>
          <p:cNvSpPr/>
          <p:nvPr/>
        </p:nvSpPr>
        <p:spPr>
          <a:xfrm>
            <a:off x="3566160" y="2529840"/>
            <a:ext cx="1700784" cy="4724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1" name="Google Shape;501;p11"/>
          <p:cNvSpPr/>
          <p:nvPr/>
        </p:nvSpPr>
        <p:spPr>
          <a:xfrm>
            <a:off x="5266944" y="2529840"/>
            <a:ext cx="1042416" cy="4724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2" name="Google Shape;502;p11"/>
          <p:cNvSpPr/>
          <p:nvPr/>
        </p:nvSpPr>
        <p:spPr>
          <a:xfrm>
            <a:off x="3611880" y="2529840"/>
            <a:ext cx="1609344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60-69%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11"/>
          <p:cNvSpPr/>
          <p:nvPr/>
        </p:nvSpPr>
        <p:spPr>
          <a:xfrm>
            <a:off x="5312664" y="2529840"/>
            <a:ext cx="950976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1.0-4.7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1"/>
          <p:cNvSpPr/>
          <p:nvPr/>
        </p:nvSpPr>
        <p:spPr>
          <a:xfrm>
            <a:off x="3566160" y="3002280"/>
            <a:ext cx="1700784" cy="47244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5" name="Google Shape;505;p11"/>
          <p:cNvSpPr/>
          <p:nvPr/>
        </p:nvSpPr>
        <p:spPr>
          <a:xfrm>
            <a:off x="5266944" y="3002280"/>
            <a:ext cx="1042416" cy="47244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6" name="Google Shape;506;p11"/>
          <p:cNvSpPr/>
          <p:nvPr/>
        </p:nvSpPr>
        <p:spPr>
          <a:xfrm>
            <a:off x="3611880" y="3002280"/>
            <a:ext cx="1609344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70-79%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11"/>
          <p:cNvSpPr/>
          <p:nvPr/>
        </p:nvSpPr>
        <p:spPr>
          <a:xfrm>
            <a:off x="5312664" y="3002280"/>
            <a:ext cx="950976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5.1-9.4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11"/>
          <p:cNvSpPr/>
          <p:nvPr/>
        </p:nvSpPr>
        <p:spPr>
          <a:xfrm>
            <a:off x="3566160" y="3474720"/>
            <a:ext cx="1700784" cy="4724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11"/>
          <p:cNvSpPr/>
          <p:nvPr/>
        </p:nvSpPr>
        <p:spPr>
          <a:xfrm>
            <a:off x="5266944" y="3474720"/>
            <a:ext cx="1042416" cy="4724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11"/>
          <p:cNvSpPr/>
          <p:nvPr/>
        </p:nvSpPr>
        <p:spPr>
          <a:xfrm>
            <a:off x="3611880" y="3474720"/>
            <a:ext cx="1609344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80-89%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11"/>
          <p:cNvSpPr/>
          <p:nvPr/>
        </p:nvSpPr>
        <p:spPr>
          <a:xfrm>
            <a:off x="5312664" y="3474720"/>
            <a:ext cx="950976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9.9-14.3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11"/>
          <p:cNvSpPr/>
          <p:nvPr/>
        </p:nvSpPr>
        <p:spPr>
          <a:xfrm>
            <a:off x="3566160" y="3947160"/>
            <a:ext cx="1700784" cy="47244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3" name="Google Shape;513;p11"/>
          <p:cNvSpPr/>
          <p:nvPr/>
        </p:nvSpPr>
        <p:spPr>
          <a:xfrm>
            <a:off x="5266944" y="3947160"/>
            <a:ext cx="1042416" cy="47244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4" name="Google Shape;514;p11"/>
          <p:cNvSpPr/>
          <p:nvPr/>
        </p:nvSpPr>
        <p:spPr>
          <a:xfrm>
            <a:off x="3611880" y="3947160"/>
            <a:ext cx="1609344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90-95%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11"/>
          <p:cNvSpPr/>
          <p:nvPr/>
        </p:nvSpPr>
        <p:spPr>
          <a:xfrm>
            <a:off x="5312664" y="3947160"/>
            <a:ext cx="950976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14.8-17.4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11"/>
          <p:cNvSpPr/>
          <p:nvPr/>
        </p:nvSpPr>
        <p:spPr>
          <a:xfrm>
            <a:off x="3566160" y="4419600"/>
            <a:ext cx="1700784" cy="4724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1"/>
          <p:cNvSpPr/>
          <p:nvPr/>
        </p:nvSpPr>
        <p:spPr>
          <a:xfrm>
            <a:off x="5266944" y="4419600"/>
            <a:ext cx="1042416" cy="4724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8" name="Google Shape;518;p11"/>
          <p:cNvSpPr/>
          <p:nvPr/>
        </p:nvSpPr>
        <p:spPr>
          <a:xfrm>
            <a:off x="3611880" y="4419600"/>
            <a:ext cx="1609344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96-100%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11"/>
          <p:cNvSpPr/>
          <p:nvPr/>
        </p:nvSpPr>
        <p:spPr>
          <a:xfrm>
            <a:off x="5312664" y="4419600"/>
            <a:ext cx="950976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17.9-20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11"/>
          <p:cNvSpPr/>
          <p:nvPr/>
        </p:nvSpPr>
        <p:spPr>
          <a:xfrm>
            <a:off x="6537960" y="960120"/>
            <a:ext cx="2331720" cy="39319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1" name="Google Shape;521;p11"/>
          <p:cNvSpPr/>
          <p:nvPr/>
        </p:nvSpPr>
        <p:spPr>
          <a:xfrm>
            <a:off x="6537960" y="960120"/>
            <a:ext cx="2331720" cy="347472"/>
          </a:xfrm>
          <a:prstGeom prst="rect">
            <a:avLst/>
          </a:prstGeom>
          <a:solidFill>
            <a:srgbClr val="FA8C16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p11"/>
          <p:cNvSpPr/>
          <p:nvPr/>
        </p:nvSpPr>
        <p:spPr>
          <a:xfrm>
            <a:off x="6583680" y="960120"/>
            <a:ext cx="22402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NSM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11"/>
          <p:cNvSpPr/>
          <p:nvPr/>
        </p:nvSpPr>
        <p:spPr>
          <a:xfrm>
            <a:off x="6583680" y="1353312"/>
            <a:ext cx="2240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00"/>
              <a:buFont typeface="Open Sans"/>
              <a:buNone/>
            </a:pPr>
            <a:r>
              <a:rPr lang="en-US" sz="10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National Sales Manager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00"/>
              <a:buFont typeface="Open Sans"/>
              <a:buNone/>
            </a:pPr>
            <a:r>
              <a:rPr lang="en-US" sz="10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Total: 100 pts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11"/>
          <p:cNvSpPr/>
          <p:nvPr/>
        </p:nvSpPr>
        <p:spPr>
          <a:xfrm>
            <a:off x="6629400" y="1965960"/>
            <a:ext cx="21031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5" name="Google Shape;525;p11"/>
          <p:cNvSpPr/>
          <p:nvPr/>
        </p:nvSpPr>
        <p:spPr>
          <a:xfrm>
            <a:off x="6675120" y="20574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★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11"/>
          <p:cNvSpPr/>
          <p:nvPr/>
        </p:nvSpPr>
        <p:spPr>
          <a:xfrm>
            <a:off x="7178040" y="2020824"/>
            <a:ext cx="14630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1000"/>
              <a:buFont typeface="Montserrat"/>
              <a:buNone/>
            </a:pPr>
            <a:r>
              <a:rPr lang="en-US" sz="1000" b="1" i="0" u="none" strike="noStrike" cap="none" dirty="0">
                <a:solidFill>
                  <a:srgbClr val="0F2557"/>
                </a:solidFill>
                <a:latin typeface="Montserrat"/>
                <a:ea typeface="Montserrat"/>
                <a:cs typeface="Montserrat"/>
                <a:sym typeface="Montserrat"/>
              </a:rPr>
              <a:t>ASM / </a:t>
            </a:r>
            <a:r>
              <a:rPr lang="en-US" sz="1000" b="1" i="0" u="none" strike="noStrike" cap="none" dirty="0" err="1">
                <a:solidFill>
                  <a:srgbClr val="0F2557"/>
                </a:solidFill>
                <a:latin typeface="Montserrat"/>
                <a:ea typeface="Montserrat"/>
                <a:cs typeface="Montserrat"/>
                <a:sym typeface="Montserrat"/>
              </a:rPr>
              <a:t>NSMTeam</a:t>
            </a:r>
            <a:r>
              <a:rPr lang="en-US" sz="1000" b="1" i="0" u="none" strike="noStrike" cap="none" dirty="0">
                <a:solidFill>
                  <a:srgbClr val="0F2557"/>
                </a:solidFill>
                <a:latin typeface="Montserrat"/>
                <a:ea typeface="Montserrat"/>
                <a:cs typeface="Montserrat"/>
                <a:sym typeface="Montserrat"/>
              </a:rPr>
              <a:t> Avg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11"/>
          <p:cNvSpPr/>
          <p:nvPr/>
        </p:nvSpPr>
        <p:spPr>
          <a:xfrm>
            <a:off x="7178040" y="2313432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80 pts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11"/>
          <p:cNvSpPr/>
          <p:nvPr/>
        </p:nvSpPr>
        <p:spPr>
          <a:xfrm>
            <a:off x="6629400" y="2743200"/>
            <a:ext cx="21031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9" name="Google Shape;529;p11"/>
          <p:cNvSpPr/>
          <p:nvPr/>
        </p:nvSpPr>
        <p:spPr>
          <a:xfrm>
            <a:off x="6675120" y="28346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◆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11"/>
          <p:cNvSpPr/>
          <p:nvPr/>
        </p:nvSpPr>
        <p:spPr>
          <a:xfrm>
            <a:off x="7178040" y="2798064"/>
            <a:ext cx="14630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8C16"/>
              </a:buClr>
              <a:buSzPts val="1000"/>
              <a:buFont typeface="Montserrat"/>
              <a:buNone/>
            </a:pPr>
            <a:r>
              <a:rPr lang="en-US" sz="1000" b="1" i="0" u="none" strike="noStrike" cap="none">
                <a:solidFill>
                  <a:srgbClr val="FA8C16"/>
                </a:solidFill>
                <a:latin typeface="Montserrat"/>
                <a:ea typeface="Montserrat"/>
                <a:cs typeface="Montserrat"/>
                <a:sym typeface="Montserrat"/>
              </a:rPr>
              <a:t>Field Days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11"/>
          <p:cNvSpPr/>
          <p:nvPr/>
        </p:nvSpPr>
        <p:spPr>
          <a:xfrm>
            <a:off x="7178040" y="3090672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20 pts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11"/>
          <p:cNvSpPr/>
          <p:nvPr/>
        </p:nvSpPr>
        <p:spPr>
          <a:xfrm>
            <a:off x="6583680" y="3584448"/>
            <a:ext cx="224028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1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Same scoring tables as ASM using ASM team averages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019399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12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1" name="Google Shape;541;p1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2" name="Google Shape;542;p12"/>
          <p:cNvSpPr/>
          <p:nvPr/>
        </p:nvSpPr>
        <p:spPr>
          <a:xfrm>
            <a:off x="320040" y="91440"/>
            <a:ext cx="85039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Points Calculation — Brand Manager (BM)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12"/>
          <p:cNvSpPr/>
          <p:nvPr/>
        </p:nvSpPr>
        <p:spPr>
          <a:xfrm>
            <a:off x="274320" y="960120"/>
            <a:ext cx="1828800" cy="347472"/>
          </a:xfrm>
          <a:prstGeom prst="roundRect">
            <a:avLst>
              <a:gd name="adj" fmla="val 15789"/>
            </a:avLst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4" name="Google Shape;544;p12"/>
          <p:cNvSpPr/>
          <p:nvPr/>
        </p:nvSpPr>
        <p:spPr>
          <a:xfrm>
            <a:off x="274320" y="960120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Total: 100 pts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12"/>
          <p:cNvSpPr/>
          <p:nvPr/>
        </p:nvSpPr>
        <p:spPr>
          <a:xfrm>
            <a:off x="2286000" y="960120"/>
            <a:ext cx="2011680" cy="347472"/>
          </a:xfrm>
          <a:prstGeom prst="roundRect">
            <a:avLst>
              <a:gd name="adj" fmla="val 15789"/>
            </a:avLst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6" name="Google Shape;546;p12"/>
          <p:cNvSpPr/>
          <p:nvPr/>
        </p:nvSpPr>
        <p:spPr>
          <a:xfrm>
            <a:off x="2286000" y="960120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Open Sans"/>
              <a:buNone/>
            </a:pPr>
            <a:r>
              <a:rPr lang="en-US" sz="95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Sales Achievement  |  50 pts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12"/>
          <p:cNvSpPr/>
          <p:nvPr/>
        </p:nvSpPr>
        <p:spPr>
          <a:xfrm>
            <a:off x="4526280" y="960120"/>
            <a:ext cx="2011680" cy="347472"/>
          </a:xfrm>
          <a:prstGeom prst="roundRect">
            <a:avLst>
              <a:gd name="adj" fmla="val 15789"/>
            </a:avLst>
          </a:prstGeom>
          <a:solidFill>
            <a:srgbClr val="52C41A"/>
          </a:solidFill>
          <a:ln w="12700" cap="flat" cmpd="sng">
            <a:solidFill>
              <a:srgbClr val="52C41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8" name="Google Shape;548;p12"/>
          <p:cNvSpPr/>
          <p:nvPr/>
        </p:nvSpPr>
        <p:spPr>
          <a:xfrm>
            <a:off x="4526280" y="960120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Open Sans"/>
              <a:buNone/>
            </a:pPr>
            <a:r>
              <a:rPr lang="en-US" sz="95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Regional Coverage  |  20 pts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12"/>
          <p:cNvSpPr/>
          <p:nvPr/>
        </p:nvSpPr>
        <p:spPr>
          <a:xfrm>
            <a:off x="6766560" y="960120"/>
            <a:ext cx="2011680" cy="347472"/>
          </a:xfrm>
          <a:prstGeom prst="roundRect">
            <a:avLst>
              <a:gd name="adj" fmla="val 15789"/>
            </a:avLst>
          </a:prstGeom>
          <a:solidFill>
            <a:srgbClr val="FA8C16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0" name="Google Shape;550;p12"/>
          <p:cNvSpPr/>
          <p:nvPr/>
        </p:nvSpPr>
        <p:spPr>
          <a:xfrm>
            <a:off x="6766560" y="960120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Open Sans"/>
              <a:buNone/>
            </a:pPr>
            <a:r>
              <a:rPr lang="en-US" sz="95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Tactical Plan Exec  |  30 pts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12"/>
          <p:cNvSpPr/>
          <p:nvPr/>
        </p:nvSpPr>
        <p:spPr>
          <a:xfrm>
            <a:off x="274320" y="1417320"/>
            <a:ext cx="2743200" cy="310896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p12"/>
          <p:cNvSpPr/>
          <p:nvPr/>
        </p:nvSpPr>
        <p:spPr>
          <a:xfrm>
            <a:off x="274320" y="1417320"/>
            <a:ext cx="2743200" cy="4114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3" name="Google Shape;553;p12"/>
          <p:cNvSpPr/>
          <p:nvPr/>
        </p:nvSpPr>
        <p:spPr>
          <a:xfrm>
            <a:off x="365760" y="1417320"/>
            <a:ext cx="25603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Sales Achievement  —  Max 50 pts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12"/>
          <p:cNvSpPr/>
          <p:nvPr/>
        </p:nvSpPr>
        <p:spPr>
          <a:xfrm>
            <a:off x="274320" y="1828800"/>
            <a:ext cx="1700784" cy="449580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12"/>
          <p:cNvSpPr/>
          <p:nvPr/>
        </p:nvSpPr>
        <p:spPr>
          <a:xfrm>
            <a:off x="320040" y="1828800"/>
            <a:ext cx="1609344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Achievement 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12"/>
          <p:cNvSpPr/>
          <p:nvPr/>
        </p:nvSpPr>
        <p:spPr>
          <a:xfrm>
            <a:off x="1975104" y="1828800"/>
            <a:ext cx="1042416" cy="449580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12"/>
          <p:cNvSpPr/>
          <p:nvPr/>
        </p:nvSpPr>
        <p:spPr>
          <a:xfrm>
            <a:off x="2020824" y="1828800"/>
            <a:ext cx="950976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Points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12"/>
          <p:cNvSpPr/>
          <p:nvPr/>
        </p:nvSpPr>
        <p:spPr>
          <a:xfrm>
            <a:off x="274320" y="2278380"/>
            <a:ext cx="1700784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12"/>
          <p:cNvSpPr/>
          <p:nvPr/>
        </p:nvSpPr>
        <p:spPr>
          <a:xfrm>
            <a:off x="1975104" y="2278380"/>
            <a:ext cx="1042416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12"/>
          <p:cNvSpPr/>
          <p:nvPr/>
        </p:nvSpPr>
        <p:spPr>
          <a:xfrm>
            <a:off x="320040" y="2278380"/>
            <a:ext cx="1609344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70-84%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12"/>
          <p:cNvSpPr/>
          <p:nvPr/>
        </p:nvSpPr>
        <p:spPr>
          <a:xfrm>
            <a:off x="2020824" y="2278380"/>
            <a:ext cx="950976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1-12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12"/>
          <p:cNvSpPr/>
          <p:nvPr/>
        </p:nvSpPr>
        <p:spPr>
          <a:xfrm>
            <a:off x="274320" y="2727960"/>
            <a:ext cx="1700784" cy="44958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12"/>
          <p:cNvSpPr/>
          <p:nvPr/>
        </p:nvSpPr>
        <p:spPr>
          <a:xfrm>
            <a:off x="1975104" y="2727960"/>
            <a:ext cx="1042416" cy="44958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12"/>
          <p:cNvSpPr/>
          <p:nvPr/>
        </p:nvSpPr>
        <p:spPr>
          <a:xfrm>
            <a:off x="320040" y="2727960"/>
            <a:ext cx="1609344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85-99%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12"/>
          <p:cNvSpPr/>
          <p:nvPr/>
        </p:nvSpPr>
        <p:spPr>
          <a:xfrm>
            <a:off x="2020824" y="2727960"/>
            <a:ext cx="950976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13-24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12"/>
          <p:cNvSpPr/>
          <p:nvPr/>
        </p:nvSpPr>
        <p:spPr>
          <a:xfrm>
            <a:off x="274320" y="3177540"/>
            <a:ext cx="1700784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12"/>
          <p:cNvSpPr/>
          <p:nvPr/>
        </p:nvSpPr>
        <p:spPr>
          <a:xfrm>
            <a:off x="1975104" y="3177540"/>
            <a:ext cx="1042416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12"/>
          <p:cNvSpPr/>
          <p:nvPr/>
        </p:nvSpPr>
        <p:spPr>
          <a:xfrm>
            <a:off x="320040" y="3177540"/>
            <a:ext cx="1609344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100%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12"/>
          <p:cNvSpPr/>
          <p:nvPr/>
        </p:nvSpPr>
        <p:spPr>
          <a:xfrm>
            <a:off x="2020824" y="3177540"/>
            <a:ext cx="950976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25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12"/>
          <p:cNvSpPr/>
          <p:nvPr/>
        </p:nvSpPr>
        <p:spPr>
          <a:xfrm>
            <a:off x="274320" y="3627120"/>
            <a:ext cx="1700784" cy="44958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12"/>
          <p:cNvSpPr/>
          <p:nvPr/>
        </p:nvSpPr>
        <p:spPr>
          <a:xfrm>
            <a:off x="1975104" y="3627120"/>
            <a:ext cx="1042416" cy="44958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2" name="Google Shape;572;p12"/>
          <p:cNvSpPr/>
          <p:nvPr/>
        </p:nvSpPr>
        <p:spPr>
          <a:xfrm>
            <a:off x="320040" y="3627120"/>
            <a:ext cx="1609344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101-115%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12"/>
          <p:cNvSpPr/>
          <p:nvPr/>
        </p:nvSpPr>
        <p:spPr>
          <a:xfrm>
            <a:off x="2020824" y="3627120"/>
            <a:ext cx="950976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26-36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12"/>
          <p:cNvSpPr/>
          <p:nvPr/>
        </p:nvSpPr>
        <p:spPr>
          <a:xfrm>
            <a:off x="274320" y="4076700"/>
            <a:ext cx="1700784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5" name="Google Shape;575;p12"/>
          <p:cNvSpPr/>
          <p:nvPr/>
        </p:nvSpPr>
        <p:spPr>
          <a:xfrm>
            <a:off x="1975104" y="4076700"/>
            <a:ext cx="1042416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6" name="Google Shape;576;p12"/>
          <p:cNvSpPr/>
          <p:nvPr/>
        </p:nvSpPr>
        <p:spPr>
          <a:xfrm>
            <a:off x="320040" y="4076700"/>
            <a:ext cx="1609344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116-130%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12"/>
          <p:cNvSpPr/>
          <p:nvPr/>
        </p:nvSpPr>
        <p:spPr>
          <a:xfrm>
            <a:off x="2020824" y="4076700"/>
            <a:ext cx="950976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37-50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12"/>
          <p:cNvSpPr/>
          <p:nvPr/>
        </p:nvSpPr>
        <p:spPr>
          <a:xfrm>
            <a:off x="3200400" y="1417320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9" name="Google Shape;579;p12"/>
          <p:cNvSpPr/>
          <p:nvPr/>
        </p:nvSpPr>
        <p:spPr>
          <a:xfrm>
            <a:off x="3200400" y="1417320"/>
            <a:ext cx="2560320" cy="411480"/>
          </a:xfrm>
          <a:prstGeom prst="rect">
            <a:avLst/>
          </a:prstGeom>
          <a:solidFill>
            <a:srgbClr val="52C41A"/>
          </a:solidFill>
          <a:ln w="12700" cap="flat" cmpd="sng">
            <a:solidFill>
              <a:srgbClr val="52C41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0" name="Google Shape;580;p12"/>
          <p:cNvSpPr/>
          <p:nvPr/>
        </p:nvSpPr>
        <p:spPr>
          <a:xfrm>
            <a:off x="3291840" y="1417320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Montserrat"/>
              <a:buNone/>
            </a:pPr>
            <a:r>
              <a:rPr lang="en-US" sz="95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National Sales Region Coverage  —  Max 20 pts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12"/>
          <p:cNvSpPr/>
          <p:nvPr/>
        </p:nvSpPr>
        <p:spPr>
          <a:xfrm>
            <a:off x="3200400" y="1828800"/>
            <a:ext cx="1645920" cy="548640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2" name="Google Shape;582;p12"/>
          <p:cNvSpPr/>
          <p:nvPr/>
        </p:nvSpPr>
        <p:spPr>
          <a:xfrm>
            <a:off x="4846320" y="1828800"/>
            <a:ext cx="914400" cy="548640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3" name="Google Shape;583;p12"/>
          <p:cNvSpPr/>
          <p:nvPr/>
        </p:nvSpPr>
        <p:spPr>
          <a:xfrm>
            <a:off x="3246120" y="1828800"/>
            <a:ext cx="1554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Regions Covered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" name="Google Shape;584;p12"/>
          <p:cNvSpPr/>
          <p:nvPr/>
        </p:nvSpPr>
        <p:spPr>
          <a:xfrm>
            <a:off x="4892040" y="182880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Points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12"/>
          <p:cNvSpPr/>
          <p:nvPr/>
        </p:nvSpPr>
        <p:spPr>
          <a:xfrm>
            <a:off x="3200400" y="2377440"/>
            <a:ext cx="1645920" cy="5486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6" name="Google Shape;586;p12"/>
          <p:cNvSpPr/>
          <p:nvPr/>
        </p:nvSpPr>
        <p:spPr>
          <a:xfrm>
            <a:off x="4846320" y="2377440"/>
            <a:ext cx="914400" cy="5486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7" name="Google Shape;587;p12"/>
          <p:cNvSpPr/>
          <p:nvPr/>
        </p:nvSpPr>
        <p:spPr>
          <a:xfrm>
            <a:off x="3246120" y="2377440"/>
            <a:ext cx="1554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3 Regions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12"/>
          <p:cNvSpPr/>
          <p:nvPr/>
        </p:nvSpPr>
        <p:spPr>
          <a:xfrm>
            <a:off x="4892040" y="23774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2C41A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52C41A"/>
                </a:solidFill>
                <a:latin typeface="Open Sans"/>
                <a:ea typeface="Open Sans"/>
                <a:cs typeface="Open Sans"/>
                <a:sym typeface="Open Sans"/>
              </a:rPr>
              <a:t>12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" name="Google Shape;589;p12"/>
          <p:cNvSpPr/>
          <p:nvPr/>
        </p:nvSpPr>
        <p:spPr>
          <a:xfrm>
            <a:off x="3200400" y="2926080"/>
            <a:ext cx="1645920" cy="54864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0" name="Google Shape;590;p12"/>
          <p:cNvSpPr/>
          <p:nvPr/>
        </p:nvSpPr>
        <p:spPr>
          <a:xfrm>
            <a:off x="4846320" y="2926080"/>
            <a:ext cx="914400" cy="54864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1" name="Google Shape;591;p12"/>
          <p:cNvSpPr/>
          <p:nvPr/>
        </p:nvSpPr>
        <p:spPr>
          <a:xfrm>
            <a:off x="3246120" y="2926080"/>
            <a:ext cx="1554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4 Regions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12"/>
          <p:cNvSpPr/>
          <p:nvPr/>
        </p:nvSpPr>
        <p:spPr>
          <a:xfrm>
            <a:off x="4892040" y="292608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2C41A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52C41A"/>
                </a:solidFill>
                <a:latin typeface="Open Sans"/>
                <a:ea typeface="Open Sans"/>
                <a:cs typeface="Open Sans"/>
                <a:sym typeface="Open Sans"/>
              </a:rPr>
              <a:t>16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12"/>
          <p:cNvSpPr/>
          <p:nvPr/>
        </p:nvSpPr>
        <p:spPr>
          <a:xfrm>
            <a:off x="3200400" y="3474720"/>
            <a:ext cx="1645920" cy="5486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4" name="Google Shape;594;p12"/>
          <p:cNvSpPr/>
          <p:nvPr/>
        </p:nvSpPr>
        <p:spPr>
          <a:xfrm>
            <a:off x="4846320" y="3474720"/>
            <a:ext cx="914400" cy="5486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5" name="Google Shape;595;p12"/>
          <p:cNvSpPr/>
          <p:nvPr/>
        </p:nvSpPr>
        <p:spPr>
          <a:xfrm>
            <a:off x="3246120" y="3474720"/>
            <a:ext cx="1554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5 Regions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12"/>
          <p:cNvSpPr/>
          <p:nvPr/>
        </p:nvSpPr>
        <p:spPr>
          <a:xfrm>
            <a:off x="4892040" y="3474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2C41A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52C41A"/>
                </a:solidFill>
                <a:latin typeface="Open Sans"/>
                <a:ea typeface="Open Sans"/>
                <a:cs typeface="Open Sans"/>
                <a:sym typeface="Open Sans"/>
              </a:rPr>
              <a:t>20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12"/>
          <p:cNvSpPr/>
          <p:nvPr/>
        </p:nvSpPr>
        <p:spPr>
          <a:xfrm>
            <a:off x="5943600" y="1417320"/>
            <a:ext cx="2880360" cy="306324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8" name="Google Shape;598;p12"/>
          <p:cNvSpPr/>
          <p:nvPr/>
        </p:nvSpPr>
        <p:spPr>
          <a:xfrm>
            <a:off x="5943600" y="1417320"/>
            <a:ext cx="2880360" cy="4114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9" name="Google Shape;599;p12"/>
          <p:cNvSpPr/>
          <p:nvPr/>
        </p:nvSpPr>
        <p:spPr>
          <a:xfrm>
            <a:off x="6035040" y="1417320"/>
            <a:ext cx="26974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Tactical Plan Execution  —  Max 30 pts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12"/>
          <p:cNvSpPr/>
          <p:nvPr/>
        </p:nvSpPr>
        <p:spPr>
          <a:xfrm>
            <a:off x="5943600" y="1828800"/>
            <a:ext cx="1785823" cy="530352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1" name="Google Shape;601;p12"/>
          <p:cNvSpPr/>
          <p:nvPr/>
        </p:nvSpPr>
        <p:spPr>
          <a:xfrm>
            <a:off x="5989320" y="1828800"/>
            <a:ext cx="1694383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Achievement 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2"/>
          <p:cNvSpPr/>
          <p:nvPr/>
        </p:nvSpPr>
        <p:spPr>
          <a:xfrm>
            <a:off x="7729423" y="1828800"/>
            <a:ext cx="1094537" cy="530352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3" name="Google Shape;603;p12"/>
          <p:cNvSpPr/>
          <p:nvPr/>
        </p:nvSpPr>
        <p:spPr>
          <a:xfrm>
            <a:off x="7775143" y="1828800"/>
            <a:ext cx="1003097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Points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12"/>
          <p:cNvSpPr/>
          <p:nvPr/>
        </p:nvSpPr>
        <p:spPr>
          <a:xfrm>
            <a:off x="5943600" y="2359152"/>
            <a:ext cx="1785823" cy="53035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5" name="Google Shape;605;p12"/>
          <p:cNvSpPr/>
          <p:nvPr/>
        </p:nvSpPr>
        <p:spPr>
          <a:xfrm>
            <a:off x="7729423" y="2359152"/>
            <a:ext cx="1094537" cy="53035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6" name="Google Shape;606;p12"/>
          <p:cNvSpPr/>
          <p:nvPr/>
        </p:nvSpPr>
        <p:spPr>
          <a:xfrm>
            <a:off x="5989320" y="2359152"/>
            <a:ext cx="1694383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70-80%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" name="Google Shape;607;p12"/>
          <p:cNvSpPr/>
          <p:nvPr/>
        </p:nvSpPr>
        <p:spPr>
          <a:xfrm>
            <a:off x="7775143" y="2359152"/>
            <a:ext cx="1003097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21-24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12"/>
          <p:cNvSpPr/>
          <p:nvPr/>
        </p:nvSpPr>
        <p:spPr>
          <a:xfrm>
            <a:off x="5943600" y="2889504"/>
            <a:ext cx="1785823" cy="53035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9" name="Google Shape;609;p12"/>
          <p:cNvSpPr/>
          <p:nvPr/>
        </p:nvSpPr>
        <p:spPr>
          <a:xfrm>
            <a:off x="7729423" y="2889504"/>
            <a:ext cx="1094537" cy="53035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0" name="Google Shape;610;p12"/>
          <p:cNvSpPr/>
          <p:nvPr/>
        </p:nvSpPr>
        <p:spPr>
          <a:xfrm>
            <a:off x="5989320" y="2889504"/>
            <a:ext cx="1694383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81-90%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12"/>
          <p:cNvSpPr/>
          <p:nvPr/>
        </p:nvSpPr>
        <p:spPr>
          <a:xfrm>
            <a:off x="7775143" y="2889504"/>
            <a:ext cx="1003097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24.3-27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2"/>
          <p:cNvSpPr/>
          <p:nvPr/>
        </p:nvSpPr>
        <p:spPr>
          <a:xfrm>
            <a:off x="5943600" y="3419856"/>
            <a:ext cx="1785823" cy="53035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12"/>
          <p:cNvSpPr/>
          <p:nvPr/>
        </p:nvSpPr>
        <p:spPr>
          <a:xfrm>
            <a:off x="7729423" y="3419856"/>
            <a:ext cx="1094537" cy="53035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4" name="Google Shape;614;p12"/>
          <p:cNvSpPr/>
          <p:nvPr/>
        </p:nvSpPr>
        <p:spPr>
          <a:xfrm>
            <a:off x="5989320" y="3419856"/>
            <a:ext cx="1694383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91-99%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12"/>
          <p:cNvSpPr/>
          <p:nvPr/>
        </p:nvSpPr>
        <p:spPr>
          <a:xfrm>
            <a:off x="7775143" y="3419856"/>
            <a:ext cx="1003097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27.3-29.7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2"/>
          <p:cNvSpPr/>
          <p:nvPr/>
        </p:nvSpPr>
        <p:spPr>
          <a:xfrm>
            <a:off x="5943600" y="3950208"/>
            <a:ext cx="1785823" cy="53035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7" name="Google Shape;617;p12"/>
          <p:cNvSpPr/>
          <p:nvPr/>
        </p:nvSpPr>
        <p:spPr>
          <a:xfrm>
            <a:off x="7729423" y="3950208"/>
            <a:ext cx="1094537" cy="53035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8" name="Google Shape;618;p12"/>
          <p:cNvSpPr/>
          <p:nvPr/>
        </p:nvSpPr>
        <p:spPr>
          <a:xfrm>
            <a:off x="5989320" y="3950208"/>
            <a:ext cx="1694383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100%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2"/>
          <p:cNvSpPr/>
          <p:nvPr/>
        </p:nvSpPr>
        <p:spPr>
          <a:xfrm>
            <a:off x="7775143" y="3950208"/>
            <a:ext cx="1003097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30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12"/>
          <p:cNvSpPr/>
          <p:nvPr/>
        </p:nvSpPr>
        <p:spPr>
          <a:xfrm>
            <a:off x="274320" y="4663440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FFF7E6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1" name="Google Shape;621;p12"/>
          <p:cNvSpPr/>
          <p:nvPr/>
        </p:nvSpPr>
        <p:spPr>
          <a:xfrm>
            <a:off x="365760" y="4663440"/>
            <a:ext cx="8412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8C16"/>
              </a:buClr>
              <a:buSzPts val="950"/>
              <a:buFont typeface="Open Sans"/>
              <a:buNone/>
            </a:pPr>
            <a:r>
              <a:rPr lang="en-US" sz="950" b="0" i="1" u="none" strike="noStrike" cap="none">
                <a:solidFill>
                  <a:srgbClr val="FA8C16"/>
                </a:solidFill>
                <a:latin typeface="Open Sans"/>
                <a:ea typeface="Open Sans"/>
                <a:cs typeface="Open Sans"/>
                <a:sym typeface="Open Sans"/>
              </a:rPr>
              <a:t>Tactical Plan received end of each quarter and validated by BUM. Points accumulate cumulatively.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13670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557"/>
        </a:solidFill>
        <a:effectLst/>
      </p:bgPr>
    </p:bg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p14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0" name="Google Shape;680;p14"/>
          <p:cNvSpPr/>
          <p:nvPr/>
        </p:nvSpPr>
        <p:spPr>
          <a:xfrm>
            <a:off x="731520" y="1417320"/>
            <a:ext cx="1005840" cy="1005840"/>
          </a:xfrm>
          <a:prstGeom prst="ellipse">
            <a:avLst/>
          </a:prstGeom>
          <a:solidFill>
            <a:srgbClr val="FAAD14">
              <a:alpha val="80000"/>
            </a:srgbClr>
          </a:solidFill>
          <a:ln w="254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1" name="Google Shape;681;p14"/>
          <p:cNvSpPr/>
          <p:nvPr/>
        </p:nvSpPr>
        <p:spPr>
          <a:xfrm>
            <a:off x="640080" y="2286000"/>
            <a:ext cx="731520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Montserrat"/>
              <a:buNone/>
            </a:pPr>
            <a:r>
              <a:rPr lang="en-US" sz="38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Recognition &amp; Rewards</a:t>
            </a:r>
            <a:endParaRPr sz="3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p14"/>
          <p:cNvSpPr/>
          <p:nvPr/>
        </p:nvSpPr>
        <p:spPr>
          <a:xfrm>
            <a:off x="640080" y="324612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C53D"/>
              </a:buClr>
              <a:buSzPts val="1600"/>
              <a:buFont typeface="Open Sans"/>
              <a:buNone/>
            </a:pPr>
            <a:r>
              <a:rPr lang="en-US" sz="1600" b="0" i="0" u="none" strike="noStrike" cap="none">
                <a:solidFill>
                  <a:srgbClr val="FFC53D"/>
                </a:solidFill>
                <a:latin typeface="Open Sans"/>
                <a:ea typeface="Open Sans"/>
                <a:cs typeface="Open Sans"/>
                <a:sym typeface="Open Sans"/>
              </a:rPr>
              <a:t>Cash Prizes  |  CEO Dinners  |  Certificates  |  Announcements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14"/>
          <p:cNvSpPr/>
          <p:nvPr/>
        </p:nvSpPr>
        <p:spPr>
          <a:xfrm>
            <a:off x="640080" y="4754880"/>
            <a:ext cx="2286000" cy="54864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72619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5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0" name="Google Shape;690;p15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1" name="Google Shape;691;p15"/>
          <p:cNvSpPr/>
          <p:nvPr/>
        </p:nvSpPr>
        <p:spPr>
          <a:xfrm>
            <a:off x="320040" y="91440"/>
            <a:ext cx="85039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Recognition &amp; Rewards — Medical Rep / Sales Rep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2" name="Google Shape;692;p15"/>
          <p:cNvSpPr/>
          <p:nvPr/>
        </p:nvSpPr>
        <p:spPr>
          <a:xfrm>
            <a:off x="274320" y="1005840"/>
            <a:ext cx="2743200" cy="374904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3" name="Google Shape;693;p15"/>
          <p:cNvSpPr/>
          <p:nvPr/>
        </p:nvSpPr>
        <p:spPr>
          <a:xfrm>
            <a:off x="274320" y="1005840"/>
            <a:ext cx="2743200" cy="457200"/>
          </a:xfrm>
          <a:prstGeom prst="rect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4" name="Google Shape;694;p15"/>
          <p:cNvSpPr/>
          <p:nvPr/>
        </p:nvSpPr>
        <p:spPr>
          <a:xfrm>
            <a:off x="320040" y="100584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Monthly Sprint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5" name="Google Shape;695;p15"/>
          <p:cNvSpPr/>
          <p:nvPr/>
        </p:nvSpPr>
        <p:spPr>
          <a:xfrm>
            <a:off x="365760" y="150876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Winners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" name="Google Shape;696;p15"/>
          <p:cNvSpPr/>
          <p:nvPr/>
        </p:nvSpPr>
        <p:spPr>
          <a:xfrm>
            <a:off x="365760" y="1755648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50C9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1E50C9"/>
                </a:solidFill>
                <a:latin typeface="Montserrat"/>
                <a:ea typeface="Montserrat"/>
                <a:cs typeface="Montserrat"/>
                <a:sym typeface="Montserrat"/>
              </a:rPr>
              <a:t>2 Per Line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15"/>
          <p:cNvSpPr/>
          <p:nvPr/>
        </p:nvSpPr>
        <p:spPr>
          <a:xfrm>
            <a:off x="365760" y="2148840"/>
            <a:ext cx="2560320" cy="18288"/>
          </a:xfrm>
          <a:prstGeom prst="rect">
            <a:avLst/>
          </a:prstGeom>
          <a:solidFill>
            <a:srgbClr val="E0E6F0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8" name="Google Shape;698;p15"/>
          <p:cNvSpPr/>
          <p:nvPr/>
        </p:nvSpPr>
        <p:spPr>
          <a:xfrm>
            <a:off x="365760" y="2212848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Cash Prize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9" name="Google Shape;699;p15"/>
          <p:cNvSpPr/>
          <p:nvPr/>
        </p:nvSpPr>
        <p:spPr>
          <a:xfrm>
            <a:off x="365760" y="24688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50C9"/>
              </a:buClr>
              <a:buSzPts val="2800"/>
              <a:buFont typeface="Montserrat"/>
              <a:buNone/>
            </a:pPr>
            <a:r>
              <a:rPr lang="en-US" sz="2800" b="1" i="0" u="none" strike="noStrike" cap="none">
                <a:solidFill>
                  <a:srgbClr val="1E50C9"/>
                </a:solidFill>
                <a:latin typeface="Montserrat"/>
                <a:ea typeface="Montserrat"/>
                <a:cs typeface="Montserrat"/>
                <a:sym typeface="Montserrat"/>
              </a:rPr>
              <a:t>1,000 L.E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" name="Google Shape;700;p15"/>
          <p:cNvSpPr/>
          <p:nvPr/>
        </p:nvSpPr>
        <p:spPr>
          <a:xfrm>
            <a:off x="365760" y="2999232"/>
            <a:ext cx="256032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Cash Prize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Digital Certificate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Public Announcement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" name="Google Shape;701;p15"/>
          <p:cNvSpPr/>
          <p:nvPr/>
        </p:nvSpPr>
        <p:spPr>
          <a:xfrm>
            <a:off x="3154680" y="1005840"/>
            <a:ext cx="2743200" cy="374904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 cap="flat" cmpd="sng">
            <a:solidFill>
              <a:srgbClr val="722ED1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2" name="Google Shape;702;p15"/>
          <p:cNvSpPr/>
          <p:nvPr/>
        </p:nvSpPr>
        <p:spPr>
          <a:xfrm>
            <a:off x="3154680" y="1005840"/>
            <a:ext cx="2743200" cy="457200"/>
          </a:xfrm>
          <a:prstGeom prst="rect">
            <a:avLst/>
          </a:prstGeom>
          <a:solidFill>
            <a:srgbClr val="722ED1"/>
          </a:solidFill>
          <a:ln w="12700" cap="flat" cmpd="sng">
            <a:solidFill>
              <a:srgbClr val="722ED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3" name="Google Shape;703;p15"/>
          <p:cNvSpPr/>
          <p:nvPr/>
        </p:nvSpPr>
        <p:spPr>
          <a:xfrm>
            <a:off x="3200400" y="100584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Quarterly Champions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" name="Google Shape;704;p15"/>
          <p:cNvSpPr/>
          <p:nvPr/>
        </p:nvSpPr>
        <p:spPr>
          <a:xfrm>
            <a:off x="3246120" y="150876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Winners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" name="Google Shape;705;p15"/>
          <p:cNvSpPr/>
          <p:nvPr/>
        </p:nvSpPr>
        <p:spPr>
          <a:xfrm>
            <a:off x="3246120" y="1755648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22ED1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722ED1"/>
                </a:solidFill>
                <a:latin typeface="Montserrat"/>
                <a:ea typeface="Montserrat"/>
                <a:cs typeface="Montserrat"/>
                <a:sym typeface="Montserrat"/>
              </a:rPr>
              <a:t>2 Per Line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6" name="Google Shape;706;p15"/>
          <p:cNvSpPr/>
          <p:nvPr/>
        </p:nvSpPr>
        <p:spPr>
          <a:xfrm>
            <a:off x="3246120" y="2148840"/>
            <a:ext cx="2560320" cy="18288"/>
          </a:xfrm>
          <a:prstGeom prst="rect">
            <a:avLst/>
          </a:prstGeom>
          <a:solidFill>
            <a:srgbClr val="E0E6F0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7" name="Google Shape;707;p15"/>
          <p:cNvSpPr/>
          <p:nvPr/>
        </p:nvSpPr>
        <p:spPr>
          <a:xfrm>
            <a:off x="3246120" y="2212848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Cash Prize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" name="Google Shape;708;p15"/>
          <p:cNvSpPr/>
          <p:nvPr/>
        </p:nvSpPr>
        <p:spPr>
          <a:xfrm>
            <a:off x="3246120" y="24688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22ED1"/>
              </a:buClr>
              <a:buSzPts val="2800"/>
              <a:buFont typeface="Montserrat"/>
              <a:buNone/>
            </a:pPr>
            <a:r>
              <a:rPr lang="en-US" sz="2800" b="1" i="0" u="none" strike="noStrike" cap="none">
                <a:solidFill>
                  <a:srgbClr val="722ED1"/>
                </a:solidFill>
                <a:latin typeface="Montserrat"/>
                <a:ea typeface="Montserrat"/>
                <a:cs typeface="Montserrat"/>
                <a:sym typeface="Montserrat"/>
              </a:rPr>
              <a:t>1,500 L.E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" name="Google Shape;709;p15"/>
          <p:cNvSpPr/>
          <p:nvPr/>
        </p:nvSpPr>
        <p:spPr>
          <a:xfrm>
            <a:off x="3246120" y="2999232"/>
            <a:ext cx="256032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Cash Prize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CEO Dinner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Digital Certificate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Public Announcement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" name="Google Shape;710;p15"/>
          <p:cNvSpPr/>
          <p:nvPr/>
        </p:nvSpPr>
        <p:spPr>
          <a:xfrm>
            <a:off x="6035040" y="1005840"/>
            <a:ext cx="2743200" cy="374904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1" name="Google Shape;711;p15"/>
          <p:cNvSpPr/>
          <p:nvPr/>
        </p:nvSpPr>
        <p:spPr>
          <a:xfrm>
            <a:off x="6035040" y="1005840"/>
            <a:ext cx="2743200" cy="457200"/>
          </a:xfrm>
          <a:prstGeom prst="rect">
            <a:avLst/>
          </a:prstGeom>
          <a:solidFill>
            <a:srgbClr val="FA8C16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2" name="Google Shape;712;p15"/>
          <p:cNvSpPr/>
          <p:nvPr/>
        </p:nvSpPr>
        <p:spPr>
          <a:xfrm>
            <a:off x="6080760" y="100584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Annual Marathon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" name="Google Shape;713;p15"/>
          <p:cNvSpPr/>
          <p:nvPr/>
        </p:nvSpPr>
        <p:spPr>
          <a:xfrm>
            <a:off x="6126480" y="150876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Winners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" name="Google Shape;714;p15"/>
          <p:cNvSpPr/>
          <p:nvPr/>
        </p:nvSpPr>
        <p:spPr>
          <a:xfrm>
            <a:off x="6126480" y="1755648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8C16"/>
              </a:buClr>
              <a:buSzPts val="1200"/>
              <a:buFont typeface="Montserrat"/>
              <a:buNone/>
            </a:pPr>
            <a:r>
              <a:rPr lang="en-US" sz="1200" b="1" i="0" u="none" strike="noStrike" cap="none" dirty="0">
                <a:solidFill>
                  <a:srgbClr val="FA8C16"/>
                </a:solidFill>
                <a:latin typeface="Montserrat"/>
                <a:ea typeface="Montserrat"/>
                <a:cs typeface="Montserrat"/>
                <a:sym typeface="Montserrat"/>
              </a:rPr>
              <a:t>2 Per Line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" name="Google Shape;715;p15"/>
          <p:cNvSpPr/>
          <p:nvPr/>
        </p:nvSpPr>
        <p:spPr>
          <a:xfrm>
            <a:off x="6126480" y="2148840"/>
            <a:ext cx="2560320" cy="18288"/>
          </a:xfrm>
          <a:prstGeom prst="rect">
            <a:avLst/>
          </a:prstGeom>
          <a:solidFill>
            <a:srgbClr val="E0E6F0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6" name="Google Shape;716;p15"/>
          <p:cNvSpPr/>
          <p:nvPr/>
        </p:nvSpPr>
        <p:spPr>
          <a:xfrm>
            <a:off x="6126480" y="2212848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 dirty="0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1st Winner Cash</a:t>
            </a:r>
          </a:p>
        </p:txBody>
      </p:sp>
      <p:sp>
        <p:nvSpPr>
          <p:cNvPr id="717" name="Google Shape;717;p15"/>
          <p:cNvSpPr/>
          <p:nvPr/>
        </p:nvSpPr>
        <p:spPr>
          <a:xfrm>
            <a:off x="6126480" y="24688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8C16"/>
              </a:buClr>
              <a:buSzPts val="2800"/>
              <a:buFont typeface="Montserrat"/>
              <a:buNone/>
            </a:pPr>
            <a:r>
              <a:rPr lang="en-US" sz="2800" b="1" i="0" u="none" strike="noStrike" cap="none" dirty="0">
                <a:solidFill>
                  <a:srgbClr val="FA8C16"/>
                </a:solidFill>
                <a:latin typeface="Montserrat"/>
                <a:ea typeface="Montserrat"/>
                <a:cs typeface="Montserrat"/>
                <a:sym typeface="Montserrat"/>
              </a:rPr>
              <a:t>5,000 L.E</a:t>
            </a:r>
          </a:p>
        </p:txBody>
      </p:sp>
      <p:sp>
        <p:nvSpPr>
          <p:cNvPr id="718" name="Google Shape;718;p15"/>
          <p:cNvSpPr/>
          <p:nvPr/>
        </p:nvSpPr>
        <p:spPr>
          <a:xfrm>
            <a:off x="6126480" y="2999232"/>
            <a:ext cx="256032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 dirty="0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CEO Dinner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 dirty="0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Digital Certificate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 dirty="0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Public Announcement</a:t>
            </a:r>
          </a:p>
        </p:txBody>
      </p:sp>
      <p:sp>
        <p:nvSpPr>
          <p:cNvPr id="2" name="Google Shape;717;p15">
            <a:extLst>
              <a:ext uri="{FF2B5EF4-FFF2-40B4-BE49-F238E27FC236}">
                <a16:creationId xmlns:a16="http://schemas.microsoft.com/office/drawing/2014/main" id="{9D315F4E-C9FA-A2DC-D74B-49F1E83CF6E6}"/>
              </a:ext>
            </a:extLst>
          </p:cNvPr>
          <p:cNvSpPr/>
          <p:nvPr/>
        </p:nvSpPr>
        <p:spPr>
          <a:xfrm>
            <a:off x="6126480" y="3034935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8C16"/>
              </a:buClr>
              <a:buSzPts val="2800"/>
              <a:buFont typeface="Montserrat"/>
              <a:buNone/>
            </a:pPr>
            <a:r>
              <a:rPr lang="en-US" sz="2800" b="1" i="0" u="none" strike="noStrike" cap="none" dirty="0">
                <a:solidFill>
                  <a:srgbClr val="FA8C16"/>
                </a:solidFill>
                <a:latin typeface="Montserrat"/>
                <a:ea typeface="Montserrat"/>
                <a:cs typeface="Montserrat"/>
                <a:sym typeface="Montserrat"/>
              </a:rPr>
              <a:t>3,000 L.E</a:t>
            </a:r>
          </a:p>
        </p:txBody>
      </p:sp>
      <p:sp>
        <p:nvSpPr>
          <p:cNvPr id="3" name="Google Shape;716;p15">
            <a:extLst>
              <a:ext uri="{FF2B5EF4-FFF2-40B4-BE49-F238E27FC236}">
                <a16:creationId xmlns:a16="http://schemas.microsoft.com/office/drawing/2014/main" id="{7E9D7EB1-BC9D-A927-FF2C-536E8321F240}"/>
              </a:ext>
            </a:extLst>
          </p:cNvPr>
          <p:cNvSpPr/>
          <p:nvPr/>
        </p:nvSpPr>
        <p:spPr>
          <a:xfrm>
            <a:off x="6080760" y="2867151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 dirty="0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2nd Winner Cash</a:t>
            </a:r>
          </a:p>
        </p:txBody>
      </p:sp>
    </p:spTree>
    <p:extLst>
      <p:ext uri="{BB962C8B-B14F-4D97-AF65-F5344CB8AC3E}">
        <p14:creationId xmlns:p14="http://schemas.microsoft.com/office/powerpoint/2010/main" val="16775069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6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5" name="Google Shape;725;p16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6" name="Google Shape;726;p16"/>
          <p:cNvSpPr/>
          <p:nvPr/>
        </p:nvSpPr>
        <p:spPr>
          <a:xfrm>
            <a:off x="320040" y="91440"/>
            <a:ext cx="85039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Recognition &amp; Rewards — District Manager (DSM)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" name="Google Shape;727;p16"/>
          <p:cNvSpPr/>
          <p:nvPr/>
        </p:nvSpPr>
        <p:spPr>
          <a:xfrm>
            <a:off x="274320" y="1005840"/>
            <a:ext cx="2743200" cy="374904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8" name="Google Shape;728;p16"/>
          <p:cNvSpPr/>
          <p:nvPr/>
        </p:nvSpPr>
        <p:spPr>
          <a:xfrm>
            <a:off x="274320" y="1005840"/>
            <a:ext cx="2743200" cy="457200"/>
          </a:xfrm>
          <a:prstGeom prst="rect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9" name="Google Shape;729;p16"/>
          <p:cNvSpPr/>
          <p:nvPr/>
        </p:nvSpPr>
        <p:spPr>
          <a:xfrm>
            <a:off x="320040" y="100584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Monthly Sprint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16"/>
          <p:cNvSpPr/>
          <p:nvPr/>
        </p:nvSpPr>
        <p:spPr>
          <a:xfrm>
            <a:off x="365760" y="150876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Winners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1" name="Google Shape;731;p16"/>
          <p:cNvSpPr/>
          <p:nvPr/>
        </p:nvSpPr>
        <p:spPr>
          <a:xfrm>
            <a:off x="365760" y="1755648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50C9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1E50C9"/>
                </a:solidFill>
                <a:latin typeface="Montserrat"/>
                <a:ea typeface="Montserrat"/>
                <a:cs typeface="Montserrat"/>
                <a:sym typeface="Montserrat"/>
              </a:rPr>
              <a:t>2 Per BU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" name="Google Shape;732;p16"/>
          <p:cNvSpPr/>
          <p:nvPr/>
        </p:nvSpPr>
        <p:spPr>
          <a:xfrm>
            <a:off x="365760" y="2148840"/>
            <a:ext cx="2560320" cy="18288"/>
          </a:xfrm>
          <a:prstGeom prst="rect">
            <a:avLst/>
          </a:prstGeom>
          <a:solidFill>
            <a:srgbClr val="E0E6F0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3" name="Google Shape;733;p16"/>
          <p:cNvSpPr/>
          <p:nvPr/>
        </p:nvSpPr>
        <p:spPr>
          <a:xfrm>
            <a:off x="365760" y="2212848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Cash Prize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" name="Google Shape;734;p16"/>
          <p:cNvSpPr/>
          <p:nvPr/>
        </p:nvSpPr>
        <p:spPr>
          <a:xfrm>
            <a:off x="365760" y="24688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50C9"/>
              </a:buClr>
              <a:buSzPts val="2800"/>
              <a:buFont typeface="Montserrat"/>
              <a:buNone/>
            </a:pPr>
            <a:r>
              <a:rPr lang="en-US" sz="2800" b="1" i="0" u="none" strike="noStrike" cap="none">
                <a:solidFill>
                  <a:srgbClr val="1E50C9"/>
                </a:solidFill>
                <a:latin typeface="Montserrat"/>
                <a:ea typeface="Montserrat"/>
                <a:cs typeface="Montserrat"/>
                <a:sym typeface="Montserrat"/>
              </a:rPr>
              <a:t>2,000 L.E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5" name="Google Shape;735;p16"/>
          <p:cNvSpPr/>
          <p:nvPr/>
        </p:nvSpPr>
        <p:spPr>
          <a:xfrm>
            <a:off x="365760" y="2999232"/>
            <a:ext cx="256032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Cash Prize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Digital Certificate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Public Announcement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16"/>
          <p:cNvSpPr/>
          <p:nvPr/>
        </p:nvSpPr>
        <p:spPr>
          <a:xfrm>
            <a:off x="3154680" y="1005840"/>
            <a:ext cx="2743200" cy="374904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 cap="flat" cmpd="sng">
            <a:solidFill>
              <a:srgbClr val="722ED1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7" name="Google Shape;737;p16"/>
          <p:cNvSpPr/>
          <p:nvPr/>
        </p:nvSpPr>
        <p:spPr>
          <a:xfrm>
            <a:off x="3154680" y="1005840"/>
            <a:ext cx="2743200" cy="457200"/>
          </a:xfrm>
          <a:prstGeom prst="rect">
            <a:avLst/>
          </a:prstGeom>
          <a:solidFill>
            <a:srgbClr val="722ED1"/>
          </a:solidFill>
          <a:ln w="12700" cap="flat" cmpd="sng">
            <a:solidFill>
              <a:srgbClr val="722ED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8" name="Google Shape;738;p16"/>
          <p:cNvSpPr/>
          <p:nvPr/>
        </p:nvSpPr>
        <p:spPr>
          <a:xfrm>
            <a:off x="3200400" y="100584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Quarterly Champions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" name="Google Shape;739;p16"/>
          <p:cNvSpPr/>
          <p:nvPr/>
        </p:nvSpPr>
        <p:spPr>
          <a:xfrm>
            <a:off x="3246120" y="150876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Winners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16"/>
          <p:cNvSpPr/>
          <p:nvPr/>
        </p:nvSpPr>
        <p:spPr>
          <a:xfrm>
            <a:off x="3246120" y="1755648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22ED1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722ED1"/>
                </a:solidFill>
                <a:latin typeface="Montserrat"/>
                <a:ea typeface="Montserrat"/>
                <a:cs typeface="Montserrat"/>
                <a:sym typeface="Montserrat"/>
              </a:rPr>
              <a:t>2 Per BU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16"/>
          <p:cNvSpPr/>
          <p:nvPr/>
        </p:nvSpPr>
        <p:spPr>
          <a:xfrm>
            <a:off x="3246120" y="2148840"/>
            <a:ext cx="2560320" cy="18288"/>
          </a:xfrm>
          <a:prstGeom prst="rect">
            <a:avLst/>
          </a:prstGeom>
          <a:solidFill>
            <a:srgbClr val="E0E6F0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2" name="Google Shape;742;p16"/>
          <p:cNvSpPr/>
          <p:nvPr/>
        </p:nvSpPr>
        <p:spPr>
          <a:xfrm>
            <a:off x="3246120" y="2212848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Cash Prize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" name="Google Shape;743;p16"/>
          <p:cNvSpPr/>
          <p:nvPr/>
        </p:nvSpPr>
        <p:spPr>
          <a:xfrm>
            <a:off x="3246120" y="24688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22ED1"/>
              </a:buClr>
              <a:buSzPts val="2800"/>
              <a:buFont typeface="Montserrat"/>
              <a:buNone/>
            </a:pPr>
            <a:r>
              <a:rPr lang="en-US" sz="2800" b="1" i="0" u="none" strike="noStrike" cap="none">
                <a:solidFill>
                  <a:srgbClr val="722ED1"/>
                </a:solidFill>
                <a:latin typeface="Montserrat"/>
                <a:ea typeface="Montserrat"/>
                <a:cs typeface="Montserrat"/>
                <a:sym typeface="Montserrat"/>
              </a:rPr>
              <a:t>2,500 L.E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" name="Google Shape;744;p16"/>
          <p:cNvSpPr/>
          <p:nvPr/>
        </p:nvSpPr>
        <p:spPr>
          <a:xfrm>
            <a:off x="3246120" y="2999232"/>
            <a:ext cx="256032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Cash Prize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CEO Dinner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Digital Certificate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Public Announcement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" name="Google Shape;745;p16"/>
          <p:cNvSpPr/>
          <p:nvPr/>
        </p:nvSpPr>
        <p:spPr>
          <a:xfrm>
            <a:off x="6035040" y="1005840"/>
            <a:ext cx="2743200" cy="374904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6" name="Google Shape;746;p16"/>
          <p:cNvSpPr/>
          <p:nvPr/>
        </p:nvSpPr>
        <p:spPr>
          <a:xfrm>
            <a:off x="6035040" y="1005840"/>
            <a:ext cx="2743200" cy="457200"/>
          </a:xfrm>
          <a:prstGeom prst="rect">
            <a:avLst/>
          </a:prstGeom>
          <a:solidFill>
            <a:srgbClr val="FA8C16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7" name="Google Shape;747;p16"/>
          <p:cNvSpPr/>
          <p:nvPr/>
        </p:nvSpPr>
        <p:spPr>
          <a:xfrm>
            <a:off x="6080760" y="100584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Annual Marathon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" name="Google Shape;748;p16"/>
          <p:cNvSpPr/>
          <p:nvPr/>
        </p:nvSpPr>
        <p:spPr>
          <a:xfrm>
            <a:off x="6126480" y="150876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Winners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" name="Google Shape;749;p16"/>
          <p:cNvSpPr/>
          <p:nvPr/>
        </p:nvSpPr>
        <p:spPr>
          <a:xfrm>
            <a:off x="6126480" y="1755648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8C16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FA8C16"/>
                </a:solidFill>
                <a:latin typeface="Montserrat"/>
                <a:ea typeface="Montserrat"/>
                <a:cs typeface="Montserrat"/>
                <a:sym typeface="Montserrat"/>
              </a:rPr>
              <a:t>2 Per BU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" name="Google Shape;750;p16"/>
          <p:cNvSpPr/>
          <p:nvPr/>
        </p:nvSpPr>
        <p:spPr>
          <a:xfrm>
            <a:off x="6126480" y="2148840"/>
            <a:ext cx="2560320" cy="18288"/>
          </a:xfrm>
          <a:prstGeom prst="rect">
            <a:avLst/>
          </a:prstGeom>
          <a:solidFill>
            <a:srgbClr val="E0E6F0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3" name="Google Shape;753;p16"/>
          <p:cNvSpPr/>
          <p:nvPr/>
        </p:nvSpPr>
        <p:spPr>
          <a:xfrm>
            <a:off x="6126480" y="2999232"/>
            <a:ext cx="256032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Cash Prize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CEO Dinner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Digital Certificate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Public Announcement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716;p15">
            <a:extLst>
              <a:ext uri="{FF2B5EF4-FFF2-40B4-BE49-F238E27FC236}">
                <a16:creationId xmlns:a16="http://schemas.microsoft.com/office/drawing/2014/main" id="{A2BDB880-3FAB-914D-CDDC-6AAB99F858D0}"/>
              </a:ext>
            </a:extLst>
          </p:cNvPr>
          <p:cNvSpPr/>
          <p:nvPr/>
        </p:nvSpPr>
        <p:spPr>
          <a:xfrm>
            <a:off x="6126480" y="2212848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 dirty="0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1st Winner Cash</a:t>
            </a:r>
          </a:p>
        </p:txBody>
      </p:sp>
      <p:sp>
        <p:nvSpPr>
          <p:cNvPr id="7" name="Google Shape;717;p15">
            <a:extLst>
              <a:ext uri="{FF2B5EF4-FFF2-40B4-BE49-F238E27FC236}">
                <a16:creationId xmlns:a16="http://schemas.microsoft.com/office/drawing/2014/main" id="{F695110A-FCE7-92F9-6F62-735F73C1345E}"/>
              </a:ext>
            </a:extLst>
          </p:cNvPr>
          <p:cNvSpPr/>
          <p:nvPr/>
        </p:nvSpPr>
        <p:spPr>
          <a:xfrm>
            <a:off x="6126480" y="24688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8C16"/>
              </a:buClr>
              <a:buSzPts val="2800"/>
              <a:buFont typeface="Montserrat"/>
              <a:buNone/>
            </a:pPr>
            <a:r>
              <a:rPr lang="en-US" sz="2800" b="1" i="0" u="none" strike="noStrike" cap="none" dirty="0">
                <a:solidFill>
                  <a:srgbClr val="FA8C16"/>
                </a:solidFill>
                <a:latin typeface="Montserrat"/>
                <a:ea typeface="Montserrat"/>
                <a:cs typeface="Montserrat"/>
                <a:sym typeface="Montserrat"/>
              </a:rPr>
              <a:t>6,000 L.E</a:t>
            </a:r>
          </a:p>
        </p:txBody>
      </p:sp>
      <p:sp>
        <p:nvSpPr>
          <p:cNvPr id="8" name="Google Shape;717;p15">
            <a:extLst>
              <a:ext uri="{FF2B5EF4-FFF2-40B4-BE49-F238E27FC236}">
                <a16:creationId xmlns:a16="http://schemas.microsoft.com/office/drawing/2014/main" id="{318477AD-3D1E-A39D-46ED-BFC97E45845D}"/>
              </a:ext>
            </a:extLst>
          </p:cNvPr>
          <p:cNvSpPr/>
          <p:nvPr/>
        </p:nvSpPr>
        <p:spPr>
          <a:xfrm>
            <a:off x="6126480" y="3034935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8C16"/>
              </a:buClr>
              <a:buSzPts val="2800"/>
              <a:buFont typeface="Montserrat"/>
              <a:buNone/>
            </a:pPr>
            <a:r>
              <a:rPr lang="en-US" sz="2800" b="1" i="0" u="none" strike="noStrike" cap="none" dirty="0">
                <a:solidFill>
                  <a:srgbClr val="FA8C16"/>
                </a:solidFill>
                <a:latin typeface="Montserrat"/>
                <a:ea typeface="Montserrat"/>
                <a:cs typeface="Montserrat"/>
                <a:sym typeface="Montserrat"/>
              </a:rPr>
              <a:t>4,000 L.E</a:t>
            </a:r>
          </a:p>
        </p:txBody>
      </p:sp>
      <p:sp>
        <p:nvSpPr>
          <p:cNvPr id="9" name="Google Shape;716;p15">
            <a:extLst>
              <a:ext uri="{FF2B5EF4-FFF2-40B4-BE49-F238E27FC236}">
                <a16:creationId xmlns:a16="http://schemas.microsoft.com/office/drawing/2014/main" id="{542C77E9-7E56-475F-8BE9-5749B9AE8F61}"/>
              </a:ext>
            </a:extLst>
          </p:cNvPr>
          <p:cNvSpPr/>
          <p:nvPr/>
        </p:nvSpPr>
        <p:spPr>
          <a:xfrm>
            <a:off x="6080760" y="2867151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 dirty="0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2nd Winner Cash</a:t>
            </a:r>
          </a:p>
        </p:txBody>
      </p:sp>
    </p:spTree>
    <p:extLst>
      <p:ext uri="{BB962C8B-B14F-4D97-AF65-F5344CB8AC3E}">
        <p14:creationId xmlns:p14="http://schemas.microsoft.com/office/powerpoint/2010/main" val="268378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p17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0" name="Google Shape;760;p17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1" name="Google Shape;761;p17"/>
          <p:cNvSpPr/>
          <p:nvPr/>
        </p:nvSpPr>
        <p:spPr>
          <a:xfrm>
            <a:off x="320040" y="91440"/>
            <a:ext cx="85039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Recognition &amp; Rewards — Area Sales Manager (ASM)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" name="Google Shape;762;p17"/>
          <p:cNvSpPr/>
          <p:nvPr/>
        </p:nvSpPr>
        <p:spPr>
          <a:xfrm>
            <a:off x="274320" y="1005840"/>
            <a:ext cx="2743200" cy="374904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3" name="Google Shape;763;p17"/>
          <p:cNvSpPr/>
          <p:nvPr/>
        </p:nvSpPr>
        <p:spPr>
          <a:xfrm>
            <a:off x="274320" y="1005840"/>
            <a:ext cx="2743200" cy="457200"/>
          </a:xfrm>
          <a:prstGeom prst="rect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4" name="Google Shape;764;p17"/>
          <p:cNvSpPr/>
          <p:nvPr/>
        </p:nvSpPr>
        <p:spPr>
          <a:xfrm>
            <a:off x="320040" y="100584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Monthly Sprint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5" name="Google Shape;765;p17"/>
          <p:cNvSpPr/>
          <p:nvPr/>
        </p:nvSpPr>
        <p:spPr>
          <a:xfrm>
            <a:off x="365760" y="150876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Winners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" name="Google Shape;766;p17"/>
          <p:cNvSpPr/>
          <p:nvPr/>
        </p:nvSpPr>
        <p:spPr>
          <a:xfrm>
            <a:off x="365760" y="1755648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50C9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1E50C9"/>
                </a:solidFill>
                <a:latin typeface="Montserrat"/>
                <a:ea typeface="Montserrat"/>
                <a:cs typeface="Montserrat"/>
                <a:sym typeface="Montserrat"/>
              </a:rPr>
              <a:t>1 Corporate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7" name="Google Shape;767;p17"/>
          <p:cNvSpPr/>
          <p:nvPr/>
        </p:nvSpPr>
        <p:spPr>
          <a:xfrm>
            <a:off x="365760" y="2148840"/>
            <a:ext cx="2560320" cy="18288"/>
          </a:xfrm>
          <a:prstGeom prst="rect">
            <a:avLst/>
          </a:prstGeom>
          <a:solidFill>
            <a:srgbClr val="E0E6F0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8" name="Google Shape;768;p17"/>
          <p:cNvSpPr/>
          <p:nvPr/>
        </p:nvSpPr>
        <p:spPr>
          <a:xfrm>
            <a:off x="365760" y="2212848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Cash Prize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p17"/>
          <p:cNvSpPr/>
          <p:nvPr/>
        </p:nvSpPr>
        <p:spPr>
          <a:xfrm>
            <a:off x="365760" y="24688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50C9"/>
              </a:buClr>
              <a:buSzPts val="2800"/>
              <a:buFont typeface="Montserrat"/>
              <a:buNone/>
            </a:pPr>
            <a:r>
              <a:rPr lang="en-US" sz="2800" b="1" i="0" u="none" strike="noStrike" cap="none">
                <a:solidFill>
                  <a:srgbClr val="1E50C9"/>
                </a:solidFill>
                <a:latin typeface="Montserrat"/>
                <a:ea typeface="Montserrat"/>
                <a:cs typeface="Montserrat"/>
                <a:sym typeface="Montserrat"/>
              </a:rPr>
              <a:t>3,000 L.E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0" name="Google Shape;770;p17"/>
          <p:cNvSpPr/>
          <p:nvPr/>
        </p:nvSpPr>
        <p:spPr>
          <a:xfrm>
            <a:off x="365760" y="2999232"/>
            <a:ext cx="256032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Cash Prize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Digital Certificate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Public Announcement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1" name="Google Shape;771;p17"/>
          <p:cNvSpPr/>
          <p:nvPr/>
        </p:nvSpPr>
        <p:spPr>
          <a:xfrm>
            <a:off x="3154680" y="1005840"/>
            <a:ext cx="2743200" cy="374904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 cap="flat" cmpd="sng">
            <a:solidFill>
              <a:srgbClr val="722ED1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2" name="Google Shape;772;p17"/>
          <p:cNvSpPr/>
          <p:nvPr/>
        </p:nvSpPr>
        <p:spPr>
          <a:xfrm>
            <a:off x="3154680" y="1005840"/>
            <a:ext cx="2743200" cy="457200"/>
          </a:xfrm>
          <a:prstGeom prst="rect">
            <a:avLst/>
          </a:prstGeom>
          <a:solidFill>
            <a:srgbClr val="722ED1"/>
          </a:solidFill>
          <a:ln w="12700" cap="flat" cmpd="sng">
            <a:solidFill>
              <a:srgbClr val="722ED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3" name="Google Shape;773;p17"/>
          <p:cNvSpPr/>
          <p:nvPr/>
        </p:nvSpPr>
        <p:spPr>
          <a:xfrm>
            <a:off x="3200400" y="100584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Quarterly Champions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4" name="Google Shape;774;p17"/>
          <p:cNvSpPr/>
          <p:nvPr/>
        </p:nvSpPr>
        <p:spPr>
          <a:xfrm>
            <a:off x="3246120" y="150876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Winners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5" name="Google Shape;775;p17"/>
          <p:cNvSpPr/>
          <p:nvPr/>
        </p:nvSpPr>
        <p:spPr>
          <a:xfrm>
            <a:off x="3246120" y="1755648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22ED1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722ED1"/>
                </a:solidFill>
                <a:latin typeface="Montserrat"/>
                <a:ea typeface="Montserrat"/>
                <a:cs typeface="Montserrat"/>
                <a:sym typeface="Montserrat"/>
              </a:rPr>
              <a:t>1 Corporate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6" name="Google Shape;776;p17"/>
          <p:cNvSpPr/>
          <p:nvPr/>
        </p:nvSpPr>
        <p:spPr>
          <a:xfrm>
            <a:off x="3246120" y="2148840"/>
            <a:ext cx="2560320" cy="18288"/>
          </a:xfrm>
          <a:prstGeom prst="rect">
            <a:avLst/>
          </a:prstGeom>
          <a:solidFill>
            <a:srgbClr val="E0E6F0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7" name="Google Shape;777;p17"/>
          <p:cNvSpPr/>
          <p:nvPr/>
        </p:nvSpPr>
        <p:spPr>
          <a:xfrm>
            <a:off x="3246120" y="2212848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Cash Prize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8" name="Google Shape;778;p17"/>
          <p:cNvSpPr/>
          <p:nvPr/>
        </p:nvSpPr>
        <p:spPr>
          <a:xfrm>
            <a:off x="3246120" y="24688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22ED1"/>
              </a:buClr>
              <a:buSzPts val="2800"/>
              <a:buFont typeface="Montserrat"/>
              <a:buNone/>
            </a:pPr>
            <a:r>
              <a:rPr lang="en-US" sz="2800" b="1" i="0" u="none" strike="noStrike" cap="none">
                <a:solidFill>
                  <a:srgbClr val="722ED1"/>
                </a:solidFill>
                <a:latin typeface="Montserrat"/>
                <a:ea typeface="Montserrat"/>
                <a:cs typeface="Montserrat"/>
                <a:sym typeface="Montserrat"/>
              </a:rPr>
              <a:t>3,500 L.E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" name="Google Shape;779;p17"/>
          <p:cNvSpPr/>
          <p:nvPr/>
        </p:nvSpPr>
        <p:spPr>
          <a:xfrm>
            <a:off x="3246120" y="2999232"/>
            <a:ext cx="256032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Cash Prize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CEO Dinner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Digital Certificate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Public Announcement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0" name="Google Shape;780;p17"/>
          <p:cNvSpPr/>
          <p:nvPr/>
        </p:nvSpPr>
        <p:spPr>
          <a:xfrm>
            <a:off x="6035040" y="1005840"/>
            <a:ext cx="2743200" cy="374904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1" name="Google Shape;781;p17"/>
          <p:cNvSpPr/>
          <p:nvPr/>
        </p:nvSpPr>
        <p:spPr>
          <a:xfrm>
            <a:off x="6035040" y="1005840"/>
            <a:ext cx="2743200" cy="457200"/>
          </a:xfrm>
          <a:prstGeom prst="rect">
            <a:avLst/>
          </a:prstGeom>
          <a:solidFill>
            <a:srgbClr val="FA8C16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2" name="Google Shape;782;p17"/>
          <p:cNvSpPr/>
          <p:nvPr/>
        </p:nvSpPr>
        <p:spPr>
          <a:xfrm>
            <a:off x="6080760" y="100584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Annual Marathon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" name="Google Shape;783;p17"/>
          <p:cNvSpPr/>
          <p:nvPr/>
        </p:nvSpPr>
        <p:spPr>
          <a:xfrm>
            <a:off x="6126480" y="150876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Winners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4" name="Google Shape;784;p17"/>
          <p:cNvSpPr/>
          <p:nvPr/>
        </p:nvSpPr>
        <p:spPr>
          <a:xfrm>
            <a:off x="6126480" y="1755648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8C16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FA8C16"/>
                </a:solidFill>
                <a:latin typeface="Montserrat"/>
                <a:ea typeface="Montserrat"/>
                <a:cs typeface="Montserrat"/>
                <a:sym typeface="Montserrat"/>
              </a:rPr>
              <a:t>1 Corporate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5" name="Google Shape;785;p17"/>
          <p:cNvSpPr/>
          <p:nvPr/>
        </p:nvSpPr>
        <p:spPr>
          <a:xfrm>
            <a:off x="6126480" y="2148840"/>
            <a:ext cx="2560320" cy="18288"/>
          </a:xfrm>
          <a:prstGeom prst="rect">
            <a:avLst/>
          </a:prstGeom>
          <a:solidFill>
            <a:srgbClr val="E0E6F0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6" name="Google Shape;786;p17"/>
          <p:cNvSpPr/>
          <p:nvPr/>
        </p:nvSpPr>
        <p:spPr>
          <a:xfrm>
            <a:off x="6126480" y="2212848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Cash Prize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" name="Google Shape;787;p17"/>
          <p:cNvSpPr/>
          <p:nvPr/>
        </p:nvSpPr>
        <p:spPr>
          <a:xfrm>
            <a:off x="6126480" y="24688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8C16"/>
              </a:buClr>
              <a:buSzPts val="2800"/>
              <a:buFont typeface="Montserrat"/>
              <a:buNone/>
            </a:pPr>
            <a:r>
              <a:rPr lang="en-US" sz="2800" b="1" i="0" u="none" strike="noStrike" cap="none" dirty="0">
                <a:solidFill>
                  <a:srgbClr val="FA8C16"/>
                </a:solidFill>
                <a:latin typeface="Montserrat"/>
                <a:ea typeface="Montserrat"/>
                <a:cs typeface="Montserrat"/>
                <a:sym typeface="Montserrat"/>
              </a:rPr>
              <a:t>8,000 L.E</a:t>
            </a:r>
            <a:endParaRPr sz="2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8" name="Google Shape;788;p17"/>
          <p:cNvSpPr/>
          <p:nvPr/>
        </p:nvSpPr>
        <p:spPr>
          <a:xfrm>
            <a:off x="6126480" y="2999232"/>
            <a:ext cx="256032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Cash Prize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CEO Dinner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Digital Certificate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Public Announcement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786151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Shape 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Google Shape;794;p18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5" name="Google Shape;795;p18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6" name="Google Shape;796;p18"/>
          <p:cNvSpPr/>
          <p:nvPr/>
        </p:nvSpPr>
        <p:spPr>
          <a:xfrm>
            <a:off x="320040" y="91440"/>
            <a:ext cx="85039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Recognition &amp; Rewards — Nat'l Sales Manager (NSM)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7" name="Google Shape;797;p18"/>
          <p:cNvSpPr/>
          <p:nvPr/>
        </p:nvSpPr>
        <p:spPr>
          <a:xfrm>
            <a:off x="274320" y="1005840"/>
            <a:ext cx="2743200" cy="374904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8" name="Google Shape;798;p18"/>
          <p:cNvSpPr/>
          <p:nvPr/>
        </p:nvSpPr>
        <p:spPr>
          <a:xfrm>
            <a:off x="274320" y="1005840"/>
            <a:ext cx="2743200" cy="457200"/>
          </a:xfrm>
          <a:prstGeom prst="rect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9" name="Google Shape;799;p18"/>
          <p:cNvSpPr/>
          <p:nvPr/>
        </p:nvSpPr>
        <p:spPr>
          <a:xfrm>
            <a:off x="320040" y="100584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Monthly Sprint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0" name="Google Shape;800;p18"/>
          <p:cNvSpPr/>
          <p:nvPr/>
        </p:nvSpPr>
        <p:spPr>
          <a:xfrm>
            <a:off x="365760" y="150876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Winners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1" name="Google Shape;801;p18"/>
          <p:cNvSpPr/>
          <p:nvPr/>
        </p:nvSpPr>
        <p:spPr>
          <a:xfrm>
            <a:off x="365760" y="1755648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50C9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1E50C9"/>
                </a:solidFill>
                <a:latin typeface="Montserrat"/>
                <a:ea typeface="Montserrat"/>
                <a:cs typeface="Montserrat"/>
                <a:sym typeface="Montserrat"/>
              </a:rPr>
              <a:t>1 Corporate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2" name="Google Shape;802;p18"/>
          <p:cNvSpPr/>
          <p:nvPr/>
        </p:nvSpPr>
        <p:spPr>
          <a:xfrm>
            <a:off x="365760" y="2148840"/>
            <a:ext cx="2560320" cy="18288"/>
          </a:xfrm>
          <a:prstGeom prst="rect">
            <a:avLst/>
          </a:prstGeom>
          <a:solidFill>
            <a:srgbClr val="E0E6F0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3" name="Google Shape;803;p18"/>
          <p:cNvSpPr/>
          <p:nvPr/>
        </p:nvSpPr>
        <p:spPr>
          <a:xfrm>
            <a:off x="365760" y="2212848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Cash Prize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4" name="Google Shape;804;p18"/>
          <p:cNvSpPr/>
          <p:nvPr/>
        </p:nvSpPr>
        <p:spPr>
          <a:xfrm>
            <a:off x="365760" y="24688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50C9"/>
              </a:buClr>
              <a:buSzPts val="2800"/>
              <a:buFont typeface="Montserrat"/>
              <a:buNone/>
            </a:pPr>
            <a:r>
              <a:rPr lang="en-US" sz="2800" b="1" i="0" u="none" strike="noStrike" cap="none">
                <a:solidFill>
                  <a:srgbClr val="1E50C9"/>
                </a:solidFill>
                <a:latin typeface="Montserrat"/>
                <a:ea typeface="Montserrat"/>
                <a:cs typeface="Montserrat"/>
                <a:sym typeface="Montserrat"/>
              </a:rPr>
              <a:t>4,000 L.E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5" name="Google Shape;805;p18"/>
          <p:cNvSpPr/>
          <p:nvPr/>
        </p:nvSpPr>
        <p:spPr>
          <a:xfrm>
            <a:off x="365760" y="2999232"/>
            <a:ext cx="256032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Cash Prize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Digital Certificate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Public Announcement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6" name="Google Shape;806;p18"/>
          <p:cNvSpPr/>
          <p:nvPr/>
        </p:nvSpPr>
        <p:spPr>
          <a:xfrm>
            <a:off x="3154680" y="1005840"/>
            <a:ext cx="2743200" cy="374904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 cap="flat" cmpd="sng">
            <a:solidFill>
              <a:srgbClr val="722ED1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7" name="Google Shape;807;p18"/>
          <p:cNvSpPr/>
          <p:nvPr/>
        </p:nvSpPr>
        <p:spPr>
          <a:xfrm>
            <a:off x="3154680" y="1005840"/>
            <a:ext cx="2743200" cy="457200"/>
          </a:xfrm>
          <a:prstGeom prst="rect">
            <a:avLst/>
          </a:prstGeom>
          <a:solidFill>
            <a:srgbClr val="722ED1"/>
          </a:solidFill>
          <a:ln w="12700" cap="flat" cmpd="sng">
            <a:solidFill>
              <a:srgbClr val="722ED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8" name="Google Shape;808;p18"/>
          <p:cNvSpPr/>
          <p:nvPr/>
        </p:nvSpPr>
        <p:spPr>
          <a:xfrm>
            <a:off x="3200400" y="100584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Quarterly Champions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9" name="Google Shape;809;p18"/>
          <p:cNvSpPr/>
          <p:nvPr/>
        </p:nvSpPr>
        <p:spPr>
          <a:xfrm>
            <a:off x="3246120" y="150876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Winners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" name="Google Shape;810;p18"/>
          <p:cNvSpPr/>
          <p:nvPr/>
        </p:nvSpPr>
        <p:spPr>
          <a:xfrm>
            <a:off x="3246120" y="1755648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22ED1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722ED1"/>
                </a:solidFill>
                <a:latin typeface="Montserrat"/>
                <a:ea typeface="Montserrat"/>
                <a:cs typeface="Montserrat"/>
                <a:sym typeface="Montserrat"/>
              </a:rPr>
              <a:t>1 Corporate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1" name="Google Shape;811;p18"/>
          <p:cNvSpPr/>
          <p:nvPr/>
        </p:nvSpPr>
        <p:spPr>
          <a:xfrm>
            <a:off x="3246120" y="2148840"/>
            <a:ext cx="2560320" cy="18288"/>
          </a:xfrm>
          <a:prstGeom prst="rect">
            <a:avLst/>
          </a:prstGeom>
          <a:solidFill>
            <a:srgbClr val="E0E6F0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2" name="Google Shape;812;p18"/>
          <p:cNvSpPr/>
          <p:nvPr/>
        </p:nvSpPr>
        <p:spPr>
          <a:xfrm>
            <a:off x="3246120" y="2212848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Cash Prize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3" name="Google Shape;813;p18"/>
          <p:cNvSpPr/>
          <p:nvPr/>
        </p:nvSpPr>
        <p:spPr>
          <a:xfrm>
            <a:off x="3246120" y="24688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22ED1"/>
              </a:buClr>
              <a:buSzPts val="2800"/>
              <a:buFont typeface="Montserrat"/>
              <a:buNone/>
            </a:pPr>
            <a:r>
              <a:rPr lang="en-US" sz="2800" b="1" i="0" u="none" strike="noStrike" cap="none">
                <a:solidFill>
                  <a:srgbClr val="722ED1"/>
                </a:solidFill>
                <a:latin typeface="Montserrat"/>
                <a:ea typeface="Montserrat"/>
                <a:cs typeface="Montserrat"/>
                <a:sym typeface="Montserrat"/>
              </a:rPr>
              <a:t>4,500 L.E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4" name="Google Shape;814;p18"/>
          <p:cNvSpPr/>
          <p:nvPr/>
        </p:nvSpPr>
        <p:spPr>
          <a:xfrm>
            <a:off x="3246120" y="2999232"/>
            <a:ext cx="256032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Cash Prize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CEO Dinner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Digital Certificate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Public Announcement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" name="Google Shape;815;p18"/>
          <p:cNvSpPr/>
          <p:nvPr/>
        </p:nvSpPr>
        <p:spPr>
          <a:xfrm>
            <a:off x="6035040" y="1005840"/>
            <a:ext cx="2743200" cy="374904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6" name="Google Shape;816;p18"/>
          <p:cNvSpPr/>
          <p:nvPr/>
        </p:nvSpPr>
        <p:spPr>
          <a:xfrm>
            <a:off x="6035040" y="1005840"/>
            <a:ext cx="2743200" cy="457200"/>
          </a:xfrm>
          <a:prstGeom prst="rect">
            <a:avLst/>
          </a:prstGeom>
          <a:solidFill>
            <a:srgbClr val="FA8C16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7" name="Google Shape;817;p18"/>
          <p:cNvSpPr/>
          <p:nvPr/>
        </p:nvSpPr>
        <p:spPr>
          <a:xfrm>
            <a:off x="6080760" y="100584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Annual Marathon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18"/>
          <p:cNvSpPr/>
          <p:nvPr/>
        </p:nvSpPr>
        <p:spPr>
          <a:xfrm>
            <a:off x="6126480" y="150876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Winners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" name="Google Shape;819;p18"/>
          <p:cNvSpPr/>
          <p:nvPr/>
        </p:nvSpPr>
        <p:spPr>
          <a:xfrm>
            <a:off x="6126480" y="1755648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8C16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FA8C16"/>
                </a:solidFill>
                <a:latin typeface="Montserrat"/>
                <a:ea typeface="Montserrat"/>
                <a:cs typeface="Montserrat"/>
                <a:sym typeface="Montserrat"/>
              </a:rPr>
              <a:t>1 Corporate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0" name="Google Shape;820;p18"/>
          <p:cNvSpPr/>
          <p:nvPr/>
        </p:nvSpPr>
        <p:spPr>
          <a:xfrm>
            <a:off x="6126480" y="2148840"/>
            <a:ext cx="2560320" cy="18288"/>
          </a:xfrm>
          <a:prstGeom prst="rect">
            <a:avLst/>
          </a:prstGeom>
          <a:solidFill>
            <a:srgbClr val="E0E6F0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1" name="Google Shape;821;p18"/>
          <p:cNvSpPr/>
          <p:nvPr/>
        </p:nvSpPr>
        <p:spPr>
          <a:xfrm>
            <a:off x="6126480" y="2212848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Cash Prize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18"/>
          <p:cNvSpPr/>
          <p:nvPr/>
        </p:nvSpPr>
        <p:spPr>
          <a:xfrm>
            <a:off x="6126480" y="24688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8C16"/>
              </a:buClr>
              <a:buSzPts val="2800"/>
              <a:buFont typeface="Montserrat"/>
              <a:buNone/>
            </a:pPr>
            <a:r>
              <a:rPr lang="en-US" sz="2800" b="1" i="0" u="none" strike="noStrike" cap="none" dirty="0">
                <a:solidFill>
                  <a:srgbClr val="FA8C16"/>
                </a:solidFill>
                <a:latin typeface="Montserrat"/>
                <a:ea typeface="Montserrat"/>
                <a:cs typeface="Montserrat"/>
                <a:sym typeface="Montserrat"/>
              </a:rPr>
              <a:t>10,000 L.E</a:t>
            </a:r>
            <a:endParaRPr sz="2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3" name="Google Shape;823;p18"/>
          <p:cNvSpPr/>
          <p:nvPr/>
        </p:nvSpPr>
        <p:spPr>
          <a:xfrm>
            <a:off x="6126480" y="2999232"/>
            <a:ext cx="256032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Cash Prize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CEO Dinner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Digital Certificate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Public Announcement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457527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p19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0" name="Google Shape;830;p19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1" name="Google Shape;831;p19"/>
          <p:cNvSpPr/>
          <p:nvPr/>
        </p:nvSpPr>
        <p:spPr>
          <a:xfrm>
            <a:off x="320040" y="91440"/>
            <a:ext cx="85039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Recognition &amp; Rewards — Brand Manager (BM)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" name="Google Shape;832;p19"/>
          <p:cNvSpPr/>
          <p:nvPr/>
        </p:nvSpPr>
        <p:spPr>
          <a:xfrm>
            <a:off x="274320" y="960120"/>
            <a:ext cx="85953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100"/>
              <a:buFont typeface="Open Sans"/>
              <a:buNone/>
            </a:pPr>
            <a:r>
              <a:rPr lang="en-US" sz="1100" b="0" i="1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Brand Managers compete at Quarterly and Annual levels only (no Monthly Sprint).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3" name="Google Shape;833;p19"/>
          <p:cNvSpPr/>
          <p:nvPr/>
        </p:nvSpPr>
        <p:spPr>
          <a:xfrm>
            <a:off x="1371600" y="1417320"/>
            <a:ext cx="3017520" cy="329184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 cap="flat" cmpd="sng">
            <a:solidFill>
              <a:srgbClr val="722ED1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4" name="Google Shape;834;p19"/>
          <p:cNvSpPr/>
          <p:nvPr/>
        </p:nvSpPr>
        <p:spPr>
          <a:xfrm>
            <a:off x="1371600" y="1417320"/>
            <a:ext cx="3017520" cy="457200"/>
          </a:xfrm>
          <a:prstGeom prst="rect">
            <a:avLst/>
          </a:prstGeom>
          <a:solidFill>
            <a:srgbClr val="722ED1"/>
          </a:solidFill>
          <a:ln w="12700" cap="flat" cmpd="sng">
            <a:solidFill>
              <a:srgbClr val="722ED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5" name="Google Shape;835;p19"/>
          <p:cNvSpPr/>
          <p:nvPr/>
        </p:nvSpPr>
        <p:spPr>
          <a:xfrm>
            <a:off x="1417320" y="1417320"/>
            <a:ext cx="29260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ontserrat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Quarterly Champions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6" name="Google Shape;836;p19"/>
          <p:cNvSpPr/>
          <p:nvPr/>
        </p:nvSpPr>
        <p:spPr>
          <a:xfrm>
            <a:off x="1463040" y="19202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Winners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7" name="Google Shape;837;p19"/>
          <p:cNvSpPr/>
          <p:nvPr/>
        </p:nvSpPr>
        <p:spPr>
          <a:xfrm>
            <a:off x="1463040" y="2176272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22ED1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722ED1"/>
                </a:solidFill>
                <a:latin typeface="Montserrat"/>
                <a:ea typeface="Montserrat"/>
                <a:cs typeface="Montserrat"/>
                <a:sym typeface="Montserrat"/>
              </a:rPr>
              <a:t>2 Per Corporate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8" name="Google Shape;838;p19"/>
          <p:cNvSpPr/>
          <p:nvPr/>
        </p:nvSpPr>
        <p:spPr>
          <a:xfrm>
            <a:off x="1463040" y="2578608"/>
            <a:ext cx="2834640" cy="18288"/>
          </a:xfrm>
          <a:prstGeom prst="rect">
            <a:avLst/>
          </a:prstGeom>
          <a:solidFill>
            <a:srgbClr val="E0E6F0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9" name="Google Shape;839;p19"/>
          <p:cNvSpPr/>
          <p:nvPr/>
        </p:nvSpPr>
        <p:spPr>
          <a:xfrm>
            <a:off x="1463040" y="2633472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Cash Prize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0" name="Google Shape;840;p19"/>
          <p:cNvSpPr/>
          <p:nvPr/>
        </p:nvSpPr>
        <p:spPr>
          <a:xfrm>
            <a:off x="1463040" y="2889504"/>
            <a:ext cx="283464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22ED1"/>
              </a:buClr>
              <a:buSzPts val="3200"/>
              <a:buFont typeface="Montserrat"/>
              <a:buNone/>
            </a:pPr>
            <a:r>
              <a:rPr lang="en-US" sz="3200" b="1" i="0" u="none" strike="noStrike" cap="none">
                <a:solidFill>
                  <a:srgbClr val="722ED1"/>
                </a:solidFill>
                <a:latin typeface="Montserrat"/>
                <a:ea typeface="Montserrat"/>
                <a:cs typeface="Montserrat"/>
                <a:sym typeface="Montserrat"/>
              </a:rPr>
              <a:t>4,500 L.E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1" name="Google Shape;841;p19"/>
          <p:cNvSpPr/>
          <p:nvPr/>
        </p:nvSpPr>
        <p:spPr>
          <a:xfrm>
            <a:off x="1463040" y="3493008"/>
            <a:ext cx="2834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Cash Prize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2" name="Google Shape;842;p19"/>
          <p:cNvSpPr/>
          <p:nvPr/>
        </p:nvSpPr>
        <p:spPr>
          <a:xfrm>
            <a:off x="1463040" y="3767328"/>
            <a:ext cx="2834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CEO Dinner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3" name="Google Shape;843;p19"/>
          <p:cNvSpPr/>
          <p:nvPr/>
        </p:nvSpPr>
        <p:spPr>
          <a:xfrm>
            <a:off x="1463040" y="4041648"/>
            <a:ext cx="2834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Digital Certificate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4" name="Google Shape;844;p19"/>
          <p:cNvSpPr/>
          <p:nvPr/>
        </p:nvSpPr>
        <p:spPr>
          <a:xfrm>
            <a:off x="1463040" y="4315968"/>
            <a:ext cx="2834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Public Announcement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5" name="Google Shape;845;p19"/>
          <p:cNvSpPr/>
          <p:nvPr/>
        </p:nvSpPr>
        <p:spPr>
          <a:xfrm>
            <a:off x="4754880" y="1417320"/>
            <a:ext cx="3017520" cy="329184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6" name="Google Shape;846;p19"/>
          <p:cNvSpPr/>
          <p:nvPr/>
        </p:nvSpPr>
        <p:spPr>
          <a:xfrm>
            <a:off x="4754880" y="1417320"/>
            <a:ext cx="3017520" cy="457200"/>
          </a:xfrm>
          <a:prstGeom prst="rect">
            <a:avLst/>
          </a:prstGeom>
          <a:solidFill>
            <a:srgbClr val="FA8C16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7" name="Google Shape;847;p19"/>
          <p:cNvSpPr/>
          <p:nvPr/>
        </p:nvSpPr>
        <p:spPr>
          <a:xfrm>
            <a:off x="4800600" y="1417320"/>
            <a:ext cx="29260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ontserrat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Annual Marathon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8" name="Google Shape;848;p19"/>
          <p:cNvSpPr/>
          <p:nvPr/>
        </p:nvSpPr>
        <p:spPr>
          <a:xfrm>
            <a:off x="4846320" y="19202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Winners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9" name="Google Shape;849;p19"/>
          <p:cNvSpPr/>
          <p:nvPr/>
        </p:nvSpPr>
        <p:spPr>
          <a:xfrm>
            <a:off x="4846320" y="2176272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8C16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A8C16"/>
                </a:solidFill>
                <a:latin typeface="Montserrat"/>
                <a:ea typeface="Montserrat"/>
                <a:cs typeface="Montserrat"/>
                <a:sym typeface="Montserrat"/>
              </a:rPr>
              <a:t>2 Per Corporate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0" name="Google Shape;850;p19"/>
          <p:cNvSpPr/>
          <p:nvPr/>
        </p:nvSpPr>
        <p:spPr>
          <a:xfrm>
            <a:off x="4846320" y="2578608"/>
            <a:ext cx="2834640" cy="18288"/>
          </a:xfrm>
          <a:prstGeom prst="rect">
            <a:avLst/>
          </a:prstGeom>
          <a:solidFill>
            <a:srgbClr val="E0E6F0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1" name="Google Shape;851;p19"/>
          <p:cNvSpPr/>
          <p:nvPr/>
        </p:nvSpPr>
        <p:spPr>
          <a:xfrm>
            <a:off x="4846320" y="2633472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Cash Prize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2" name="Google Shape;852;p19"/>
          <p:cNvSpPr/>
          <p:nvPr/>
        </p:nvSpPr>
        <p:spPr>
          <a:xfrm>
            <a:off x="4846320" y="2889504"/>
            <a:ext cx="283464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8C16"/>
              </a:buClr>
              <a:buSzPts val="3200"/>
              <a:buFont typeface="Montserrat"/>
              <a:buNone/>
            </a:pPr>
            <a:r>
              <a:rPr lang="en-US" sz="3200" b="1" i="0" u="none" strike="noStrike" cap="none" dirty="0">
                <a:solidFill>
                  <a:srgbClr val="FA8C16"/>
                </a:solidFill>
                <a:latin typeface="Montserrat"/>
                <a:ea typeface="Montserrat"/>
                <a:cs typeface="Montserrat"/>
                <a:sym typeface="Montserrat"/>
              </a:rPr>
              <a:t>8,000 L.E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3" name="Google Shape;853;p19"/>
          <p:cNvSpPr/>
          <p:nvPr/>
        </p:nvSpPr>
        <p:spPr>
          <a:xfrm>
            <a:off x="4846320" y="3493008"/>
            <a:ext cx="2834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Cash Prize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4" name="Google Shape;854;p19"/>
          <p:cNvSpPr/>
          <p:nvPr/>
        </p:nvSpPr>
        <p:spPr>
          <a:xfrm>
            <a:off x="4846320" y="3767328"/>
            <a:ext cx="2834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CEO Dinner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5" name="Google Shape;855;p19"/>
          <p:cNvSpPr/>
          <p:nvPr/>
        </p:nvSpPr>
        <p:spPr>
          <a:xfrm>
            <a:off x="4846320" y="4041648"/>
            <a:ext cx="2834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Digital Certificate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6" name="Google Shape;856;p19"/>
          <p:cNvSpPr/>
          <p:nvPr/>
        </p:nvSpPr>
        <p:spPr>
          <a:xfrm>
            <a:off x="4846320" y="4315968"/>
            <a:ext cx="2834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Public Announcement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7" name="Google Shape;857;p19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EFF3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8" name="Google Shape;858;p19"/>
          <p:cNvSpPr/>
          <p:nvPr/>
        </p:nvSpPr>
        <p:spPr>
          <a:xfrm>
            <a:off x="365760" y="4645152"/>
            <a:ext cx="8412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50C9"/>
              </a:buClr>
              <a:buSzPts val="950"/>
              <a:buFont typeface="Open Sans"/>
              <a:buNone/>
            </a:pPr>
            <a:r>
              <a:rPr lang="en-US" sz="950" b="0" i="1" u="none" strike="noStrike" cap="none">
                <a:solidFill>
                  <a:srgbClr val="1E50C9"/>
                </a:solidFill>
                <a:latin typeface="Open Sans"/>
                <a:ea typeface="Open Sans"/>
                <a:cs typeface="Open Sans"/>
                <a:sym typeface="Open Sans"/>
              </a:rPr>
              <a:t>Brand Managers: no Monthly Sprint. Points accumulate cumulatively for Annual standings.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76514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557"/>
        </a:solidFill>
        <a:effectLst/>
      </p:bgPr>
    </p:bg>
    <p:spTree>
      <p:nvGrpSpPr>
        <p:cNvPr id="1" name="Shape 8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Google Shape;864;p20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7" name="Google Shape;867;p20"/>
          <p:cNvSpPr/>
          <p:nvPr/>
        </p:nvSpPr>
        <p:spPr>
          <a:xfrm>
            <a:off x="731520" y="1417320"/>
            <a:ext cx="1005840" cy="1005840"/>
          </a:xfrm>
          <a:prstGeom prst="ellipse">
            <a:avLst/>
          </a:prstGeom>
          <a:solidFill>
            <a:srgbClr val="FAAD14">
              <a:alpha val="80000"/>
            </a:srgbClr>
          </a:solidFill>
          <a:ln w="254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8" name="Google Shape;868;p20"/>
          <p:cNvSpPr/>
          <p:nvPr/>
        </p:nvSpPr>
        <p:spPr>
          <a:xfrm>
            <a:off x="640080" y="2286000"/>
            <a:ext cx="731520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Montserrat"/>
              <a:buNone/>
            </a:pPr>
            <a:r>
              <a:rPr lang="en-US" sz="38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Points Calculator</a:t>
            </a:r>
            <a:endParaRPr sz="3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9" name="Google Shape;869;p20"/>
          <p:cNvSpPr/>
          <p:nvPr/>
        </p:nvSpPr>
        <p:spPr>
          <a:xfrm>
            <a:off x="545739" y="324612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C53D"/>
              </a:buClr>
              <a:buSzPts val="1600"/>
              <a:buFont typeface="Open Sans"/>
              <a:buNone/>
            </a:pPr>
            <a:r>
              <a:rPr lang="en-US" sz="1600" b="0" i="0" u="none" strike="noStrike" cap="none" dirty="0">
                <a:solidFill>
                  <a:srgbClr val="FFC53D"/>
                </a:solidFill>
                <a:latin typeface="Open Sans"/>
                <a:ea typeface="Open Sans"/>
                <a:cs typeface="Open Sans"/>
                <a:sym typeface="Open Sans"/>
              </a:rPr>
              <a:t>Digital Tool — Track, Simulate &amp; Share Your Score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0" name="Google Shape;870;p20"/>
          <p:cNvSpPr/>
          <p:nvPr/>
        </p:nvSpPr>
        <p:spPr>
          <a:xfrm>
            <a:off x="640080" y="4754880"/>
            <a:ext cx="2286000" cy="54864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D951C8B-81E5-185D-864D-7FA235689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9329" y="9075"/>
            <a:ext cx="3892378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9274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Shape 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Google Shape;876;p2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7" name="Google Shape;877;p2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8" name="Google Shape;878;p21"/>
          <p:cNvSpPr/>
          <p:nvPr/>
        </p:nvSpPr>
        <p:spPr>
          <a:xfrm>
            <a:off x="320040" y="91440"/>
            <a:ext cx="64008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How to Use the Calculator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0" name="Google Shape;880;p21"/>
          <p:cNvSpPr/>
          <p:nvPr/>
        </p:nvSpPr>
        <p:spPr>
          <a:xfrm>
            <a:off x="274320" y="1005840"/>
            <a:ext cx="53035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1" name="Google Shape;881;p21"/>
          <p:cNvSpPr/>
          <p:nvPr/>
        </p:nvSpPr>
        <p:spPr>
          <a:xfrm>
            <a:off x="411480" y="1115568"/>
            <a:ext cx="438912" cy="438912"/>
          </a:xfrm>
          <a:prstGeom prst="ellipse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2" name="Google Shape;882;p21"/>
          <p:cNvSpPr/>
          <p:nvPr/>
        </p:nvSpPr>
        <p:spPr>
          <a:xfrm>
            <a:off x="411480" y="1115568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👤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3" name="Google Shape;883;p21"/>
          <p:cNvSpPr/>
          <p:nvPr/>
        </p:nvSpPr>
        <p:spPr>
          <a:xfrm>
            <a:off x="978408" y="1051560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50"/>
              <a:buFont typeface="Montserrat"/>
              <a:buNone/>
            </a:pPr>
            <a:r>
              <a:rPr lang="en-US" sz="115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Medical Rep (MSR)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4" name="Google Shape;884;p21"/>
          <p:cNvSpPr/>
          <p:nvPr/>
        </p:nvSpPr>
        <p:spPr>
          <a:xfrm>
            <a:off x="978408" y="1353312"/>
            <a:ext cx="44805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Sales 50 pts  |  Right Freq 40 pts  |  Coverage 10 pts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5" name="Google Shape;885;p21"/>
          <p:cNvSpPr/>
          <p:nvPr/>
        </p:nvSpPr>
        <p:spPr>
          <a:xfrm>
            <a:off x="274320" y="1764792"/>
            <a:ext cx="53035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6" name="Google Shape;886;p21"/>
          <p:cNvSpPr/>
          <p:nvPr/>
        </p:nvSpPr>
        <p:spPr>
          <a:xfrm>
            <a:off x="411480" y="1874520"/>
            <a:ext cx="438912" cy="438912"/>
          </a:xfrm>
          <a:prstGeom prst="ellipse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7" name="Google Shape;887;p21"/>
          <p:cNvSpPr/>
          <p:nvPr/>
        </p:nvSpPr>
        <p:spPr>
          <a:xfrm>
            <a:off x="411480" y="187452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💼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8" name="Google Shape;888;p21"/>
          <p:cNvSpPr/>
          <p:nvPr/>
        </p:nvSpPr>
        <p:spPr>
          <a:xfrm>
            <a:off x="978408" y="1810512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50"/>
              <a:buFont typeface="Montserrat"/>
              <a:buNone/>
            </a:pPr>
            <a:r>
              <a:rPr lang="en-US" sz="115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CHC / Sales Rep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9" name="Google Shape;889;p21"/>
          <p:cNvSpPr/>
          <p:nvPr/>
        </p:nvSpPr>
        <p:spPr>
          <a:xfrm>
            <a:off x="978408" y="2112264"/>
            <a:ext cx="44805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Sales 60 pts  |  Coverage 40 pts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0" name="Google Shape;890;p21"/>
          <p:cNvSpPr/>
          <p:nvPr/>
        </p:nvSpPr>
        <p:spPr>
          <a:xfrm>
            <a:off x="274320" y="2523744"/>
            <a:ext cx="53035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1" name="Google Shape;891;p21"/>
          <p:cNvSpPr/>
          <p:nvPr/>
        </p:nvSpPr>
        <p:spPr>
          <a:xfrm>
            <a:off x="411480" y="2633472"/>
            <a:ext cx="438912" cy="438912"/>
          </a:xfrm>
          <a:prstGeom prst="ellipse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2" name="Google Shape;892;p21"/>
          <p:cNvSpPr/>
          <p:nvPr/>
        </p:nvSpPr>
        <p:spPr>
          <a:xfrm>
            <a:off x="411480" y="2633472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👥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3" name="Google Shape;893;p21"/>
          <p:cNvSpPr/>
          <p:nvPr/>
        </p:nvSpPr>
        <p:spPr>
          <a:xfrm>
            <a:off x="978408" y="2569464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50"/>
              <a:buFont typeface="Montserrat"/>
              <a:buNone/>
            </a:pPr>
            <a:r>
              <a:rPr lang="en-US" sz="115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District Manager (DM)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4" name="Google Shape;894;p21"/>
          <p:cNvSpPr/>
          <p:nvPr/>
        </p:nvSpPr>
        <p:spPr>
          <a:xfrm>
            <a:off x="978408" y="2871216"/>
            <a:ext cx="44805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Team Avg 70 pts  |  Field Days 10 pts  |  DV Coverage 10 pts  |  Calls/DV 10 pts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5" name="Google Shape;895;p21"/>
          <p:cNvSpPr/>
          <p:nvPr/>
        </p:nvSpPr>
        <p:spPr>
          <a:xfrm>
            <a:off x="274320" y="3282696"/>
            <a:ext cx="53035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6" name="Google Shape;896;p21"/>
          <p:cNvSpPr/>
          <p:nvPr/>
        </p:nvSpPr>
        <p:spPr>
          <a:xfrm>
            <a:off x="411480" y="3392424"/>
            <a:ext cx="438912" cy="438912"/>
          </a:xfrm>
          <a:prstGeom prst="ellipse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7" name="Google Shape;897;p21"/>
          <p:cNvSpPr/>
          <p:nvPr/>
        </p:nvSpPr>
        <p:spPr>
          <a:xfrm>
            <a:off x="411480" y="339242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8" name="Google Shape;898;p21"/>
          <p:cNvSpPr/>
          <p:nvPr/>
        </p:nvSpPr>
        <p:spPr>
          <a:xfrm>
            <a:off x="978408" y="3328416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50"/>
              <a:buFont typeface="Montserrat"/>
              <a:buNone/>
            </a:pPr>
            <a:r>
              <a:rPr lang="en-US" sz="115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Area Sales Manager (ASM)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9" name="Google Shape;899;p21"/>
          <p:cNvSpPr/>
          <p:nvPr/>
        </p:nvSpPr>
        <p:spPr>
          <a:xfrm>
            <a:off x="978408" y="3630168"/>
            <a:ext cx="44805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DM Team Avg 80 pts  |  Field Days 20 pts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0" name="Google Shape;900;p21"/>
          <p:cNvSpPr/>
          <p:nvPr/>
        </p:nvSpPr>
        <p:spPr>
          <a:xfrm>
            <a:off x="274320" y="4041648"/>
            <a:ext cx="53035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1" name="Google Shape;901;p21"/>
          <p:cNvSpPr/>
          <p:nvPr/>
        </p:nvSpPr>
        <p:spPr>
          <a:xfrm>
            <a:off x="411480" y="4151376"/>
            <a:ext cx="438912" cy="438912"/>
          </a:xfrm>
          <a:prstGeom prst="ellipse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2" name="Google Shape;902;p21"/>
          <p:cNvSpPr/>
          <p:nvPr/>
        </p:nvSpPr>
        <p:spPr>
          <a:xfrm>
            <a:off x="411480" y="415137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3" name="Google Shape;903;p21"/>
          <p:cNvSpPr/>
          <p:nvPr/>
        </p:nvSpPr>
        <p:spPr>
          <a:xfrm>
            <a:off x="978408" y="4087368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50"/>
              <a:buFont typeface="Montserrat"/>
              <a:buNone/>
            </a:pPr>
            <a:r>
              <a:rPr lang="en-US" sz="115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National Sales Manager (NSM)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4" name="Google Shape;904;p21"/>
          <p:cNvSpPr/>
          <p:nvPr/>
        </p:nvSpPr>
        <p:spPr>
          <a:xfrm>
            <a:off x="978408" y="4389120"/>
            <a:ext cx="44805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ASM Team Avg 80 pts  |  Field Days 20 pts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5" name="Google Shape;905;p21"/>
          <p:cNvSpPr/>
          <p:nvPr/>
        </p:nvSpPr>
        <p:spPr>
          <a:xfrm>
            <a:off x="5760720" y="1005840"/>
            <a:ext cx="3108960" cy="3886200"/>
          </a:xfrm>
          <a:prstGeom prst="roundRect">
            <a:avLst>
              <a:gd name="adj" fmla="val 2353"/>
            </a:avLst>
          </a:prstGeom>
          <a:solidFill>
            <a:srgbClr val="EFF8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6" name="Google Shape;906;p21"/>
          <p:cNvSpPr/>
          <p:nvPr/>
        </p:nvSpPr>
        <p:spPr>
          <a:xfrm>
            <a:off x="5852160" y="1078992"/>
            <a:ext cx="29260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0F2557"/>
                </a:solidFill>
                <a:latin typeface="Montserrat"/>
                <a:ea typeface="Montserrat"/>
                <a:cs typeface="Montserrat"/>
                <a:sym typeface="Montserrat"/>
              </a:rPr>
              <a:t>Access the Calculator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7" name="Google Shape;907;p21"/>
          <p:cNvSpPr/>
          <p:nvPr/>
        </p:nvSpPr>
        <p:spPr>
          <a:xfrm>
            <a:off x="5900649" y="1481328"/>
            <a:ext cx="2834640" cy="502920"/>
          </a:xfrm>
          <a:prstGeom prst="roundRect">
            <a:avLst>
              <a:gd name="adj" fmla="val 10909"/>
            </a:avLst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8" name="Google Shape;908;p21"/>
          <p:cNvSpPr/>
          <p:nvPr/>
        </p:nvSpPr>
        <p:spPr>
          <a:xfrm>
            <a:off x="5774436" y="1505435"/>
            <a:ext cx="3108960" cy="478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AAD14"/>
              </a:buClr>
              <a:buSzPts val="1050"/>
              <a:buFont typeface="Open Sans"/>
              <a:buNone/>
            </a:pPr>
            <a:r>
              <a:rPr lang="en-US" sz="700" b="0" i="0" u="none" strike="noStrike" cap="none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hthttps://ahmedabdallahsfe-ai.github.io/Zeta-Sprint-Points-Calculator/</a:t>
            </a:r>
            <a:endParaRPr sz="700" b="0" i="0" u="none" strike="noStrike" cap="none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9" name="Google Shape;909;p21"/>
          <p:cNvSpPr/>
          <p:nvPr/>
        </p:nvSpPr>
        <p:spPr>
          <a:xfrm>
            <a:off x="5852160" y="205740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Works on iPhone, Android &amp; Desktop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0" name="Google Shape;910;p21"/>
          <p:cNvSpPr/>
          <p:nvPr/>
        </p:nvSpPr>
        <p:spPr>
          <a:xfrm>
            <a:off x="5852160" y="2487168"/>
            <a:ext cx="28346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0F2557"/>
                </a:solidFill>
                <a:latin typeface="Montserrat"/>
                <a:ea typeface="Montserrat"/>
                <a:cs typeface="Montserrat"/>
                <a:sym typeface="Montserrat"/>
              </a:rPr>
              <a:t>KPI Thresholds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1" name="Google Shape;911;p21"/>
          <p:cNvSpPr/>
          <p:nvPr/>
        </p:nvSpPr>
        <p:spPr>
          <a:xfrm>
            <a:off x="5852160" y="2816352"/>
            <a:ext cx="2834640" cy="2743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2" name="Google Shape;912;p21"/>
          <p:cNvSpPr/>
          <p:nvPr/>
        </p:nvSpPr>
        <p:spPr>
          <a:xfrm>
            <a:off x="5897880" y="2816352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Sales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3" name="Google Shape;913;p21"/>
          <p:cNvSpPr/>
          <p:nvPr/>
        </p:nvSpPr>
        <p:spPr>
          <a:xfrm>
            <a:off x="7818120" y="2852928"/>
            <a:ext cx="749808" cy="201168"/>
          </a:xfrm>
          <a:prstGeom prst="roundRect">
            <a:avLst>
              <a:gd name="adj" fmla="val 18182"/>
            </a:avLst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4" name="Google Shape;914;p21"/>
          <p:cNvSpPr/>
          <p:nvPr/>
        </p:nvSpPr>
        <p:spPr>
          <a:xfrm>
            <a:off x="7818120" y="2852928"/>
            <a:ext cx="74980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70%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5" name="Google Shape;915;p21"/>
          <p:cNvSpPr/>
          <p:nvPr/>
        </p:nvSpPr>
        <p:spPr>
          <a:xfrm>
            <a:off x="5852160" y="3108960"/>
            <a:ext cx="2834640" cy="27432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6" name="Google Shape;916;p21"/>
          <p:cNvSpPr/>
          <p:nvPr/>
        </p:nvSpPr>
        <p:spPr>
          <a:xfrm>
            <a:off x="5897880" y="3108960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Right Freq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7" name="Google Shape;917;p21"/>
          <p:cNvSpPr/>
          <p:nvPr/>
        </p:nvSpPr>
        <p:spPr>
          <a:xfrm>
            <a:off x="7818120" y="3145536"/>
            <a:ext cx="749808" cy="201168"/>
          </a:xfrm>
          <a:prstGeom prst="roundRect">
            <a:avLst>
              <a:gd name="adj" fmla="val 18182"/>
            </a:avLst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8" name="Google Shape;918;p21"/>
          <p:cNvSpPr/>
          <p:nvPr/>
        </p:nvSpPr>
        <p:spPr>
          <a:xfrm>
            <a:off x="7818120" y="3145536"/>
            <a:ext cx="74980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60%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9" name="Google Shape;919;p21"/>
          <p:cNvSpPr/>
          <p:nvPr/>
        </p:nvSpPr>
        <p:spPr>
          <a:xfrm>
            <a:off x="5852160" y="3401568"/>
            <a:ext cx="2834640" cy="2743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0" name="Google Shape;920;p21"/>
          <p:cNvSpPr/>
          <p:nvPr/>
        </p:nvSpPr>
        <p:spPr>
          <a:xfrm>
            <a:off x="5897880" y="340156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Coverage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1" name="Google Shape;921;p21"/>
          <p:cNvSpPr/>
          <p:nvPr/>
        </p:nvSpPr>
        <p:spPr>
          <a:xfrm>
            <a:off x="7818120" y="3438144"/>
            <a:ext cx="749808" cy="201168"/>
          </a:xfrm>
          <a:prstGeom prst="roundRect">
            <a:avLst>
              <a:gd name="adj" fmla="val 18182"/>
            </a:avLst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2" name="Google Shape;922;p21"/>
          <p:cNvSpPr/>
          <p:nvPr/>
        </p:nvSpPr>
        <p:spPr>
          <a:xfrm>
            <a:off x="7818120" y="3438144"/>
            <a:ext cx="74980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90%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3" name="Google Shape;923;p21"/>
          <p:cNvSpPr/>
          <p:nvPr/>
        </p:nvSpPr>
        <p:spPr>
          <a:xfrm>
            <a:off x="5852160" y="3694176"/>
            <a:ext cx="2834640" cy="27432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4" name="Google Shape;924;p21"/>
          <p:cNvSpPr/>
          <p:nvPr/>
        </p:nvSpPr>
        <p:spPr>
          <a:xfrm>
            <a:off x="5897880" y="3694176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Field Days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5" name="Google Shape;925;p21"/>
          <p:cNvSpPr/>
          <p:nvPr/>
        </p:nvSpPr>
        <p:spPr>
          <a:xfrm>
            <a:off x="7818120" y="3730752"/>
            <a:ext cx="749808" cy="201168"/>
          </a:xfrm>
          <a:prstGeom prst="roundRect">
            <a:avLst>
              <a:gd name="adj" fmla="val 18182"/>
            </a:avLst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6" name="Google Shape;926;p21"/>
          <p:cNvSpPr/>
          <p:nvPr/>
        </p:nvSpPr>
        <p:spPr>
          <a:xfrm>
            <a:off x="7818120" y="3730752"/>
            <a:ext cx="74980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60%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7" name="Google Shape;927;p21"/>
          <p:cNvSpPr/>
          <p:nvPr/>
        </p:nvSpPr>
        <p:spPr>
          <a:xfrm>
            <a:off x="5852160" y="3986784"/>
            <a:ext cx="2834640" cy="2743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8" name="Google Shape;928;p21"/>
          <p:cNvSpPr/>
          <p:nvPr/>
        </p:nvSpPr>
        <p:spPr>
          <a:xfrm>
            <a:off x="5897880" y="3986784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DV Coverage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9" name="Google Shape;929;p21"/>
          <p:cNvSpPr/>
          <p:nvPr/>
        </p:nvSpPr>
        <p:spPr>
          <a:xfrm>
            <a:off x="7818120" y="4023360"/>
            <a:ext cx="749808" cy="201168"/>
          </a:xfrm>
          <a:prstGeom prst="roundRect">
            <a:avLst>
              <a:gd name="adj" fmla="val 18182"/>
            </a:avLst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0" name="Google Shape;930;p21"/>
          <p:cNvSpPr/>
          <p:nvPr/>
        </p:nvSpPr>
        <p:spPr>
          <a:xfrm>
            <a:off x="7818120" y="4023360"/>
            <a:ext cx="74980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80%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1" name="Google Shape;931;p21"/>
          <p:cNvSpPr/>
          <p:nvPr/>
        </p:nvSpPr>
        <p:spPr>
          <a:xfrm>
            <a:off x="5852160" y="4279392"/>
            <a:ext cx="2834640" cy="27432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2" name="Google Shape;932;p21"/>
          <p:cNvSpPr/>
          <p:nvPr/>
        </p:nvSpPr>
        <p:spPr>
          <a:xfrm>
            <a:off x="5897880" y="4279392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Calls/DV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3" name="Google Shape;933;p21"/>
          <p:cNvSpPr/>
          <p:nvPr/>
        </p:nvSpPr>
        <p:spPr>
          <a:xfrm>
            <a:off x="7818120" y="4315968"/>
            <a:ext cx="749808" cy="201168"/>
          </a:xfrm>
          <a:prstGeom prst="roundRect">
            <a:avLst>
              <a:gd name="adj" fmla="val 18182"/>
            </a:avLst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4" name="Google Shape;934;p21"/>
          <p:cNvSpPr/>
          <p:nvPr/>
        </p:nvSpPr>
        <p:spPr>
          <a:xfrm>
            <a:off x="7818120" y="4315968"/>
            <a:ext cx="74980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90%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569982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22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1" name="Google Shape;941;p2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2" name="Google Shape;942;p22"/>
          <p:cNvSpPr/>
          <p:nvPr/>
        </p:nvSpPr>
        <p:spPr>
          <a:xfrm>
            <a:off x="320040" y="91440"/>
            <a:ext cx="64008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My Points Tracker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3" name="Google Shape;943;p22"/>
          <p:cNvSpPr/>
          <p:nvPr/>
        </p:nvSpPr>
        <p:spPr>
          <a:xfrm>
            <a:off x="6766560" y="91440"/>
            <a:ext cx="2286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C53D"/>
              </a:buClr>
              <a:buSzPts val="1100"/>
              <a:buFont typeface="Open Sans"/>
              <a:buNone/>
            </a:pPr>
            <a:r>
              <a:rPr lang="en-US" sz="1100" b="0" i="0" u="none" strike="noStrike" cap="none">
                <a:solidFill>
                  <a:srgbClr val="FFC53D"/>
                </a:solidFill>
                <a:latin typeface="Open Sans"/>
                <a:ea typeface="Open Sans"/>
                <a:cs typeface="Open Sans"/>
                <a:sym typeface="Open Sans"/>
              </a:rPr>
              <a:t>5-Step Workflow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4" name="Google Shape;944;p22"/>
          <p:cNvSpPr/>
          <p:nvPr/>
        </p:nvSpPr>
        <p:spPr>
          <a:xfrm>
            <a:off x="274320" y="1005840"/>
            <a:ext cx="53035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5" name="Google Shape;945;p22"/>
          <p:cNvSpPr/>
          <p:nvPr/>
        </p:nvSpPr>
        <p:spPr>
          <a:xfrm>
            <a:off x="365760" y="1115568"/>
            <a:ext cx="438912" cy="438912"/>
          </a:xfrm>
          <a:prstGeom prst="ellipse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6" name="Google Shape;946;p22"/>
          <p:cNvSpPr/>
          <p:nvPr/>
        </p:nvSpPr>
        <p:spPr>
          <a:xfrm>
            <a:off x="365760" y="1115568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ontserrat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7" name="Google Shape;947;p22"/>
          <p:cNvSpPr/>
          <p:nvPr/>
        </p:nvSpPr>
        <p:spPr>
          <a:xfrm>
            <a:off x="960120" y="1060704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Enter Your Info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8" name="Google Shape;948;p22"/>
          <p:cNvSpPr/>
          <p:nvPr/>
        </p:nvSpPr>
        <p:spPr>
          <a:xfrm>
            <a:off x="960120" y="1353312"/>
            <a:ext cx="44805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Name  |  Role  |  Line / BUM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9" name="Google Shape;949;p22"/>
          <p:cNvSpPr/>
          <p:nvPr/>
        </p:nvSpPr>
        <p:spPr>
          <a:xfrm>
            <a:off x="274320" y="1764792"/>
            <a:ext cx="53035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0" name="Google Shape;950;p22"/>
          <p:cNvSpPr/>
          <p:nvPr/>
        </p:nvSpPr>
        <p:spPr>
          <a:xfrm>
            <a:off x="365760" y="1874520"/>
            <a:ext cx="438912" cy="438912"/>
          </a:xfrm>
          <a:prstGeom prst="ellipse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1" name="Google Shape;951;p22"/>
          <p:cNvSpPr/>
          <p:nvPr/>
        </p:nvSpPr>
        <p:spPr>
          <a:xfrm>
            <a:off x="365760" y="187452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ontserrat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2" name="Google Shape;952;p22"/>
          <p:cNvSpPr/>
          <p:nvPr/>
        </p:nvSpPr>
        <p:spPr>
          <a:xfrm>
            <a:off x="960120" y="1819656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Enter Monthly Achievement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3" name="Google Shape;953;p22"/>
          <p:cNvSpPr/>
          <p:nvPr/>
        </p:nvSpPr>
        <p:spPr>
          <a:xfrm>
            <a:off x="960120" y="2112264"/>
            <a:ext cx="44805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Use sliders to enter KPI percentages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4" name="Google Shape;954;p22"/>
          <p:cNvSpPr/>
          <p:nvPr/>
        </p:nvSpPr>
        <p:spPr>
          <a:xfrm>
            <a:off x="274320" y="2523744"/>
            <a:ext cx="53035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5" name="Google Shape;955;p22"/>
          <p:cNvSpPr/>
          <p:nvPr/>
        </p:nvSpPr>
        <p:spPr>
          <a:xfrm>
            <a:off x="365760" y="2633472"/>
            <a:ext cx="438912" cy="438912"/>
          </a:xfrm>
          <a:prstGeom prst="ellipse">
            <a:avLst/>
          </a:prstGeom>
          <a:solidFill>
            <a:srgbClr val="52C41A"/>
          </a:solidFill>
          <a:ln w="12700" cap="flat" cmpd="sng">
            <a:solidFill>
              <a:srgbClr val="52C41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6" name="Google Shape;956;p22"/>
          <p:cNvSpPr/>
          <p:nvPr/>
        </p:nvSpPr>
        <p:spPr>
          <a:xfrm>
            <a:off x="365760" y="2633472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ontserrat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7" name="Google Shape;957;p22"/>
          <p:cNvSpPr/>
          <p:nvPr/>
        </p:nvSpPr>
        <p:spPr>
          <a:xfrm>
            <a:off x="960120" y="2578608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Save This Month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8" name="Google Shape;958;p22"/>
          <p:cNvSpPr/>
          <p:nvPr/>
        </p:nvSpPr>
        <p:spPr>
          <a:xfrm>
            <a:off x="960120" y="2871216"/>
            <a:ext cx="44805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Click Save to record your monthly score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9" name="Google Shape;959;p22"/>
          <p:cNvSpPr/>
          <p:nvPr/>
        </p:nvSpPr>
        <p:spPr>
          <a:xfrm>
            <a:off x="274320" y="3282696"/>
            <a:ext cx="53035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0" name="Google Shape;960;p22"/>
          <p:cNvSpPr/>
          <p:nvPr/>
        </p:nvSpPr>
        <p:spPr>
          <a:xfrm>
            <a:off x="365760" y="3392424"/>
            <a:ext cx="438912" cy="438912"/>
          </a:xfrm>
          <a:prstGeom prst="ellipse">
            <a:avLst/>
          </a:prstGeom>
          <a:solidFill>
            <a:srgbClr val="722ED1"/>
          </a:solidFill>
          <a:ln w="12700" cap="flat" cmpd="sng">
            <a:solidFill>
              <a:srgbClr val="722ED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1" name="Google Shape;961;p22"/>
          <p:cNvSpPr/>
          <p:nvPr/>
        </p:nvSpPr>
        <p:spPr>
          <a:xfrm>
            <a:off x="365760" y="339242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ontserrat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4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2" name="Google Shape;962;p22"/>
          <p:cNvSpPr/>
          <p:nvPr/>
        </p:nvSpPr>
        <p:spPr>
          <a:xfrm>
            <a:off x="960120" y="3337560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View Progress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3" name="Google Shape;963;p22"/>
          <p:cNvSpPr/>
          <p:nvPr/>
        </p:nvSpPr>
        <p:spPr>
          <a:xfrm>
            <a:off x="960120" y="3630168"/>
            <a:ext cx="44805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See Q3, Q4 &amp; Annual totals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4" name="Google Shape;964;p22"/>
          <p:cNvSpPr/>
          <p:nvPr/>
        </p:nvSpPr>
        <p:spPr>
          <a:xfrm>
            <a:off x="274320" y="4041648"/>
            <a:ext cx="53035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5" name="Google Shape;965;p22"/>
          <p:cNvSpPr/>
          <p:nvPr/>
        </p:nvSpPr>
        <p:spPr>
          <a:xfrm>
            <a:off x="365760" y="4151376"/>
            <a:ext cx="438912" cy="438912"/>
          </a:xfrm>
          <a:prstGeom prst="ellipse">
            <a:avLst/>
          </a:prstGeom>
          <a:solidFill>
            <a:srgbClr val="FA8C16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6" name="Google Shape;966;p22"/>
          <p:cNvSpPr/>
          <p:nvPr/>
        </p:nvSpPr>
        <p:spPr>
          <a:xfrm>
            <a:off x="365760" y="415137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ontserrat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7" name="Google Shape;967;p22"/>
          <p:cNvSpPr/>
          <p:nvPr/>
        </p:nvSpPr>
        <p:spPr>
          <a:xfrm>
            <a:off x="960120" y="4096512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Share Your Score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8" name="Google Shape;968;p22"/>
          <p:cNvSpPr/>
          <p:nvPr/>
        </p:nvSpPr>
        <p:spPr>
          <a:xfrm>
            <a:off x="960120" y="4389120"/>
            <a:ext cx="44805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Copy Summary for WhatsApp or Email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9" name="Google Shape;969;p22"/>
          <p:cNvSpPr/>
          <p:nvPr/>
        </p:nvSpPr>
        <p:spPr>
          <a:xfrm>
            <a:off x="5760720" y="1005840"/>
            <a:ext cx="3108960" cy="2331720"/>
          </a:xfrm>
          <a:prstGeom prst="roundRect">
            <a:avLst>
              <a:gd name="adj" fmla="val 3137"/>
            </a:avLst>
          </a:prstGeom>
          <a:solidFill>
            <a:srgbClr val="F0F7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0" name="Google Shape;970;p22"/>
          <p:cNvSpPr/>
          <p:nvPr/>
        </p:nvSpPr>
        <p:spPr>
          <a:xfrm>
            <a:off x="5897880" y="1078992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0F2557"/>
                </a:solidFill>
                <a:latin typeface="Montserrat"/>
                <a:ea typeface="Montserrat"/>
                <a:cs typeface="Montserrat"/>
                <a:sym typeface="Montserrat"/>
              </a:rPr>
              <a:t>Target Simulator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1" name="Google Shape;971;p22"/>
          <p:cNvSpPr/>
          <p:nvPr/>
        </p:nvSpPr>
        <p:spPr>
          <a:xfrm>
            <a:off x="5897880" y="1508760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 cap="flat" cmpd="sng">
            <a:solidFill>
              <a:srgbClr val="FFD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2" name="Google Shape;972;p22"/>
          <p:cNvSpPr/>
          <p:nvPr/>
        </p:nvSpPr>
        <p:spPr>
          <a:xfrm>
            <a:off x="5961888" y="15544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★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3" name="Google Shape;973;p22"/>
          <p:cNvSpPr/>
          <p:nvPr/>
        </p:nvSpPr>
        <p:spPr>
          <a:xfrm>
            <a:off x="6364224" y="1545336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1000"/>
              <a:buFont typeface="Montserrat"/>
              <a:buNone/>
            </a:pPr>
            <a:r>
              <a:rPr lang="en-US" sz="1000" b="1" i="0" u="none" strike="noStrike" cap="none">
                <a:solidFill>
                  <a:srgbClr val="FFD700"/>
                </a:solidFill>
                <a:latin typeface="Montserrat"/>
                <a:ea typeface="Montserrat"/>
                <a:cs typeface="Montserrat"/>
                <a:sym typeface="Montserrat"/>
              </a:rPr>
              <a:t>Champion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4" name="Google Shape;974;p22"/>
          <p:cNvSpPr/>
          <p:nvPr/>
        </p:nvSpPr>
        <p:spPr>
          <a:xfrm>
            <a:off x="6364224" y="1746504"/>
            <a:ext cx="13716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88+ pts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5" name="Google Shape;975;p22"/>
          <p:cNvSpPr/>
          <p:nvPr/>
        </p:nvSpPr>
        <p:spPr>
          <a:xfrm>
            <a:off x="7973568" y="1600200"/>
            <a:ext cx="621792" cy="274320"/>
          </a:xfrm>
          <a:prstGeom prst="roundRect">
            <a:avLst>
              <a:gd name="adj" fmla="val 16667"/>
            </a:avLst>
          </a:prstGeom>
          <a:solidFill>
            <a:srgbClr val="FFD700"/>
          </a:solidFill>
          <a:ln w="12700" cap="flat" cmpd="sng">
            <a:solidFill>
              <a:srgbClr val="FFD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6" name="Google Shape;976;p22"/>
          <p:cNvSpPr/>
          <p:nvPr/>
        </p:nvSpPr>
        <p:spPr>
          <a:xfrm>
            <a:off x="7973568" y="1600200"/>
            <a:ext cx="6217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ontserrat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88+ pts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7" name="Google Shape;977;p22"/>
          <p:cNvSpPr/>
          <p:nvPr/>
        </p:nvSpPr>
        <p:spPr>
          <a:xfrm>
            <a:off x="5897880" y="2057400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8" name="Google Shape;978;p22"/>
          <p:cNvSpPr/>
          <p:nvPr/>
        </p:nvSpPr>
        <p:spPr>
          <a:xfrm>
            <a:off x="5961888" y="210312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●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9" name="Google Shape;979;p22"/>
          <p:cNvSpPr/>
          <p:nvPr/>
        </p:nvSpPr>
        <p:spPr>
          <a:xfrm>
            <a:off x="6364224" y="2093976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8C16"/>
              </a:buClr>
              <a:buSzPts val="1000"/>
              <a:buFont typeface="Montserrat"/>
              <a:buNone/>
            </a:pPr>
            <a:r>
              <a:rPr lang="en-US" sz="1000" b="1" i="0" u="none" strike="noStrike" cap="none">
                <a:solidFill>
                  <a:srgbClr val="FA8C16"/>
                </a:solidFill>
                <a:latin typeface="Montserrat"/>
                <a:ea typeface="Montserrat"/>
                <a:cs typeface="Montserrat"/>
                <a:sym typeface="Montserrat"/>
              </a:rPr>
              <a:t>Performer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0" name="Google Shape;980;p22"/>
          <p:cNvSpPr/>
          <p:nvPr/>
        </p:nvSpPr>
        <p:spPr>
          <a:xfrm>
            <a:off x="6364224" y="2295144"/>
            <a:ext cx="13716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68+ pts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1" name="Google Shape;981;p22"/>
          <p:cNvSpPr/>
          <p:nvPr/>
        </p:nvSpPr>
        <p:spPr>
          <a:xfrm>
            <a:off x="7973568" y="2148840"/>
            <a:ext cx="621792" cy="274320"/>
          </a:xfrm>
          <a:prstGeom prst="roundRect">
            <a:avLst>
              <a:gd name="adj" fmla="val 16667"/>
            </a:avLst>
          </a:prstGeom>
          <a:solidFill>
            <a:srgbClr val="FA8C16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2" name="Google Shape;982;p22"/>
          <p:cNvSpPr/>
          <p:nvPr/>
        </p:nvSpPr>
        <p:spPr>
          <a:xfrm>
            <a:off x="7973568" y="2148840"/>
            <a:ext cx="6217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ontserrat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68+ pts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3" name="Google Shape;983;p22"/>
          <p:cNvSpPr/>
          <p:nvPr/>
        </p:nvSpPr>
        <p:spPr>
          <a:xfrm>
            <a:off x="5897880" y="2606040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4" name="Google Shape;984;p22"/>
          <p:cNvSpPr/>
          <p:nvPr/>
        </p:nvSpPr>
        <p:spPr>
          <a:xfrm>
            <a:off x="5961888" y="26517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▲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5" name="Google Shape;985;p22"/>
          <p:cNvSpPr/>
          <p:nvPr/>
        </p:nvSpPr>
        <p:spPr>
          <a:xfrm>
            <a:off x="6364224" y="2642616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50C9"/>
              </a:buClr>
              <a:buSzPts val="1000"/>
              <a:buFont typeface="Montserrat"/>
              <a:buNone/>
            </a:pPr>
            <a:r>
              <a:rPr lang="en-US" sz="1000" b="1" i="0" u="none" strike="noStrike" cap="none">
                <a:solidFill>
                  <a:srgbClr val="1E50C9"/>
                </a:solidFill>
                <a:latin typeface="Montserrat"/>
                <a:ea typeface="Montserrat"/>
                <a:cs typeface="Montserrat"/>
                <a:sym typeface="Montserrat"/>
              </a:rPr>
              <a:t>On Track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6" name="Google Shape;986;p22"/>
          <p:cNvSpPr/>
          <p:nvPr/>
        </p:nvSpPr>
        <p:spPr>
          <a:xfrm>
            <a:off x="6364224" y="2843784"/>
            <a:ext cx="13716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42+ pts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7" name="Google Shape;987;p22"/>
          <p:cNvSpPr/>
          <p:nvPr/>
        </p:nvSpPr>
        <p:spPr>
          <a:xfrm>
            <a:off x="7973568" y="2697480"/>
            <a:ext cx="621792" cy="274320"/>
          </a:xfrm>
          <a:prstGeom prst="roundRect">
            <a:avLst>
              <a:gd name="adj" fmla="val 16667"/>
            </a:avLst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8" name="Google Shape;988;p22"/>
          <p:cNvSpPr/>
          <p:nvPr/>
        </p:nvSpPr>
        <p:spPr>
          <a:xfrm>
            <a:off x="7973568" y="2697480"/>
            <a:ext cx="6217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ontserrat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42+ pts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9" name="Google Shape;989;p22"/>
          <p:cNvSpPr/>
          <p:nvPr/>
        </p:nvSpPr>
        <p:spPr>
          <a:xfrm>
            <a:off x="5760720" y="3401568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0F7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0" name="Google Shape;990;p22"/>
          <p:cNvSpPr/>
          <p:nvPr/>
        </p:nvSpPr>
        <p:spPr>
          <a:xfrm>
            <a:off x="5897880" y="34747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0F2557"/>
                </a:solidFill>
                <a:latin typeface="Montserrat"/>
                <a:ea typeface="Montserrat"/>
                <a:cs typeface="Montserrat"/>
                <a:sym typeface="Montserrat"/>
              </a:rPr>
              <a:t>Performance Views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1" name="Google Shape;991;p22"/>
          <p:cNvSpPr/>
          <p:nvPr/>
        </p:nvSpPr>
        <p:spPr>
          <a:xfrm>
            <a:off x="5897880" y="384048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00"/>
              <a:buFont typeface="Open Sans"/>
              <a:buNone/>
            </a:pPr>
            <a:r>
              <a:rPr lang="en-US" sz="10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Annual total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2" name="Google Shape;992;p22"/>
          <p:cNvSpPr/>
          <p:nvPr/>
        </p:nvSpPr>
        <p:spPr>
          <a:xfrm>
            <a:off x="5897880" y="409651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00"/>
              <a:buFont typeface="Open Sans"/>
              <a:buNone/>
            </a:pPr>
            <a:r>
              <a:rPr lang="en-US" sz="10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Q3: Jun - Aug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3" name="Google Shape;993;p22"/>
          <p:cNvSpPr/>
          <p:nvPr/>
        </p:nvSpPr>
        <p:spPr>
          <a:xfrm>
            <a:off x="5897880" y="435254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00"/>
              <a:buFont typeface="Open Sans"/>
              <a:buNone/>
            </a:pPr>
            <a:r>
              <a:rPr lang="en-US" sz="10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Q4: Sep - Dec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4" name="Google Shape;994;p22"/>
          <p:cNvSpPr/>
          <p:nvPr/>
        </p:nvSpPr>
        <p:spPr>
          <a:xfrm>
            <a:off x="5897880" y="460857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00"/>
              <a:buFont typeface="Open Sans"/>
              <a:buNone/>
            </a:pPr>
            <a:r>
              <a:rPr lang="en-US" sz="10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All Months breakdown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669671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557"/>
        </a:solidFill>
        <a:effectLst/>
      </p:bgPr>
    </p:bg>
    <p:spTree>
      <p:nvGrpSpPr>
        <p:cNvPr id="1" name="Shape 9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23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3" name="Google Shape;1003;p23"/>
          <p:cNvSpPr/>
          <p:nvPr/>
        </p:nvSpPr>
        <p:spPr>
          <a:xfrm>
            <a:off x="731520" y="1417320"/>
            <a:ext cx="1005840" cy="1005840"/>
          </a:xfrm>
          <a:prstGeom prst="ellipse">
            <a:avLst/>
          </a:prstGeom>
          <a:solidFill>
            <a:srgbClr val="FAAD14">
              <a:alpha val="80000"/>
            </a:srgbClr>
          </a:solidFill>
          <a:ln w="254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4" name="Google Shape;1004;p23"/>
          <p:cNvSpPr/>
          <p:nvPr/>
        </p:nvSpPr>
        <p:spPr>
          <a:xfrm>
            <a:off x="640080" y="2286000"/>
            <a:ext cx="731520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Montserrat"/>
              <a:buNone/>
            </a:pPr>
            <a:r>
              <a:rPr lang="en-US" sz="38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Install on Your Device</a:t>
            </a:r>
            <a:endParaRPr sz="3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5" name="Google Shape;1005;p23"/>
          <p:cNvSpPr/>
          <p:nvPr/>
        </p:nvSpPr>
        <p:spPr>
          <a:xfrm>
            <a:off x="640080" y="324612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C53D"/>
              </a:buClr>
              <a:buSzPts val="1600"/>
              <a:buFont typeface="Open Sans"/>
              <a:buNone/>
            </a:pPr>
            <a:r>
              <a:rPr lang="en-US" sz="1600" b="0" i="0" u="none" strike="noStrike" cap="none">
                <a:solidFill>
                  <a:srgbClr val="FFC53D"/>
                </a:solidFill>
                <a:latin typeface="Open Sans"/>
                <a:ea typeface="Open Sans"/>
                <a:cs typeface="Open Sans"/>
                <a:sym typeface="Open Sans"/>
              </a:rPr>
              <a:t>Save Zeta Sprint to your phone or desktop for quick access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6" name="Google Shape;1006;p23"/>
          <p:cNvSpPr/>
          <p:nvPr/>
        </p:nvSpPr>
        <p:spPr>
          <a:xfrm>
            <a:off x="640080" y="4754880"/>
            <a:ext cx="2286000" cy="54864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C8424DF-337F-A18C-CF3D-67D1735B7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3119" y="466863"/>
            <a:ext cx="2960881" cy="3912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7067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Shape 10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p24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3" name="Google Shape;1013;p24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4" name="Google Shape;1014;p24"/>
          <p:cNvSpPr/>
          <p:nvPr/>
        </p:nvSpPr>
        <p:spPr>
          <a:xfrm>
            <a:off x="320040" y="91440"/>
            <a:ext cx="64008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Save to iPhone / iPad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5" name="Google Shape;1015;p24"/>
          <p:cNvSpPr/>
          <p:nvPr/>
        </p:nvSpPr>
        <p:spPr>
          <a:xfrm>
            <a:off x="6766560" y="91440"/>
            <a:ext cx="2286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C53D"/>
              </a:buClr>
              <a:buSzPts val="1100"/>
              <a:buFont typeface="Open Sans"/>
              <a:buNone/>
            </a:pPr>
            <a:r>
              <a:rPr lang="en-US" sz="1100" b="0" i="0" u="none" strike="noStrike" cap="none">
                <a:solidFill>
                  <a:srgbClr val="FFC53D"/>
                </a:solidFill>
                <a:latin typeface="Open Sans"/>
                <a:ea typeface="Open Sans"/>
                <a:cs typeface="Open Sans"/>
                <a:sym typeface="Open Sans"/>
              </a:rPr>
              <a:t>Add to Home Screen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6" name="Google Shape;1016;p24"/>
          <p:cNvSpPr/>
          <p:nvPr/>
        </p:nvSpPr>
        <p:spPr>
          <a:xfrm>
            <a:off x="274320" y="1005840"/>
            <a:ext cx="3749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7" name="Google Shape;1017;p24"/>
          <p:cNvSpPr/>
          <p:nvPr/>
        </p:nvSpPr>
        <p:spPr>
          <a:xfrm>
            <a:off x="365760" y="1078992"/>
            <a:ext cx="438912" cy="438912"/>
          </a:xfrm>
          <a:prstGeom prst="ellipse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8" name="Google Shape;1018;p24"/>
          <p:cNvSpPr/>
          <p:nvPr/>
        </p:nvSpPr>
        <p:spPr>
          <a:xfrm>
            <a:off x="365760" y="1078992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ontserrat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9" name="Google Shape;1019;p24"/>
          <p:cNvSpPr/>
          <p:nvPr/>
        </p:nvSpPr>
        <p:spPr>
          <a:xfrm>
            <a:off x="896112" y="1042416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Open Safari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0" name="Google Shape;1020;p24"/>
          <p:cNvSpPr/>
          <p:nvPr/>
        </p:nvSpPr>
        <p:spPr>
          <a:xfrm>
            <a:off x="896112" y="1307592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Launch Safari browser on your iPhone or iPad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1" name="Google Shape;1021;p24"/>
          <p:cNvSpPr/>
          <p:nvPr/>
        </p:nvSpPr>
        <p:spPr>
          <a:xfrm>
            <a:off x="274320" y="1764792"/>
            <a:ext cx="3749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2" name="Google Shape;1022;p24"/>
          <p:cNvSpPr/>
          <p:nvPr/>
        </p:nvSpPr>
        <p:spPr>
          <a:xfrm>
            <a:off x="365760" y="1837944"/>
            <a:ext cx="438912" cy="438912"/>
          </a:xfrm>
          <a:prstGeom prst="ellipse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3" name="Google Shape;1023;p24"/>
          <p:cNvSpPr/>
          <p:nvPr/>
        </p:nvSpPr>
        <p:spPr>
          <a:xfrm>
            <a:off x="365760" y="183794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ontserrat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4" name="Google Shape;1024;p24"/>
          <p:cNvSpPr/>
          <p:nvPr/>
        </p:nvSpPr>
        <p:spPr>
          <a:xfrm>
            <a:off x="896112" y="1801368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Visit Website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5" name="Google Shape;1025;p24"/>
          <p:cNvSpPr/>
          <p:nvPr/>
        </p:nvSpPr>
        <p:spPr>
          <a:xfrm>
            <a:off x="896112" y="2066544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buClr>
                <a:srgbClr val="37474F"/>
              </a:buClr>
              <a:buSzPts val="900"/>
            </a:pPr>
            <a:r>
              <a:rPr lang="en-US" sz="900" b="0" i="0" u="none" strike="noStrike" cap="none" dirty="0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Go to: </a:t>
            </a:r>
            <a:r>
              <a:rPr lang="en-US" sz="900" dirty="0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https://zeta-sprint-2026.netlify.app/</a:t>
            </a:r>
            <a:endParaRPr sz="9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6" name="Google Shape;1026;p24"/>
          <p:cNvSpPr/>
          <p:nvPr/>
        </p:nvSpPr>
        <p:spPr>
          <a:xfrm>
            <a:off x="274320" y="2523744"/>
            <a:ext cx="3749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7" name="Google Shape;1027;p24"/>
          <p:cNvSpPr/>
          <p:nvPr/>
        </p:nvSpPr>
        <p:spPr>
          <a:xfrm>
            <a:off x="365760" y="2596896"/>
            <a:ext cx="438912" cy="438912"/>
          </a:xfrm>
          <a:prstGeom prst="ellipse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8" name="Google Shape;1028;p24"/>
          <p:cNvSpPr/>
          <p:nvPr/>
        </p:nvSpPr>
        <p:spPr>
          <a:xfrm>
            <a:off x="365760" y="25968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ontserrat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9" name="Google Shape;1029;p24"/>
          <p:cNvSpPr/>
          <p:nvPr/>
        </p:nvSpPr>
        <p:spPr>
          <a:xfrm>
            <a:off x="896112" y="256032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Tap Share Icon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0" name="Google Shape;1030;p24"/>
          <p:cNvSpPr/>
          <p:nvPr/>
        </p:nvSpPr>
        <p:spPr>
          <a:xfrm>
            <a:off x="896112" y="2825496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 dirty="0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Tap the Share button — square with arrow pointing up at Safari bottom bar</a:t>
            </a:r>
            <a:endParaRPr sz="9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1" name="Google Shape;1031;p24"/>
          <p:cNvSpPr/>
          <p:nvPr/>
        </p:nvSpPr>
        <p:spPr>
          <a:xfrm>
            <a:off x="274320" y="3282696"/>
            <a:ext cx="3749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2" name="Google Shape;1032;p24"/>
          <p:cNvSpPr/>
          <p:nvPr/>
        </p:nvSpPr>
        <p:spPr>
          <a:xfrm>
            <a:off x="365760" y="3355848"/>
            <a:ext cx="438912" cy="438912"/>
          </a:xfrm>
          <a:prstGeom prst="ellipse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3" name="Google Shape;1033;p24"/>
          <p:cNvSpPr/>
          <p:nvPr/>
        </p:nvSpPr>
        <p:spPr>
          <a:xfrm>
            <a:off x="365760" y="3355848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ontserrat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4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4" name="Google Shape;1034;p24"/>
          <p:cNvSpPr/>
          <p:nvPr/>
        </p:nvSpPr>
        <p:spPr>
          <a:xfrm>
            <a:off x="896112" y="3319272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Add to Home Screen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5" name="Google Shape;1035;p24"/>
          <p:cNvSpPr/>
          <p:nvPr/>
        </p:nvSpPr>
        <p:spPr>
          <a:xfrm>
            <a:off x="896112" y="3584448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Scroll down and select Add to Home Screen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6" name="Google Shape;1036;p24"/>
          <p:cNvSpPr/>
          <p:nvPr/>
        </p:nvSpPr>
        <p:spPr>
          <a:xfrm>
            <a:off x="274320" y="4041648"/>
            <a:ext cx="3749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7" name="Google Shape;1037;p24"/>
          <p:cNvSpPr/>
          <p:nvPr/>
        </p:nvSpPr>
        <p:spPr>
          <a:xfrm>
            <a:off x="365760" y="4114800"/>
            <a:ext cx="438912" cy="438912"/>
          </a:xfrm>
          <a:prstGeom prst="ellipse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8" name="Google Shape;1038;p24"/>
          <p:cNvSpPr/>
          <p:nvPr/>
        </p:nvSpPr>
        <p:spPr>
          <a:xfrm>
            <a:off x="365760" y="411480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ontserrat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9" name="Google Shape;1039;p24"/>
          <p:cNvSpPr/>
          <p:nvPr/>
        </p:nvSpPr>
        <p:spPr>
          <a:xfrm>
            <a:off x="896112" y="4078224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Confirm Installation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0" name="Google Shape;1040;p24"/>
          <p:cNvSpPr/>
          <p:nvPr/>
        </p:nvSpPr>
        <p:spPr>
          <a:xfrm>
            <a:off x="896112" y="4343400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Tap Add to confirm — icon appears on home screen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1" name="Google Shape;1041;p24"/>
          <p:cNvSpPr/>
          <p:nvPr/>
        </p:nvSpPr>
        <p:spPr>
          <a:xfrm>
            <a:off x="4206240" y="1005840"/>
            <a:ext cx="4663440" cy="4041648"/>
          </a:xfrm>
          <a:prstGeom prst="roundRect">
            <a:avLst>
              <a:gd name="adj" fmla="val 1810"/>
            </a:avLst>
          </a:prstGeom>
          <a:solidFill>
            <a:srgbClr val="EFF8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5" name="Google Shape;1045;p24"/>
          <p:cNvSpPr/>
          <p:nvPr/>
        </p:nvSpPr>
        <p:spPr>
          <a:xfrm>
            <a:off x="4389120" y="4471416"/>
            <a:ext cx="4297680" cy="475488"/>
          </a:xfrm>
          <a:prstGeom prst="roundRect">
            <a:avLst>
              <a:gd name="adj" fmla="val 13462"/>
            </a:avLst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6" name="Google Shape;1046;p24">
            <a:hlinkClick r:id="rId3"/>
          </p:cNvPr>
          <p:cNvSpPr/>
          <p:nvPr/>
        </p:nvSpPr>
        <p:spPr>
          <a:xfrm>
            <a:off x="3022554" y="4482500"/>
            <a:ext cx="7030809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AAD14"/>
              </a:buClr>
              <a:buSzPts val="1300"/>
              <a:buFont typeface="Open Sans"/>
              <a:buNone/>
            </a:pPr>
            <a:r>
              <a:rPr lang="en-US" sz="1100" b="1" i="0" u="none" strike="noStrike" cap="none" dirty="0">
                <a:solidFill>
                  <a:srgbClr val="FFC000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https://ahmedabdallahsfe-ai.github.io/Zeta-Sprint-Points-Calculator/</a:t>
            </a:r>
            <a:endParaRPr sz="1100" b="1" i="0" u="none" strike="noStrike" cap="none" dirty="0">
              <a:solidFill>
                <a:srgbClr val="FFC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6D09E97-878F-44C8-E8D6-585AF996A6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6842" y="1192675"/>
            <a:ext cx="2382235" cy="3147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9081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Shape 1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Google Shape;1052;p25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3" name="Google Shape;1053;p25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4" name="Google Shape;1054;p25"/>
          <p:cNvSpPr/>
          <p:nvPr/>
        </p:nvSpPr>
        <p:spPr>
          <a:xfrm>
            <a:off x="320040" y="91440"/>
            <a:ext cx="64008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Save to Android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5" name="Google Shape;1055;p25"/>
          <p:cNvSpPr/>
          <p:nvPr/>
        </p:nvSpPr>
        <p:spPr>
          <a:xfrm>
            <a:off x="6766560" y="91440"/>
            <a:ext cx="2286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C53D"/>
              </a:buClr>
              <a:buSzPts val="1100"/>
              <a:buFont typeface="Open Sans"/>
              <a:buNone/>
            </a:pPr>
            <a:r>
              <a:rPr lang="en-US" sz="1100" b="0" i="0" u="none" strike="noStrike" cap="none">
                <a:solidFill>
                  <a:srgbClr val="FFC53D"/>
                </a:solidFill>
                <a:latin typeface="Open Sans"/>
                <a:ea typeface="Open Sans"/>
                <a:cs typeface="Open Sans"/>
                <a:sym typeface="Open Sans"/>
              </a:rPr>
              <a:t>Add to Home Screen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6" name="Google Shape;1056;p25"/>
          <p:cNvSpPr/>
          <p:nvPr/>
        </p:nvSpPr>
        <p:spPr>
          <a:xfrm>
            <a:off x="274320" y="1005840"/>
            <a:ext cx="3749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7" name="Google Shape;1057;p25"/>
          <p:cNvSpPr/>
          <p:nvPr/>
        </p:nvSpPr>
        <p:spPr>
          <a:xfrm>
            <a:off x="365760" y="1078992"/>
            <a:ext cx="438912" cy="438912"/>
          </a:xfrm>
          <a:prstGeom prst="ellipse">
            <a:avLst/>
          </a:prstGeom>
          <a:solidFill>
            <a:srgbClr val="52C41A"/>
          </a:solidFill>
          <a:ln w="12700" cap="flat" cmpd="sng">
            <a:solidFill>
              <a:srgbClr val="52C41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8" name="Google Shape;1058;p25"/>
          <p:cNvSpPr/>
          <p:nvPr/>
        </p:nvSpPr>
        <p:spPr>
          <a:xfrm>
            <a:off x="365760" y="1078992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ontserrat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9" name="Google Shape;1059;p25"/>
          <p:cNvSpPr/>
          <p:nvPr/>
        </p:nvSpPr>
        <p:spPr>
          <a:xfrm>
            <a:off x="896112" y="1042416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Open Chrome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0" name="Google Shape;1060;p25"/>
          <p:cNvSpPr/>
          <p:nvPr/>
        </p:nvSpPr>
        <p:spPr>
          <a:xfrm>
            <a:off x="896112" y="1307592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Launch Google Chrome browser on your Android device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1" name="Google Shape;1061;p25"/>
          <p:cNvSpPr/>
          <p:nvPr/>
        </p:nvSpPr>
        <p:spPr>
          <a:xfrm>
            <a:off x="274320" y="1764792"/>
            <a:ext cx="3749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2" name="Google Shape;1062;p25"/>
          <p:cNvSpPr/>
          <p:nvPr/>
        </p:nvSpPr>
        <p:spPr>
          <a:xfrm>
            <a:off x="365760" y="1837944"/>
            <a:ext cx="438912" cy="438912"/>
          </a:xfrm>
          <a:prstGeom prst="ellipse">
            <a:avLst/>
          </a:prstGeom>
          <a:solidFill>
            <a:srgbClr val="52C41A"/>
          </a:solidFill>
          <a:ln w="12700" cap="flat" cmpd="sng">
            <a:solidFill>
              <a:srgbClr val="52C41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3" name="Google Shape;1063;p25"/>
          <p:cNvSpPr/>
          <p:nvPr/>
        </p:nvSpPr>
        <p:spPr>
          <a:xfrm>
            <a:off x="365760" y="183794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ontserrat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4" name="Google Shape;1064;p25"/>
          <p:cNvSpPr/>
          <p:nvPr/>
        </p:nvSpPr>
        <p:spPr>
          <a:xfrm>
            <a:off x="896112" y="1801368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Visit Website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5" name="Google Shape;1065;p25"/>
          <p:cNvSpPr/>
          <p:nvPr/>
        </p:nvSpPr>
        <p:spPr>
          <a:xfrm>
            <a:off x="896112" y="2066544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Go to: zeta-sprint-2026.netlify.app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6" name="Google Shape;1066;p25"/>
          <p:cNvSpPr/>
          <p:nvPr/>
        </p:nvSpPr>
        <p:spPr>
          <a:xfrm>
            <a:off x="274320" y="2523744"/>
            <a:ext cx="3749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7" name="Google Shape;1067;p25"/>
          <p:cNvSpPr/>
          <p:nvPr/>
        </p:nvSpPr>
        <p:spPr>
          <a:xfrm>
            <a:off x="365760" y="2596896"/>
            <a:ext cx="438912" cy="438912"/>
          </a:xfrm>
          <a:prstGeom prst="ellipse">
            <a:avLst/>
          </a:prstGeom>
          <a:solidFill>
            <a:srgbClr val="52C41A"/>
          </a:solidFill>
          <a:ln w="12700" cap="flat" cmpd="sng">
            <a:solidFill>
              <a:srgbClr val="52C41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8" name="Google Shape;1068;p25"/>
          <p:cNvSpPr/>
          <p:nvPr/>
        </p:nvSpPr>
        <p:spPr>
          <a:xfrm>
            <a:off x="365760" y="25968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ontserrat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9" name="Google Shape;1069;p25"/>
          <p:cNvSpPr/>
          <p:nvPr/>
        </p:nvSpPr>
        <p:spPr>
          <a:xfrm>
            <a:off x="896112" y="256032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Open Menu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0" name="Google Shape;1070;p25"/>
          <p:cNvSpPr/>
          <p:nvPr/>
        </p:nvSpPr>
        <p:spPr>
          <a:xfrm>
            <a:off x="896112" y="2825496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Tap the three-dot menu icon at the top right of Chrome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1" name="Google Shape;1071;p25"/>
          <p:cNvSpPr/>
          <p:nvPr/>
        </p:nvSpPr>
        <p:spPr>
          <a:xfrm>
            <a:off x="274320" y="3282696"/>
            <a:ext cx="3749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2" name="Google Shape;1072;p25"/>
          <p:cNvSpPr/>
          <p:nvPr/>
        </p:nvSpPr>
        <p:spPr>
          <a:xfrm>
            <a:off x="365760" y="3355848"/>
            <a:ext cx="438912" cy="438912"/>
          </a:xfrm>
          <a:prstGeom prst="ellipse">
            <a:avLst/>
          </a:prstGeom>
          <a:solidFill>
            <a:srgbClr val="52C41A"/>
          </a:solidFill>
          <a:ln w="12700" cap="flat" cmpd="sng">
            <a:solidFill>
              <a:srgbClr val="52C41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3" name="Google Shape;1073;p25"/>
          <p:cNvSpPr/>
          <p:nvPr/>
        </p:nvSpPr>
        <p:spPr>
          <a:xfrm>
            <a:off x="365760" y="3355848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ontserrat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4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4" name="Google Shape;1074;p25"/>
          <p:cNvSpPr/>
          <p:nvPr/>
        </p:nvSpPr>
        <p:spPr>
          <a:xfrm>
            <a:off x="896112" y="3319272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Add to Home Screen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5" name="Google Shape;1075;p25"/>
          <p:cNvSpPr/>
          <p:nvPr/>
        </p:nvSpPr>
        <p:spPr>
          <a:xfrm>
            <a:off x="896112" y="3584448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Select Add to Home screen or Install app from the menu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6" name="Google Shape;1076;p25"/>
          <p:cNvSpPr/>
          <p:nvPr/>
        </p:nvSpPr>
        <p:spPr>
          <a:xfrm>
            <a:off x="274320" y="4041648"/>
            <a:ext cx="3749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7" name="Google Shape;1077;p25"/>
          <p:cNvSpPr/>
          <p:nvPr/>
        </p:nvSpPr>
        <p:spPr>
          <a:xfrm>
            <a:off x="365760" y="4114800"/>
            <a:ext cx="438912" cy="438912"/>
          </a:xfrm>
          <a:prstGeom prst="ellipse">
            <a:avLst/>
          </a:prstGeom>
          <a:solidFill>
            <a:srgbClr val="52C41A"/>
          </a:solidFill>
          <a:ln w="12700" cap="flat" cmpd="sng">
            <a:solidFill>
              <a:srgbClr val="52C41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8" name="Google Shape;1078;p25"/>
          <p:cNvSpPr/>
          <p:nvPr/>
        </p:nvSpPr>
        <p:spPr>
          <a:xfrm>
            <a:off x="365760" y="411480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ontserrat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9" name="Google Shape;1079;p25"/>
          <p:cNvSpPr/>
          <p:nvPr/>
        </p:nvSpPr>
        <p:spPr>
          <a:xfrm>
            <a:off x="896112" y="4078224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Confirm Installation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0" name="Google Shape;1080;p25"/>
          <p:cNvSpPr/>
          <p:nvPr/>
        </p:nvSpPr>
        <p:spPr>
          <a:xfrm>
            <a:off x="896112" y="4343400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Tap Install or Add — the icon appears on your home screen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1" name="Google Shape;1081;p25"/>
          <p:cNvSpPr/>
          <p:nvPr/>
        </p:nvSpPr>
        <p:spPr>
          <a:xfrm>
            <a:off x="4206240" y="1005840"/>
            <a:ext cx="4663440" cy="4041648"/>
          </a:xfrm>
          <a:prstGeom prst="roundRect">
            <a:avLst>
              <a:gd name="adj" fmla="val 1810"/>
            </a:avLst>
          </a:prstGeom>
          <a:solidFill>
            <a:srgbClr val="F0FFF4"/>
          </a:solidFill>
          <a:ln w="12700" cap="flat" cmpd="sng">
            <a:solidFill>
              <a:srgbClr val="52C41A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045;p24">
            <a:extLst>
              <a:ext uri="{FF2B5EF4-FFF2-40B4-BE49-F238E27FC236}">
                <a16:creationId xmlns:a16="http://schemas.microsoft.com/office/drawing/2014/main" id="{F9FE20CE-E811-2FF1-6640-03A24FDD976A}"/>
              </a:ext>
            </a:extLst>
          </p:cNvPr>
          <p:cNvSpPr/>
          <p:nvPr/>
        </p:nvSpPr>
        <p:spPr>
          <a:xfrm>
            <a:off x="4389120" y="4471416"/>
            <a:ext cx="4297680" cy="475488"/>
          </a:xfrm>
          <a:prstGeom prst="roundRect">
            <a:avLst>
              <a:gd name="adj" fmla="val 13462"/>
            </a:avLst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046;p24">
            <a:extLst>
              <a:ext uri="{FF2B5EF4-FFF2-40B4-BE49-F238E27FC236}">
                <a16:creationId xmlns:a16="http://schemas.microsoft.com/office/drawing/2014/main" id="{8C688EAF-81A0-CA76-E320-71FD0E9AB459}"/>
              </a:ext>
            </a:extLst>
          </p:cNvPr>
          <p:cNvSpPr/>
          <p:nvPr/>
        </p:nvSpPr>
        <p:spPr>
          <a:xfrm>
            <a:off x="4389120" y="4471416"/>
            <a:ext cx="429768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AAD14"/>
              </a:buClr>
              <a:buSzPts val="1300"/>
              <a:buFont typeface="Open Sans"/>
              <a:buNone/>
            </a:pPr>
            <a:r>
              <a:rPr lang="en-US" sz="1200" b="1" i="0" u="none" strike="noStrike" cap="none" dirty="0">
                <a:solidFill>
                  <a:srgbClr val="FFC000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https://ahmedabdallahsfe-ai.github.io/Zeta-Sprint-Points-Calculator/</a:t>
            </a:r>
            <a:endParaRPr sz="1200" b="1" i="0" u="none" strike="noStrike" cap="none" dirty="0">
              <a:solidFill>
                <a:srgbClr val="FFC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5E31A2-B4BD-1E42-FBF3-7FF549BBB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9330" y="1078991"/>
            <a:ext cx="2479216" cy="327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2190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557"/>
        </a:solidFill>
        <a:effectLst/>
      </p:bgPr>
    </p:bg>
    <p:spTree>
      <p:nvGrpSpPr>
        <p:cNvPr id="1" name="Shape 1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" name="Google Shape;1146;p27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7" name="Google Shape;1147;p27"/>
          <p:cNvSpPr/>
          <p:nvPr/>
        </p:nvSpPr>
        <p:spPr>
          <a:xfrm>
            <a:off x="552996" y="822960"/>
            <a:ext cx="640080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Montserrat"/>
              <a:buNone/>
            </a:pPr>
            <a:r>
              <a:rPr lang="en-US" sz="4200" b="1" i="0" u="none" strike="noStrike" cap="none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Ready to Sprint?</a:t>
            </a:r>
            <a:endParaRPr sz="4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8" name="Google Shape;1148;p27"/>
          <p:cNvSpPr/>
          <p:nvPr/>
        </p:nvSpPr>
        <p:spPr>
          <a:xfrm>
            <a:off x="640080" y="1600200"/>
            <a:ext cx="64008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C53D"/>
              </a:buClr>
              <a:buSzPts val="1700"/>
              <a:buFont typeface="Open Sans"/>
              <a:buNone/>
            </a:pPr>
            <a:r>
              <a:rPr lang="en-US" sz="1700" b="0" i="0" u="none" strike="noStrike" cap="none">
                <a:solidFill>
                  <a:srgbClr val="FFC53D"/>
                </a:solidFill>
                <a:latin typeface="Open Sans"/>
                <a:ea typeface="Open Sans"/>
                <a:cs typeface="Open Sans"/>
                <a:sym typeface="Open Sans"/>
              </a:rPr>
              <a:t>Access the Zeta Sprint Points Calculator now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9" name="Google Shape;1149;p27"/>
          <p:cNvSpPr/>
          <p:nvPr/>
        </p:nvSpPr>
        <p:spPr>
          <a:xfrm>
            <a:off x="640080" y="2121408"/>
            <a:ext cx="4114800" cy="658368"/>
          </a:xfrm>
          <a:prstGeom prst="roundRect">
            <a:avLst>
              <a:gd name="adj" fmla="val 13889"/>
            </a:avLst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0" name="Google Shape;1150;p27"/>
          <p:cNvSpPr/>
          <p:nvPr/>
        </p:nvSpPr>
        <p:spPr>
          <a:xfrm>
            <a:off x="640080" y="2121408"/>
            <a:ext cx="4114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1600"/>
              <a:buFont typeface="Montserrat"/>
              <a:buNone/>
            </a:pPr>
            <a:r>
              <a:rPr lang="en-US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https://ahmedabdallahsfe-ai.github.io/Zeta-Sprint-Points-Calculator/</a:t>
            </a:r>
            <a:endParaRPr b="1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1" name="Google Shape;1151;p27"/>
          <p:cNvSpPr/>
          <p:nvPr/>
        </p:nvSpPr>
        <p:spPr>
          <a:xfrm>
            <a:off x="640080" y="2907792"/>
            <a:ext cx="2743200" cy="45720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2" name="Google Shape;1152;p27"/>
          <p:cNvSpPr/>
          <p:nvPr/>
        </p:nvSpPr>
        <p:spPr>
          <a:xfrm>
            <a:off x="640080" y="3063240"/>
            <a:ext cx="64008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300"/>
              <a:buFont typeface="Open Sans"/>
              <a:buNone/>
            </a:pPr>
            <a:r>
              <a:rPr lang="en-US" sz="1300" b="0" i="0" u="none" strike="noStrike" cap="none">
                <a:solidFill>
                  <a:srgbClr val="CADCFC"/>
                </a:solidFill>
                <a:latin typeface="Open Sans"/>
                <a:ea typeface="Open Sans"/>
                <a:cs typeface="Open Sans"/>
                <a:sym typeface="Open Sans"/>
              </a:rPr>
              <a:t>June - December 2026  |  7 Months  |  All Roles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3" name="Google Shape;1153;p27"/>
          <p:cNvSpPr/>
          <p:nvPr/>
        </p:nvSpPr>
        <p:spPr>
          <a:xfrm>
            <a:off x="640080" y="3520440"/>
            <a:ext cx="64008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AD14"/>
              </a:buClr>
              <a:buSzPts val="1400"/>
              <a:buFont typeface="Open Sans"/>
              <a:buNone/>
            </a:pPr>
            <a:r>
              <a:rPr lang="en-US" sz="1400" b="1" i="1" u="none" strike="noStrike" cap="none">
                <a:solidFill>
                  <a:srgbClr val="FAAD14"/>
                </a:solidFill>
                <a:latin typeface="Open Sans"/>
                <a:ea typeface="Open Sans"/>
                <a:cs typeface="Open Sans"/>
                <a:sym typeface="Open Sans"/>
              </a:rPr>
              <a:t>Perform  |  Earn Points  |  Win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4" name="Google Shape;1154;p27"/>
          <p:cNvSpPr/>
          <p:nvPr/>
        </p:nvSpPr>
        <p:spPr>
          <a:xfrm>
            <a:off x="640080" y="4663440"/>
            <a:ext cx="640080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Open Sans"/>
              <a:buNone/>
            </a:pPr>
            <a:r>
              <a:rPr lang="en-US" sz="1000" b="0" i="1" u="none" strike="noStrike" cap="none">
                <a:solidFill>
                  <a:srgbClr val="CADCFC"/>
                </a:solidFill>
                <a:latin typeface="Open Sans"/>
                <a:ea typeface="Open Sans"/>
                <a:cs typeface="Open Sans"/>
                <a:sym typeface="Open Sans"/>
              </a:rPr>
              <a:t>ZETA SPRINT 2026  |  Points Calculator &amp; Complete Guide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C5F3FA9-5212-97CB-3B67-853EAD25B5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9329" y="9075"/>
            <a:ext cx="3892378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950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1177654712]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F16D40E-EB77-4D82-BBF8-8165DC0BEA43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0aec3906-8504-42ca-a66f-331297dcfdf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139</TotalTime>
  <Words>1730</Words>
  <Application>Microsoft Office PowerPoint</Application>
  <PresentationFormat>On-screen Show (16:9)</PresentationFormat>
  <Paragraphs>529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Open Sans</vt:lpstr>
      <vt:lpstr>Arial</vt:lpstr>
      <vt:lpstr>Montserrat</vt:lpstr>
      <vt:lpstr>Calibri</vt:lpstr>
      <vt:lpstr>Office Theme [1781177654712]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Dell</dc:creator>
  <cp:lastModifiedBy>Ahmed Abdullah</cp:lastModifiedBy>
  <cp:revision>7</cp:revision>
  <dcterms:modified xsi:type="dcterms:W3CDTF">2026-07-06T11:17:46Z</dcterms:modified>
</cp:coreProperties>
</file>