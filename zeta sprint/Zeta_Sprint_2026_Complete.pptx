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25"/>
  </p:notesMasterIdLst>
  <p:sldIdLst>
    <p:sldId id="283" r:id="rId2"/>
    <p:sldId id="284" r:id="rId3"/>
    <p:sldId id="305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3" r:id="rId12"/>
    <p:sldId id="292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</p:sldIdLst>
  <p:sldSz cx="9144000" cy="5143500" type="screen16x9"/>
  <p:notesSz cx="5143500" cy="914400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6" name="Google Shape;68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4" name="Google Shape;67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1" name="Google Shape;72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6" name="Google Shape;75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1" name="Google Shape;7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6" name="Google Shape;82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1" name="Google Shape;86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3" name="Google Shape;87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7" name="Google Shape;99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9" name="Google Shape;100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9" name="Google Shape;104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0" name="Google Shape;105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2" name="Google Shape;114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hmedabdallahsfe-ai.github.io/Zeta-Sprint-Points-Calculato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https://ahmedabdallahsfe-ai.github.io/Zeta-Sprint-Points-Calculator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hmedabdallahsfe-ai.github.io/Zeta-Sprint-Points-Calculator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hmedabdallahsfe-ai.github.io/Zeta-Sprint-Points-Calculator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hmedabdallahsfe-ai.github.io/Zeta-Sprint-Points-Calculator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>
            <a:alpha val="100000"/>
          </a:srgb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FAAD14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87680" y="704088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5400"/>
              <a:buFont typeface="Open Sans"/>
              <a:buNone/>
            </a:pPr>
            <a:r>
              <a:rPr lang="en-US" sz="5400" b="1" i="0" u="none" strike="noStrike" cap="none" dirty="0">
                <a:solidFill>
                  <a:srgbClr val="0F2557"/>
                </a:solidFill>
                <a:latin typeface="Montserrat"/>
                <a:ea typeface="Montserrat"/>
                <a:cs typeface="Montserrat"/>
                <a:sym typeface="Montserrat"/>
              </a:rPr>
              <a:t>ZETA SPRINT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1572768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2200"/>
              <a:buFont typeface="Open Sans"/>
              <a:buNone/>
            </a:pPr>
            <a:r>
              <a:rPr lang="en-US" sz="2200" b="0" i="0" u="none" strike="noStrike" cap="none">
                <a:solidFill>
                  <a:srgbClr val="1E50C9"/>
                </a:solidFill>
                <a:latin typeface="Open Sans"/>
                <a:ea typeface="Open Sans"/>
                <a:cs typeface="Open Sans"/>
                <a:sym typeface="Open Sans"/>
              </a:rPr>
              <a:t>2026 Sales Competition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2057400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86"/>
              </a:buClr>
              <a:buSzPts val="1600"/>
              <a:buFont typeface="Open Sans"/>
              <a:buNone/>
            </a:pPr>
            <a:r>
              <a:rPr lang="en-US" sz="1600" b="0" i="0" u="none" strike="noStrike" cap="none">
                <a:solidFill>
                  <a:srgbClr val="5B6B86"/>
                </a:solidFill>
                <a:latin typeface="Open Sans"/>
                <a:ea typeface="Open Sans"/>
                <a:cs typeface="Open Sans"/>
                <a:sym typeface="Open Sans"/>
              </a:rPr>
              <a:t>Points Calculator &amp; Complete Guide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2542032"/>
            <a:ext cx="2743200" cy="45720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40080" y="2670048"/>
            <a:ext cx="4451465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300"/>
              <a:buFont typeface="Open Sans"/>
              <a:buNone/>
            </a:pPr>
            <a:r>
              <a:rPr lang="en-US" sz="1300" b="0" i="0" u="none" strike="noStrike" cap="none" dirty="0">
                <a:solidFill>
                  <a:srgbClr val="6B7A93"/>
                </a:solidFill>
                <a:latin typeface="Open Sans"/>
                <a:ea typeface="Open Sans"/>
                <a:cs typeface="Open Sans"/>
                <a:sym typeface="Open Sans"/>
              </a:rPr>
              <a:t>June (pilot for verification) - December 2026  |  6 Months  |  All Roles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40080" y="315468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9804"/>
            </a:srgbClr>
          </a:solidFill>
          <a:ln w="1905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85799" y="3154680"/>
            <a:ext cx="6809509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50C9"/>
              </a:buClr>
              <a:buSzPts val="1600"/>
            </a:pPr>
            <a:r>
              <a:rPr lang="en-US" sz="900" dirty="0">
                <a:solidFill>
                  <a:srgbClr val="1E50C9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https://ahmedabdallahsfe-ai.github.io/Zeta-Sprint-Points-Calculator/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40080" y="385876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200"/>
              <a:buFont typeface="Open Sans"/>
              <a:buNone/>
            </a:pPr>
            <a:r>
              <a:rPr lang="en-US" sz="1200" b="0" i="1" u="none" strike="noStrike" cap="none" dirty="0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Perform  |  Earn Points  |  Win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6B7544-F666-8BF2-EF85-69DDC1459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329" y="9075"/>
            <a:ext cx="38923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29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is Zeta Sprint?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74320" y="100584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11480" y="1234440"/>
            <a:ext cx="502920" cy="502920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11480" y="1234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51560" y="107899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2026 Sales Competition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51560" y="141732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 dirty="0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June ( Pilot for verification)- December  |  6 months  |  All Roles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74320" y="1005840"/>
            <a:ext cx="54864" cy="10972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274320" y="224028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11480" y="2468880"/>
            <a:ext cx="502920" cy="502920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11480" y="2468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51560" y="231343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Scoring System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51560" y="265176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Non-linear curve — higher % earns more pts per unit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90% scores far more than double 45%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74320" y="2240280"/>
            <a:ext cx="54864" cy="10972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274320" y="347472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11480" y="3703320"/>
            <a:ext cx="502920" cy="502920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11480" y="3703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🏅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51560" y="354787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Competition Levels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51560" y="388620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Monthly Sprint  |  Quarterly  |  Annual Marathon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74320" y="3474720"/>
            <a:ext cx="54864" cy="10972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394960" y="10058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5486400" y="105156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F2557"/>
                </a:solidFill>
                <a:latin typeface="Montserrat"/>
                <a:ea typeface="Montserrat"/>
                <a:cs typeface="Montserrat"/>
                <a:sym typeface="Montserrat"/>
              </a:rPr>
              <a:t>How It 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486400" y="1389888"/>
            <a:ext cx="3291840" cy="1307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Char char="•"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Points collected every month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Char char="•"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Your performance = your points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Char char="•"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Higher points = higher ranking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Char char="•"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Quarter &amp; Annual = cumulative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394960" y="292608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486400" y="297180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F2557"/>
                </a:solidFill>
                <a:latin typeface="Montserrat"/>
                <a:ea typeface="Montserrat"/>
                <a:cs typeface="Montserrat"/>
                <a:sym typeface="Montserrat"/>
              </a:rPr>
              <a:t>Important Rules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486400" y="3310128"/>
            <a:ext cx="329184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Char char="•"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Active employees only (after probation)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Char char="•"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Record visits on time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Char char="•"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Sync data daily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Char char="•"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Record all leaves &amp; activities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Char char="•"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Record all double visits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022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Winner Pool — How Winners Are Determined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74320" y="100584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11480" y="1234440"/>
            <a:ext cx="502920" cy="502920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11480" y="1234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51560" y="107899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Eligibility Gate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51560" y="141732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Rep's KPI % must meet or exceed their own Line's Average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74320" y="1005840"/>
            <a:ext cx="54864" cy="10972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274320" y="224028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11480" y="2468880"/>
            <a:ext cx="502920" cy="502920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11480" y="2468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51560" y="231343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Required KPIs by Role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51560" y="265176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Medical Rep: Sales + Right Frequency + Coverage (all 3)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CHC Sales Rep: Sales + Coverage only (no Right Frequency)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74320" y="2240280"/>
            <a:ext cx="54864" cy="10972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274320" y="347472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11480" y="3703320"/>
            <a:ext cx="502920" cy="502920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11480" y="3703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51560" y="354787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Ranking &amp; Tie Rule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51560" y="388620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Top 2 per Line by Points win; a tied Runner-Up becomes Co-Winner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74320" y="3474720"/>
            <a:ext cx="54864" cy="10972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394960" y="10058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5486400" y="105156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F2557"/>
                </a:solidFill>
                <a:latin typeface="Montserrat"/>
                <a:ea typeface="Montserrat"/>
                <a:cs typeface="Montserrat"/>
                <a:sym typeface="Montserrat"/>
              </a:rPr>
              <a:t>How Winner Pool 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486400" y="1389888"/>
            <a:ext cx="3291840" cy="1307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Char char="•"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Eligible reps = cleared Line Average on every required KPI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Char char="•"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Eligible reps ranked by Total Points within their 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Char char="•"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Top 2 ranked reps = Winner (#1) and Runner-Up (#2)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Char char="•"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Applies equally to Monthly Sprint, Quarterly &amp; Annual Marathon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394960" y="292608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486400" y="297180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F2557"/>
                </a:solidFill>
                <a:latin typeface="Montserrat"/>
                <a:ea typeface="Montserrat"/>
                <a:cs typeface="Montserrat"/>
                <a:sym typeface="Montserrat"/>
              </a:rPr>
              <a:t>Key Rules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486400" y="3310128"/>
            <a:ext cx="329184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Char char="•"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Gate is Line AVERAGE — updated Aug 2026 (previously Line Median)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Char char="•"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Must clear the gate on ALL required KPIs — partial clears don't qualify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Char char="•"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CHC Sales Rep is NOT scored or gated on Right Frequency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Char char="•"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A #2 rep tied in points with #1 is promoted to Co-Winner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Char char="•"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No eligible reps in a Line = no Monthly Sprint winner that cycle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0220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320040" y="914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Recognition Structure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766560" y="914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C53D"/>
              </a:buClr>
              <a:buSzPts val="1100"/>
              <a:buFont typeface="Open Sans"/>
              <a:buNone/>
            </a:pPr>
            <a:r>
              <a:rPr lang="en-US" sz="1100" b="0" i="0" u="none" strike="noStrike" cap="none">
                <a:solidFill>
                  <a:srgbClr val="FFC53D"/>
                </a:solidFill>
                <a:latin typeface="Open Sans"/>
                <a:ea typeface="Open Sans"/>
                <a:cs typeface="Open Sans"/>
                <a:sym typeface="Open Sans"/>
              </a:rPr>
              <a:t>All Roles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274320" y="960120"/>
            <a:ext cx="329184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20040" y="9601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Role Group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566160" y="960120"/>
            <a:ext cx="1645920" cy="411480"/>
          </a:xfrm>
          <a:prstGeom prst="rect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611880" y="9601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Monthly Sprinters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212080" y="960120"/>
            <a:ext cx="1645920" cy="411480"/>
          </a:xfrm>
          <a:prstGeom prst="rect">
            <a:avLst/>
          </a:prstGeom>
          <a:solidFill>
            <a:srgbClr val="722ED1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257800" y="9601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Quarter Champions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858000" y="960120"/>
            <a:ext cx="1828800" cy="411480"/>
          </a:xfrm>
          <a:prstGeom prst="rect">
            <a:avLst/>
          </a:prstGeom>
          <a:solidFill>
            <a:srgbClr val="FA8C16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903720" y="96012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Marathon Winners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74320" y="1371600"/>
            <a:ext cx="329184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566160" y="1371600"/>
            <a:ext cx="164592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212080" y="1371600"/>
            <a:ext cx="164592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858000" y="1371600"/>
            <a:ext cx="182880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274320" y="1371600"/>
            <a:ext cx="54864" cy="914400"/>
          </a:xfrm>
          <a:prstGeom prst="rect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365760" y="1444752"/>
            <a:ext cx="3108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1E50C9"/>
                </a:solidFill>
                <a:latin typeface="Montserrat"/>
                <a:ea typeface="Montserrat"/>
                <a:cs typeface="Montserrat"/>
                <a:sym typeface="Montserrat"/>
              </a:rPr>
              <a:t>Medical Rep / Sales Rep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611880" y="1444752"/>
            <a:ext cx="155448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2 PER Line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257800" y="1444752"/>
            <a:ext cx="155448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2 PER Line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903720" y="144475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 dirty="0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2 PER Line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274320" y="2286000"/>
            <a:ext cx="3291840" cy="9144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3566160" y="2286000"/>
            <a:ext cx="1645920" cy="9144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5212080" y="2286000"/>
            <a:ext cx="1645920" cy="9144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858000" y="2286000"/>
            <a:ext cx="1828800" cy="9144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274320" y="2286000"/>
            <a:ext cx="54864" cy="914400"/>
          </a:xfrm>
          <a:prstGeom prst="rect">
            <a:avLst/>
          </a:prstGeom>
          <a:solidFill>
            <a:srgbClr val="722ED1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365760" y="2359152"/>
            <a:ext cx="3108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22ED1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722ED1"/>
                </a:solidFill>
                <a:latin typeface="Montserrat"/>
                <a:ea typeface="Montserrat"/>
                <a:cs typeface="Montserrat"/>
                <a:sym typeface="Montserrat"/>
              </a:rPr>
              <a:t>District Manager / Sales Supervisor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611880" y="2359152"/>
            <a:ext cx="155448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2 PER BU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257800" y="2359152"/>
            <a:ext cx="155448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2 PER BU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903720" y="235915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2 PER BU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74320" y="3200400"/>
            <a:ext cx="329184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566160" y="3200400"/>
            <a:ext cx="164592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5212080" y="3200400"/>
            <a:ext cx="164592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858000" y="3200400"/>
            <a:ext cx="182880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274320" y="3200400"/>
            <a:ext cx="54864" cy="914400"/>
          </a:xfrm>
          <a:prstGeom prst="rect">
            <a:avLst/>
          </a:prstGeom>
          <a:solidFill>
            <a:srgbClr val="FA8C16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365760" y="3273552"/>
            <a:ext cx="3108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Area Sales Manager / National Sales Manager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611880" y="3273552"/>
            <a:ext cx="155448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 PER Corp.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257800" y="3273552"/>
            <a:ext cx="155448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 PER Corp.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903720" y="327355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 PER Corp.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74320" y="4114800"/>
            <a:ext cx="3291840" cy="9144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3566160" y="4114800"/>
            <a:ext cx="1645920" cy="9144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212080" y="4114800"/>
            <a:ext cx="1645920" cy="9144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858000" y="4114800"/>
            <a:ext cx="1828800" cy="9144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D8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274320" y="4114800"/>
            <a:ext cx="54864" cy="914400"/>
          </a:xfrm>
          <a:prstGeom prst="rect">
            <a:avLst/>
          </a:prstGeom>
          <a:solidFill>
            <a:srgbClr val="52C41A"/>
          </a:solidFill>
          <a:ln w="12700" cap="flat" cmpd="sng">
            <a:solidFill>
              <a:srgbClr val="52C4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365760" y="4187952"/>
            <a:ext cx="3108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C41A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52C41A"/>
                </a:solidFill>
                <a:latin typeface="Montserrat"/>
                <a:ea typeface="Montserrat"/>
                <a:cs typeface="Montserrat"/>
                <a:sym typeface="Montserrat"/>
              </a:rPr>
              <a:t>Brand Managers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611880" y="4187952"/>
            <a:ext cx="155448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—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257800" y="4187952"/>
            <a:ext cx="155448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2 PER Corp.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903720" y="418795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2 PER Corp.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74320" y="4663440"/>
            <a:ext cx="8595360" cy="365760"/>
          </a:xfrm>
          <a:prstGeom prst="roundRect">
            <a:avLst>
              <a:gd name="adj" fmla="val 20000"/>
            </a:avLst>
          </a:prstGeom>
          <a:solidFill>
            <a:srgbClr val="EFF3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950"/>
              <a:buFont typeface="Open Sans"/>
              <a:buNone/>
            </a:pPr>
            <a:r>
              <a:rPr lang="en-US" sz="950" b="0" i="1" u="none" strike="noStrike" cap="none" dirty="0">
                <a:solidFill>
                  <a:srgbClr val="1E50C9"/>
                </a:solidFill>
                <a:latin typeface="Open Sans"/>
                <a:ea typeface="Open Sans"/>
                <a:cs typeface="Open Sans"/>
                <a:sym typeface="Open Sans"/>
              </a:rPr>
              <a:t>1 Yearly Corporate Champion awarded at al level — highest points across all over year *competitions start.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580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557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731520" y="1417320"/>
            <a:ext cx="1005840" cy="1005840"/>
          </a:xfrm>
          <a:prstGeom prst="ellipse">
            <a:avLst/>
          </a:prstGeom>
          <a:solidFill>
            <a:srgbClr val="FAAD14">
              <a:alpha val="80000"/>
            </a:srgbClr>
          </a:solidFill>
          <a:ln w="254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89281" y="228600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ontserrat"/>
              <a:buNone/>
            </a:pPr>
            <a:r>
              <a:rPr lang="en-US" sz="3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Points Calculation</a:t>
            </a:r>
            <a:endParaRPr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40080" y="32461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53D"/>
              </a:buClr>
              <a:buSzPts val="1600"/>
              <a:buFont typeface="Open Sans"/>
              <a:buNone/>
            </a:pPr>
            <a:r>
              <a:rPr lang="en-US" sz="1600" b="0" i="0" u="none" strike="noStrike" cap="none">
                <a:solidFill>
                  <a:srgbClr val="FFC53D"/>
                </a:solidFill>
                <a:latin typeface="Open Sans"/>
                <a:ea typeface="Open Sans"/>
                <a:cs typeface="Open Sans"/>
                <a:sym typeface="Open Sans"/>
              </a:rPr>
              <a:t>Role-Based KPI Scoring System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40080" y="4754880"/>
            <a:ext cx="2286000" cy="54864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35F429-DF39-BC0E-F2A0-44BAE70C5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329" y="9075"/>
            <a:ext cx="38923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91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Points Calculation — Medical Rep (MSR)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74320" y="9601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274320" y="9601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Total: 100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286000" y="96012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2286000" y="9601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Sales Achievement  |  50 pts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526280" y="96012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722ED1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526280" y="9601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Right Frequency  |  40 pts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766560" y="96012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52C41A"/>
          </a:solidFill>
          <a:ln w="12700" cap="flat" cmpd="sng">
            <a:solidFill>
              <a:srgbClr val="52C4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6766560" y="9601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Coverage  |  10 pts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74320" y="14173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274320" y="1417320"/>
            <a:ext cx="265176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65760" y="14173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Sales Achievement  —  Max 50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74320" y="1828800"/>
            <a:ext cx="1644091" cy="44958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320040" y="1828800"/>
            <a:ext cx="1552651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Achievement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918411" y="1828800"/>
            <a:ext cx="1007669" cy="44958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964131" y="1828800"/>
            <a:ext cx="916229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74320" y="2278380"/>
            <a:ext cx="1644091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918411" y="2278380"/>
            <a:ext cx="1007669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320040" y="2278380"/>
            <a:ext cx="1552651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 dirty="0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60-84%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964131" y="2278380"/>
            <a:ext cx="916229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 dirty="0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.0.5-11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74320" y="2727960"/>
            <a:ext cx="1644091" cy="4495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1918411" y="2727960"/>
            <a:ext cx="1007669" cy="4495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320040" y="2727960"/>
            <a:ext cx="1552651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85-99%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964131" y="2727960"/>
            <a:ext cx="916229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 dirty="0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11.8-24.1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74320" y="3177540"/>
            <a:ext cx="1644091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918411" y="3177540"/>
            <a:ext cx="1007669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320040" y="3177540"/>
            <a:ext cx="1552651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964131" y="3177540"/>
            <a:ext cx="916229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274320" y="3627120"/>
            <a:ext cx="1644091" cy="4495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1918411" y="3627120"/>
            <a:ext cx="1007669" cy="4495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320040" y="3627120"/>
            <a:ext cx="1552651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101-115%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964131" y="3627120"/>
            <a:ext cx="916229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26-36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274320" y="4076700"/>
            <a:ext cx="1644091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1918411" y="4076700"/>
            <a:ext cx="1007669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320040" y="4076700"/>
            <a:ext cx="1552651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116-130%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964131" y="4076700"/>
            <a:ext cx="916229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37-50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108960" y="141732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3108960" y="1417320"/>
            <a:ext cx="265176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3200400" y="14173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Right Frequency  —  Max 40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108960" y="1828800"/>
            <a:ext cx="1644091" cy="530352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3154680" y="1828800"/>
            <a:ext cx="1552651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Achievement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753051" y="1828800"/>
            <a:ext cx="1007669" cy="530352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798771" y="1828800"/>
            <a:ext cx="916229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108960" y="2359152"/>
            <a:ext cx="1644091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753051" y="2359152"/>
            <a:ext cx="1007669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3154680" y="2359152"/>
            <a:ext cx="1552651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60-74%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798771" y="2359152"/>
            <a:ext cx="916229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1-10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3108960" y="2889504"/>
            <a:ext cx="1644091" cy="53035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4753051" y="2889504"/>
            <a:ext cx="1007669" cy="53035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3154680" y="2889504"/>
            <a:ext cx="1552651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75-89%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798771" y="2889504"/>
            <a:ext cx="916229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11-25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108960" y="3419856"/>
            <a:ext cx="1644091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4753051" y="3419856"/>
            <a:ext cx="1007669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3154680" y="3419856"/>
            <a:ext cx="1552651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90-99%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798771" y="3419856"/>
            <a:ext cx="916229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26-39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108960" y="3950208"/>
            <a:ext cx="1644091" cy="53035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4753051" y="3950208"/>
            <a:ext cx="1007669" cy="53035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3154680" y="3950208"/>
            <a:ext cx="1552651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798771" y="3950208"/>
            <a:ext cx="916229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40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5943600" y="1417320"/>
            <a:ext cx="28803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5943600" y="1417320"/>
            <a:ext cx="288036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6035040" y="14173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Coverage  —  Max 10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943600" y="1828800"/>
            <a:ext cx="1785823" cy="438912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5989320" y="1828800"/>
            <a:ext cx="1694383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Achievement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7729423" y="1828800"/>
            <a:ext cx="1094537" cy="438912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7775143" y="1828800"/>
            <a:ext cx="1003097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5943600" y="2267712"/>
            <a:ext cx="1785823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7729423" y="2267712"/>
            <a:ext cx="1094537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5989320" y="2267712"/>
            <a:ext cx="1694383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90-93%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7775143" y="2267712"/>
            <a:ext cx="1003097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1-3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943600" y="2706624"/>
            <a:ext cx="1785823" cy="43891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7729423" y="2706624"/>
            <a:ext cx="1094537" cy="43891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5989320" y="2706624"/>
            <a:ext cx="1694383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94-96%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7775143" y="2706624"/>
            <a:ext cx="1003097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4-6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943600" y="3145536"/>
            <a:ext cx="1785823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7729423" y="3145536"/>
            <a:ext cx="1094537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5989320" y="3145536"/>
            <a:ext cx="1694383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97-99%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7775143" y="3145536"/>
            <a:ext cx="1003097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7-9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943600" y="3584448"/>
            <a:ext cx="1785823" cy="43891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7729423" y="3584448"/>
            <a:ext cx="1094537" cy="43891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5989320" y="3584448"/>
            <a:ext cx="1694383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7775143" y="3584448"/>
            <a:ext cx="1003097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EFF3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950"/>
              <a:buFont typeface="Open Sans"/>
              <a:buNone/>
            </a:pPr>
            <a:r>
              <a:rPr lang="en-US" sz="950" b="0" i="1" u="none" strike="noStrike" cap="none">
                <a:solidFill>
                  <a:srgbClr val="1E50C9"/>
                </a:solidFill>
                <a:latin typeface="Open Sans"/>
                <a:ea typeface="Open Sans"/>
                <a:cs typeface="Open Sans"/>
                <a:sym typeface="Open Sans"/>
              </a:rPr>
              <a:t>KPI Threshold to score: Sales 70%  |  Right Freq 60%  |  Coverage 90%. Points may be updated quarterly.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2182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Points Calculation — CHC / Sales Rep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274320" y="9601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274320" y="9601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Total: 100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2286000" y="96012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2286000" y="96012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Sales Achievement  |  60 pts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754880" y="96012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52C41A"/>
          </a:solidFill>
          <a:ln w="12700" cap="flat" cmpd="sng">
            <a:solidFill>
              <a:srgbClr val="52C4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4754880" y="96012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Coverage  |  40 pts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274320" y="141732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274320" y="1417320"/>
            <a:ext cx="384048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365760" y="14173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Sales Achievement  —  Max 60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274320" y="1828800"/>
            <a:ext cx="2381098" cy="44958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320040" y="1828800"/>
            <a:ext cx="2289658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Achievement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2655418" y="1828800"/>
            <a:ext cx="1459382" cy="44958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2701138" y="1828800"/>
            <a:ext cx="1367942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274320" y="2278380"/>
            <a:ext cx="2381098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2655418" y="2278380"/>
            <a:ext cx="1459382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320040" y="2278380"/>
            <a:ext cx="2289658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70-84%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2701138" y="2278380"/>
            <a:ext cx="1367942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1-13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274320" y="2727960"/>
            <a:ext cx="2381098" cy="4495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2655418" y="2727960"/>
            <a:ext cx="1459382" cy="4495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320040" y="2727960"/>
            <a:ext cx="2289658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85-99%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2701138" y="2727960"/>
            <a:ext cx="1367942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14-29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274320" y="3177540"/>
            <a:ext cx="2381098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2655418" y="3177540"/>
            <a:ext cx="1459382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320040" y="3177540"/>
            <a:ext cx="2289658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2701138" y="3177540"/>
            <a:ext cx="1367942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274320" y="3627120"/>
            <a:ext cx="2381098" cy="4495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2655418" y="3627120"/>
            <a:ext cx="1459382" cy="4495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320040" y="3627120"/>
            <a:ext cx="2289658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101-115%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2701138" y="3627120"/>
            <a:ext cx="1367942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21-43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274320" y="4076700"/>
            <a:ext cx="2381098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2655418" y="4076700"/>
            <a:ext cx="1459382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320040" y="4076700"/>
            <a:ext cx="2289658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116-130%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2701138" y="4076700"/>
            <a:ext cx="1367942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44-60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297680" y="1417320"/>
            <a:ext cx="38404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4297680" y="1417320"/>
            <a:ext cx="384048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4389120" y="14173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Coverage  —  Max 40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297680" y="1828800"/>
            <a:ext cx="2381098" cy="530352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4343400" y="1828800"/>
            <a:ext cx="228965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Achievement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6678778" y="1828800"/>
            <a:ext cx="1459382" cy="530352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6724498" y="1828800"/>
            <a:ext cx="136794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4297680" y="2359152"/>
            <a:ext cx="2381098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6678778" y="2359152"/>
            <a:ext cx="1459382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4343400" y="2359152"/>
            <a:ext cx="228965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60-74%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724498" y="2359152"/>
            <a:ext cx="136794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1-10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297680" y="2889504"/>
            <a:ext cx="2381098" cy="53035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6678778" y="2889504"/>
            <a:ext cx="1459382" cy="53035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4343400" y="2889504"/>
            <a:ext cx="228965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75-89%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6724498" y="2889504"/>
            <a:ext cx="136794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11-25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297680" y="3419856"/>
            <a:ext cx="2381098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6678778" y="3419856"/>
            <a:ext cx="1459382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4343400" y="3419856"/>
            <a:ext cx="228965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90-99%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724498" y="3419856"/>
            <a:ext cx="136794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26-39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297680" y="3950208"/>
            <a:ext cx="2381098" cy="53035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6678778" y="3950208"/>
            <a:ext cx="1459382" cy="53035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4343400" y="3950208"/>
            <a:ext cx="228965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724498" y="3950208"/>
            <a:ext cx="136794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40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EFF3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950"/>
              <a:buFont typeface="Open Sans"/>
              <a:buNone/>
            </a:pPr>
            <a:r>
              <a:rPr lang="en-US" sz="950" b="0" i="1" u="none" strike="noStrike" cap="none">
                <a:solidFill>
                  <a:srgbClr val="1E50C9"/>
                </a:solidFill>
                <a:latin typeface="Open Sans"/>
                <a:ea typeface="Open Sans"/>
                <a:cs typeface="Open Sans"/>
                <a:sym typeface="Open Sans"/>
              </a:rPr>
              <a:t>KPI Threshold to score: Sales 70%  |  Coverage 90%. Points accumulate cumulatively.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5623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Points Calculation — District Manager (DM/DSM)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274320" y="9601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274320" y="9601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Total: 100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286000" y="96012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2286000" y="96012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Open Sans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Team Avg Score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Open Sans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70 pts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3977640" y="96012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722ED1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3977640" y="96012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Open Sans"/>
              <a:buNone/>
            </a:pPr>
            <a:r>
              <a:rPr lang="en-US" sz="85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Field Days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Open Sans"/>
              <a:buNone/>
            </a:pPr>
            <a:r>
              <a:rPr lang="en-US" sz="85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 pts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669280" y="96012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52C41A"/>
          </a:solidFill>
          <a:ln w="12700" cap="flat" cmpd="sng">
            <a:solidFill>
              <a:srgbClr val="52C4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5669280" y="96012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Open Sans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DV Coverage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Open Sans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 pts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7360920" y="96012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A8C16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7360920" y="96012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Open Sans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Calls/DV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Open Sans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 pts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274320" y="141732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274320" y="1417320"/>
            <a:ext cx="274320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36576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Avg Performance Score  —  Max 70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274320" y="1828800"/>
            <a:ext cx="1700784" cy="38862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320040" y="1828800"/>
            <a:ext cx="1609344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Achievement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1975104" y="1828800"/>
            <a:ext cx="1042416" cy="38862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2020824" y="1828800"/>
            <a:ext cx="950976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274320" y="2217420"/>
            <a:ext cx="1700784" cy="3886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1975104" y="2217420"/>
            <a:ext cx="1042416" cy="3886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320040" y="2217420"/>
            <a:ext cx="1609344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Team 1-20%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2020824" y="2217420"/>
            <a:ext cx="950976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0.7-14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274320" y="2606040"/>
            <a:ext cx="1700784" cy="3886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1975104" y="2606040"/>
            <a:ext cx="1042416" cy="3886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320040" y="2606040"/>
            <a:ext cx="1609344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Team 21-40%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2020824" y="2606040"/>
            <a:ext cx="950976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14.7-28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274320" y="2994660"/>
            <a:ext cx="1700784" cy="3886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1975104" y="2994660"/>
            <a:ext cx="1042416" cy="3886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320040" y="2994660"/>
            <a:ext cx="1609344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Team 41-60%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2020824" y="2994660"/>
            <a:ext cx="950976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28.7-42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274320" y="3383280"/>
            <a:ext cx="1700784" cy="3886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1975104" y="3383280"/>
            <a:ext cx="1042416" cy="3886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320040" y="3383280"/>
            <a:ext cx="1609344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Team 61-80%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2020824" y="3383280"/>
            <a:ext cx="950976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42.7-56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274320" y="3771900"/>
            <a:ext cx="1700784" cy="3886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1975104" y="3771900"/>
            <a:ext cx="1042416" cy="3886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320040" y="3771900"/>
            <a:ext cx="1609344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Team 81-100%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2020824" y="3771900"/>
            <a:ext cx="950976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56.7-70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3200400" y="1417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3200400" y="1417320"/>
            <a:ext cx="265176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3291840" y="14173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Field Working Days  —  Max 10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3200400" y="1828800"/>
            <a:ext cx="1644091" cy="38862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3246120" y="1828800"/>
            <a:ext cx="1552651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Achievement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4844491" y="1828800"/>
            <a:ext cx="1007669" cy="38862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4890211" y="1828800"/>
            <a:ext cx="916229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3200400" y="2217420"/>
            <a:ext cx="1644091" cy="3886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4844491" y="2217420"/>
            <a:ext cx="1007669" cy="3886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3246120" y="2217420"/>
            <a:ext cx="1552651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60-69%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4890211" y="2217420"/>
            <a:ext cx="916229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1.0-2.7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3200400" y="2606040"/>
            <a:ext cx="1644091" cy="3886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4844491" y="2606040"/>
            <a:ext cx="1007669" cy="3886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3246120" y="2606040"/>
            <a:ext cx="1552651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70-79%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4890211" y="2606040"/>
            <a:ext cx="916229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2.9-5.0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3200400" y="2994660"/>
            <a:ext cx="1644091" cy="3886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4844491" y="2994660"/>
            <a:ext cx="1007669" cy="3886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3246120" y="2994660"/>
            <a:ext cx="1552651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80-89%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890211" y="2994660"/>
            <a:ext cx="916229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5.2-7.3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3200400" y="3383280"/>
            <a:ext cx="1644091" cy="3886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4844491" y="3383280"/>
            <a:ext cx="1007669" cy="3886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3246120" y="3383280"/>
            <a:ext cx="1552651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90-95%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4890211" y="3383280"/>
            <a:ext cx="916229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7.5-8.8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3200400" y="3771900"/>
            <a:ext cx="1644091" cy="3886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4844491" y="3771900"/>
            <a:ext cx="1007669" cy="3886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3246120" y="3771900"/>
            <a:ext cx="1552651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96-100%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4890211" y="3771900"/>
            <a:ext cx="916229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9.0-10.0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5989320" y="1417320"/>
            <a:ext cx="155448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5989320" y="1417320"/>
            <a:ext cx="155448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6080760" y="14173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DV Coverage  —  Max 10 pts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5989320" y="1828800"/>
            <a:ext cx="963778" cy="393192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6035040" y="1828800"/>
            <a:ext cx="87233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6953098" y="1828800"/>
            <a:ext cx="590702" cy="393192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6998818" y="1828800"/>
            <a:ext cx="499262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5989320" y="2221992"/>
            <a:ext cx="963778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6953098" y="2221992"/>
            <a:ext cx="590702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6035040" y="2221992"/>
            <a:ext cx="87233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80-87%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6998818" y="2221992"/>
            <a:ext cx="499262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1.0-3.8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5989320" y="2615184"/>
            <a:ext cx="963778" cy="39319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6953098" y="2615184"/>
            <a:ext cx="590702" cy="39319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6035040" y="2615184"/>
            <a:ext cx="87233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88-93%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6998818" y="2615184"/>
            <a:ext cx="499262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4.3-6.6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5989320" y="3008376"/>
            <a:ext cx="963778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6953098" y="3008376"/>
            <a:ext cx="590702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6035040" y="3008376"/>
            <a:ext cx="87233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94-97%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6998818" y="3008376"/>
            <a:ext cx="499262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7.1-8.5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5989320" y="3401568"/>
            <a:ext cx="963778" cy="39319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6953098" y="3401568"/>
            <a:ext cx="590702" cy="39319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6035040" y="3401568"/>
            <a:ext cx="87233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98-100%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6998818" y="3401568"/>
            <a:ext cx="499262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9-10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7635240" y="1417320"/>
            <a:ext cx="1234440" cy="2377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7635240" y="1417320"/>
            <a:ext cx="123444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7726680" y="141732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ontserrat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Calls/DV  —  Max 10 pts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7635240" y="1828800"/>
            <a:ext cx="765353" cy="393192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7680960" y="1828800"/>
            <a:ext cx="673913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8400593" y="1828800"/>
            <a:ext cx="469087" cy="393192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8446313" y="1828800"/>
            <a:ext cx="377647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7635240" y="2221992"/>
            <a:ext cx="765353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8400593" y="2221992"/>
            <a:ext cx="469087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7680960" y="2221992"/>
            <a:ext cx="673913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90-92%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8446313" y="2221992"/>
            <a:ext cx="377647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6.1-6.9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7635240" y="2615184"/>
            <a:ext cx="765353" cy="39319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8400593" y="2615184"/>
            <a:ext cx="469087" cy="39319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7680960" y="2615184"/>
            <a:ext cx="673913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93-95%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8446313" y="2615184"/>
            <a:ext cx="377647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7.3-8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7635240" y="3008376"/>
            <a:ext cx="765353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8400593" y="3008376"/>
            <a:ext cx="469087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7680960" y="3008376"/>
            <a:ext cx="673913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96-98%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8446313" y="3008376"/>
            <a:ext cx="377647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8.4-9.2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7635240" y="3401568"/>
            <a:ext cx="765353" cy="39319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8400593" y="3401568"/>
            <a:ext cx="469087" cy="39319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7680960" y="3401568"/>
            <a:ext cx="673913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99-100%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8446313" y="3401568"/>
            <a:ext cx="377647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9.6-10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EFF3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0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950"/>
              <a:buFont typeface="Open Sans"/>
              <a:buNone/>
            </a:pPr>
            <a:r>
              <a:rPr lang="en-US" sz="950" b="0" i="1" u="none" strike="noStrike" cap="none">
                <a:solidFill>
                  <a:srgbClr val="1E50C9"/>
                </a:solidFill>
                <a:latin typeface="Open Sans"/>
                <a:ea typeface="Open Sans"/>
                <a:cs typeface="Open Sans"/>
                <a:sym typeface="Open Sans"/>
              </a:rPr>
              <a:t>Quarterly adds: KOL Coverage + Individual Knowledge. Field Days threshold 60% | DV Coverage 80% | Calls/DV 90%.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679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Points Calculation — ASM &amp; NSM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274320" y="960120"/>
            <a:ext cx="54864" cy="3657600"/>
          </a:xfrm>
          <a:prstGeom prst="rect">
            <a:avLst/>
          </a:prstGeom>
          <a:solidFill>
            <a:srgbClr val="722ED1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1"/>
          <p:cNvSpPr/>
          <p:nvPr/>
        </p:nvSpPr>
        <p:spPr>
          <a:xfrm>
            <a:off x="457200" y="9601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22ED1"/>
              </a:buClr>
              <a:buSzPts val="1300"/>
              <a:buFont typeface="Montserrat"/>
              <a:buNone/>
            </a:pPr>
            <a:r>
              <a:rPr lang="en-US" sz="1300" b="1" i="0" u="none" strike="noStrike" cap="none" dirty="0">
                <a:solidFill>
                  <a:srgbClr val="722ED1"/>
                </a:solidFill>
                <a:latin typeface="Montserrat"/>
                <a:ea typeface="Montserrat"/>
                <a:cs typeface="Montserrat"/>
                <a:sym typeface="Montserrat"/>
              </a:rPr>
              <a:t>Area Sales Manager (ASM / NSM 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457200" y="1298448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Total: 100 pts  |  80 pts (DSM Team Avg) + 20 pts (Field Days)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457200" y="1645920"/>
            <a:ext cx="292608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457200" y="1645920"/>
            <a:ext cx="292608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548640" y="16459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DSM Team Avg Score  —  Max 80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457200" y="2057400"/>
            <a:ext cx="1814170" cy="47244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502920" y="2057400"/>
            <a:ext cx="172273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Achievement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2271370" y="2057400"/>
            <a:ext cx="1111910" cy="47244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2317090" y="2057400"/>
            <a:ext cx="102047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457200" y="2529840"/>
            <a:ext cx="1814170" cy="472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2271370" y="2529840"/>
            <a:ext cx="1111910" cy="472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502920" y="2529840"/>
            <a:ext cx="172273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Team 1-20%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2317090" y="2529840"/>
            <a:ext cx="102047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0.8-16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457200" y="3002280"/>
            <a:ext cx="1814170" cy="4724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2271370" y="3002280"/>
            <a:ext cx="1111910" cy="4724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502920" y="3002280"/>
            <a:ext cx="172273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Team 21-40%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2317090" y="3002280"/>
            <a:ext cx="102047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16.8-32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457200" y="3474720"/>
            <a:ext cx="1814170" cy="472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2271370" y="3474720"/>
            <a:ext cx="1111910" cy="472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502920" y="3474720"/>
            <a:ext cx="172273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Team 41-60%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2317090" y="3474720"/>
            <a:ext cx="102047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32.8-48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457200" y="3947160"/>
            <a:ext cx="1814170" cy="4724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1"/>
          <p:cNvSpPr/>
          <p:nvPr/>
        </p:nvSpPr>
        <p:spPr>
          <a:xfrm>
            <a:off x="2271370" y="3947160"/>
            <a:ext cx="1111910" cy="4724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502920" y="3947160"/>
            <a:ext cx="172273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Team 61-80%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2317090" y="3947160"/>
            <a:ext cx="102047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48.8-64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457200" y="4419600"/>
            <a:ext cx="1814170" cy="472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2271370" y="4419600"/>
            <a:ext cx="1111910" cy="472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502920" y="4419600"/>
            <a:ext cx="172273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Team 81-100%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2317090" y="4419600"/>
            <a:ext cx="102047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64.8-80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3566160" y="164592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1"/>
          <p:cNvSpPr/>
          <p:nvPr/>
        </p:nvSpPr>
        <p:spPr>
          <a:xfrm>
            <a:off x="3566160" y="1645920"/>
            <a:ext cx="274320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1"/>
          <p:cNvSpPr/>
          <p:nvPr/>
        </p:nvSpPr>
        <p:spPr>
          <a:xfrm>
            <a:off x="3657600" y="16459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Field Working Days  —  Max 20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3566160" y="2057400"/>
            <a:ext cx="1700784" cy="47244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3611880" y="2057400"/>
            <a:ext cx="1609344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Achievement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5266944" y="2057400"/>
            <a:ext cx="1042416" cy="47244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1"/>
          <p:cNvSpPr/>
          <p:nvPr/>
        </p:nvSpPr>
        <p:spPr>
          <a:xfrm>
            <a:off x="5312664" y="2057400"/>
            <a:ext cx="950976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3566160" y="2529840"/>
            <a:ext cx="1700784" cy="472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5266944" y="2529840"/>
            <a:ext cx="1042416" cy="472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1"/>
          <p:cNvSpPr/>
          <p:nvPr/>
        </p:nvSpPr>
        <p:spPr>
          <a:xfrm>
            <a:off x="3611880" y="2529840"/>
            <a:ext cx="1609344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60-69%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5312664" y="2529840"/>
            <a:ext cx="950976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1.0-4.7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3566160" y="3002280"/>
            <a:ext cx="1700784" cy="4724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1"/>
          <p:cNvSpPr/>
          <p:nvPr/>
        </p:nvSpPr>
        <p:spPr>
          <a:xfrm>
            <a:off x="5266944" y="3002280"/>
            <a:ext cx="1042416" cy="4724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1"/>
          <p:cNvSpPr/>
          <p:nvPr/>
        </p:nvSpPr>
        <p:spPr>
          <a:xfrm>
            <a:off x="3611880" y="3002280"/>
            <a:ext cx="1609344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70-79%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1"/>
          <p:cNvSpPr/>
          <p:nvPr/>
        </p:nvSpPr>
        <p:spPr>
          <a:xfrm>
            <a:off x="5312664" y="3002280"/>
            <a:ext cx="950976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5.1-9.4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1"/>
          <p:cNvSpPr/>
          <p:nvPr/>
        </p:nvSpPr>
        <p:spPr>
          <a:xfrm>
            <a:off x="3566160" y="3474720"/>
            <a:ext cx="1700784" cy="472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1"/>
          <p:cNvSpPr/>
          <p:nvPr/>
        </p:nvSpPr>
        <p:spPr>
          <a:xfrm>
            <a:off x="5266944" y="3474720"/>
            <a:ext cx="1042416" cy="472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1"/>
          <p:cNvSpPr/>
          <p:nvPr/>
        </p:nvSpPr>
        <p:spPr>
          <a:xfrm>
            <a:off x="3611880" y="3474720"/>
            <a:ext cx="1609344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80-89%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5312664" y="3474720"/>
            <a:ext cx="950976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9.9-14.3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1"/>
          <p:cNvSpPr/>
          <p:nvPr/>
        </p:nvSpPr>
        <p:spPr>
          <a:xfrm>
            <a:off x="3566160" y="3947160"/>
            <a:ext cx="1700784" cy="4724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1"/>
          <p:cNvSpPr/>
          <p:nvPr/>
        </p:nvSpPr>
        <p:spPr>
          <a:xfrm>
            <a:off x="5266944" y="3947160"/>
            <a:ext cx="1042416" cy="4724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1"/>
          <p:cNvSpPr/>
          <p:nvPr/>
        </p:nvSpPr>
        <p:spPr>
          <a:xfrm>
            <a:off x="3611880" y="3947160"/>
            <a:ext cx="1609344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90-95%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1"/>
          <p:cNvSpPr/>
          <p:nvPr/>
        </p:nvSpPr>
        <p:spPr>
          <a:xfrm>
            <a:off x="5312664" y="3947160"/>
            <a:ext cx="950976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14.8-17.4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1"/>
          <p:cNvSpPr/>
          <p:nvPr/>
        </p:nvSpPr>
        <p:spPr>
          <a:xfrm>
            <a:off x="3566160" y="4419600"/>
            <a:ext cx="1700784" cy="472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1"/>
          <p:cNvSpPr/>
          <p:nvPr/>
        </p:nvSpPr>
        <p:spPr>
          <a:xfrm>
            <a:off x="5266944" y="4419600"/>
            <a:ext cx="1042416" cy="472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1"/>
          <p:cNvSpPr/>
          <p:nvPr/>
        </p:nvSpPr>
        <p:spPr>
          <a:xfrm>
            <a:off x="3611880" y="4419600"/>
            <a:ext cx="1609344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96-100%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1"/>
          <p:cNvSpPr/>
          <p:nvPr/>
        </p:nvSpPr>
        <p:spPr>
          <a:xfrm>
            <a:off x="5312664" y="4419600"/>
            <a:ext cx="950976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17.9-20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1"/>
          <p:cNvSpPr/>
          <p:nvPr/>
        </p:nvSpPr>
        <p:spPr>
          <a:xfrm>
            <a:off x="6537960" y="960120"/>
            <a:ext cx="2331720" cy="39319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1"/>
          <p:cNvSpPr/>
          <p:nvPr/>
        </p:nvSpPr>
        <p:spPr>
          <a:xfrm>
            <a:off x="6537960" y="960120"/>
            <a:ext cx="2331720" cy="347472"/>
          </a:xfrm>
          <a:prstGeom prst="rect">
            <a:avLst/>
          </a:prstGeom>
          <a:solidFill>
            <a:srgbClr val="FA8C16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1"/>
          <p:cNvSpPr/>
          <p:nvPr/>
        </p:nvSpPr>
        <p:spPr>
          <a:xfrm>
            <a:off x="6583680" y="960120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NSM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6583680" y="1353312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National Sales Manager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Total: 100 pts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1"/>
          <p:cNvSpPr/>
          <p:nvPr/>
        </p:nvSpPr>
        <p:spPr>
          <a:xfrm>
            <a:off x="6629400" y="1965960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1"/>
          <p:cNvSpPr/>
          <p:nvPr/>
        </p:nvSpPr>
        <p:spPr>
          <a:xfrm>
            <a:off x="6675120" y="205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1"/>
          <p:cNvSpPr/>
          <p:nvPr/>
        </p:nvSpPr>
        <p:spPr>
          <a:xfrm>
            <a:off x="7178040" y="2020824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000"/>
              <a:buFont typeface="Montserrat"/>
              <a:buNone/>
            </a:pPr>
            <a:r>
              <a:rPr lang="en-US" sz="1000" b="1" i="0" u="none" strike="noStrike" cap="none" dirty="0">
                <a:solidFill>
                  <a:srgbClr val="0F2557"/>
                </a:solidFill>
                <a:latin typeface="Montserrat"/>
                <a:ea typeface="Montserrat"/>
                <a:cs typeface="Montserrat"/>
                <a:sym typeface="Montserrat"/>
              </a:rPr>
              <a:t>ASM / </a:t>
            </a:r>
            <a:r>
              <a:rPr lang="en-US" sz="1000" b="1" i="0" u="none" strike="noStrike" cap="none" dirty="0" err="1">
                <a:solidFill>
                  <a:srgbClr val="0F2557"/>
                </a:solidFill>
                <a:latin typeface="Montserrat"/>
                <a:ea typeface="Montserrat"/>
                <a:cs typeface="Montserrat"/>
                <a:sym typeface="Montserrat"/>
              </a:rPr>
              <a:t>NSMTeam</a:t>
            </a:r>
            <a:r>
              <a:rPr lang="en-US" sz="1000" b="1" i="0" u="none" strike="noStrike" cap="none" dirty="0">
                <a:solidFill>
                  <a:srgbClr val="0F2557"/>
                </a:solidFill>
                <a:latin typeface="Montserrat"/>
                <a:ea typeface="Montserrat"/>
                <a:cs typeface="Montserrat"/>
                <a:sym typeface="Montserrat"/>
              </a:rPr>
              <a:t> Avg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7178040" y="231343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80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1"/>
          <p:cNvSpPr/>
          <p:nvPr/>
        </p:nvSpPr>
        <p:spPr>
          <a:xfrm>
            <a:off x="6629400" y="2743200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1"/>
          <p:cNvSpPr/>
          <p:nvPr/>
        </p:nvSpPr>
        <p:spPr>
          <a:xfrm>
            <a:off x="6675120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◆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1"/>
          <p:cNvSpPr/>
          <p:nvPr/>
        </p:nvSpPr>
        <p:spPr>
          <a:xfrm>
            <a:off x="7178040" y="2798064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1000"/>
              <a:buFont typeface="Montserrat"/>
              <a:buNone/>
            </a:pPr>
            <a:r>
              <a:rPr lang="en-US" sz="1000" b="1" i="0" u="none" strike="noStrike" cap="none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Field Days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1"/>
          <p:cNvSpPr/>
          <p:nvPr/>
        </p:nvSpPr>
        <p:spPr>
          <a:xfrm>
            <a:off x="7178040" y="309067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20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1"/>
          <p:cNvSpPr/>
          <p:nvPr/>
        </p:nvSpPr>
        <p:spPr>
          <a:xfrm>
            <a:off x="6583680" y="3584448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1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Same scoring tables as ASM using ASM team averages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1939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Points Calculation — Brand Manager (BM)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274320" y="9601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274320" y="9601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Total: 100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2286000" y="96012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2"/>
          <p:cNvSpPr/>
          <p:nvPr/>
        </p:nvSpPr>
        <p:spPr>
          <a:xfrm>
            <a:off x="2286000" y="9601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Sales Achievement  |  50 pts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4526280" y="96012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52C41A"/>
          </a:solidFill>
          <a:ln w="12700" cap="flat" cmpd="sng">
            <a:solidFill>
              <a:srgbClr val="52C4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2"/>
          <p:cNvSpPr/>
          <p:nvPr/>
        </p:nvSpPr>
        <p:spPr>
          <a:xfrm>
            <a:off x="4526280" y="9601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Regional Coverage  |  20 pts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2"/>
          <p:cNvSpPr/>
          <p:nvPr/>
        </p:nvSpPr>
        <p:spPr>
          <a:xfrm>
            <a:off x="6766560" y="96012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A8C16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2"/>
          <p:cNvSpPr/>
          <p:nvPr/>
        </p:nvSpPr>
        <p:spPr>
          <a:xfrm>
            <a:off x="6766560" y="9601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Tactical Plan Exec  |  30 pts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274320" y="1417320"/>
            <a:ext cx="2743200" cy="31089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2"/>
          <p:cNvSpPr/>
          <p:nvPr/>
        </p:nvSpPr>
        <p:spPr>
          <a:xfrm>
            <a:off x="274320" y="1417320"/>
            <a:ext cx="274320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36576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Sales Achievement  —  Max 50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274320" y="1828800"/>
            <a:ext cx="1700784" cy="44958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2"/>
          <p:cNvSpPr/>
          <p:nvPr/>
        </p:nvSpPr>
        <p:spPr>
          <a:xfrm>
            <a:off x="320040" y="1828800"/>
            <a:ext cx="1609344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Achievement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1975104" y="1828800"/>
            <a:ext cx="1042416" cy="44958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2"/>
          <p:cNvSpPr/>
          <p:nvPr/>
        </p:nvSpPr>
        <p:spPr>
          <a:xfrm>
            <a:off x="2020824" y="1828800"/>
            <a:ext cx="950976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2"/>
          <p:cNvSpPr/>
          <p:nvPr/>
        </p:nvSpPr>
        <p:spPr>
          <a:xfrm>
            <a:off x="274320" y="2278380"/>
            <a:ext cx="1700784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2"/>
          <p:cNvSpPr/>
          <p:nvPr/>
        </p:nvSpPr>
        <p:spPr>
          <a:xfrm>
            <a:off x="1975104" y="2278380"/>
            <a:ext cx="1042416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2"/>
          <p:cNvSpPr/>
          <p:nvPr/>
        </p:nvSpPr>
        <p:spPr>
          <a:xfrm>
            <a:off x="320040" y="2278380"/>
            <a:ext cx="1609344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70-84%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2"/>
          <p:cNvSpPr/>
          <p:nvPr/>
        </p:nvSpPr>
        <p:spPr>
          <a:xfrm>
            <a:off x="2020824" y="2278380"/>
            <a:ext cx="950976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1-12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274320" y="2727960"/>
            <a:ext cx="1700784" cy="4495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1975104" y="2727960"/>
            <a:ext cx="1042416" cy="4495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320040" y="2727960"/>
            <a:ext cx="1609344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85-99%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/>
          <p:nvPr/>
        </p:nvSpPr>
        <p:spPr>
          <a:xfrm>
            <a:off x="2020824" y="2727960"/>
            <a:ext cx="950976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13-24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2"/>
          <p:cNvSpPr/>
          <p:nvPr/>
        </p:nvSpPr>
        <p:spPr>
          <a:xfrm>
            <a:off x="274320" y="3177540"/>
            <a:ext cx="1700784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2"/>
          <p:cNvSpPr/>
          <p:nvPr/>
        </p:nvSpPr>
        <p:spPr>
          <a:xfrm>
            <a:off x="1975104" y="3177540"/>
            <a:ext cx="1042416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320040" y="3177540"/>
            <a:ext cx="1609344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2020824" y="3177540"/>
            <a:ext cx="950976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274320" y="3627120"/>
            <a:ext cx="1700784" cy="4495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2"/>
          <p:cNvSpPr/>
          <p:nvPr/>
        </p:nvSpPr>
        <p:spPr>
          <a:xfrm>
            <a:off x="1975104" y="3627120"/>
            <a:ext cx="1042416" cy="4495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2"/>
          <p:cNvSpPr/>
          <p:nvPr/>
        </p:nvSpPr>
        <p:spPr>
          <a:xfrm>
            <a:off x="320040" y="3627120"/>
            <a:ext cx="1609344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101-115%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2020824" y="3627120"/>
            <a:ext cx="950976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26-36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274320" y="4076700"/>
            <a:ext cx="1700784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2"/>
          <p:cNvSpPr/>
          <p:nvPr/>
        </p:nvSpPr>
        <p:spPr>
          <a:xfrm>
            <a:off x="1975104" y="4076700"/>
            <a:ext cx="1042416" cy="4495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2"/>
          <p:cNvSpPr/>
          <p:nvPr/>
        </p:nvSpPr>
        <p:spPr>
          <a:xfrm>
            <a:off x="320040" y="4076700"/>
            <a:ext cx="1609344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116-130%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2020824" y="4076700"/>
            <a:ext cx="950976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37-50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2"/>
          <p:cNvSpPr/>
          <p:nvPr/>
        </p:nvSpPr>
        <p:spPr>
          <a:xfrm>
            <a:off x="3200400" y="141732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2"/>
          <p:cNvSpPr/>
          <p:nvPr/>
        </p:nvSpPr>
        <p:spPr>
          <a:xfrm>
            <a:off x="3200400" y="1417320"/>
            <a:ext cx="2560320" cy="411480"/>
          </a:xfrm>
          <a:prstGeom prst="rect">
            <a:avLst/>
          </a:prstGeom>
          <a:solidFill>
            <a:srgbClr val="52C41A"/>
          </a:solidFill>
          <a:ln w="12700" cap="flat" cmpd="sng">
            <a:solidFill>
              <a:srgbClr val="52C4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2"/>
          <p:cNvSpPr/>
          <p:nvPr/>
        </p:nvSpPr>
        <p:spPr>
          <a:xfrm>
            <a:off x="3291840" y="14173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ontserrat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National Sales Region Coverage  —  Max 20 pts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2"/>
          <p:cNvSpPr/>
          <p:nvPr/>
        </p:nvSpPr>
        <p:spPr>
          <a:xfrm>
            <a:off x="3200400" y="1828800"/>
            <a:ext cx="1645920" cy="54864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2"/>
          <p:cNvSpPr/>
          <p:nvPr/>
        </p:nvSpPr>
        <p:spPr>
          <a:xfrm>
            <a:off x="4846320" y="1828800"/>
            <a:ext cx="914400" cy="548640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2"/>
          <p:cNvSpPr/>
          <p:nvPr/>
        </p:nvSpPr>
        <p:spPr>
          <a:xfrm>
            <a:off x="3246120" y="18288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Regions Covered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2"/>
          <p:cNvSpPr/>
          <p:nvPr/>
        </p:nvSpPr>
        <p:spPr>
          <a:xfrm>
            <a:off x="4892040" y="182880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2"/>
          <p:cNvSpPr/>
          <p:nvPr/>
        </p:nvSpPr>
        <p:spPr>
          <a:xfrm>
            <a:off x="3200400" y="2377440"/>
            <a:ext cx="16459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2"/>
          <p:cNvSpPr/>
          <p:nvPr/>
        </p:nvSpPr>
        <p:spPr>
          <a:xfrm>
            <a:off x="4846320" y="2377440"/>
            <a:ext cx="91440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2"/>
          <p:cNvSpPr/>
          <p:nvPr/>
        </p:nvSpPr>
        <p:spPr>
          <a:xfrm>
            <a:off x="3246120" y="23774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3 Regions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2"/>
          <p:cNvSpPr/>
          <p:nvPr/>
        </p:nvSpPr>
        <p:spPr>
          <a:xfrm>
            <a:off x="4892040" y="23774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C41A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52C41A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/>
          <p:nvPr/>
        </p:nvSpPr>
        <p:spPr>
          <a:xfrm>
            <a:off x="3200400" y="2926080"/>
            <a:ext cx="1645920" cy="5486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2"/>
          <p:cNvSpPr/>
          <p:nvPr/>
        </p:nvSpPr>
        <p:spPr>
          <a:xfrm>
            <a:off x="4846320" y="2926080"/>
            <a:ext cx="914400" cy="5486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2"/>
          <p:cNvSpPr/>
          <p:nvPr/>
        </p:nvSpPr>
        <p:spPr>
          <a:xfrm>
            <a:off x="3246120" y="292608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4 Regions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2"/>
          <p:cNvSpPr/>
          <p:nvPr/>
        </p:nvSpPr>
        <p:spPr>
          <a:xfrm>
            <a:off x="4892040" y="292608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C41A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52C41A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2"/>
          <p:cNvSpPr/>
          <p:nvPr/>
        </p:nvSpPr>
        <p:spPr>
          <a:xfrm>
            <a:off x="3200400" y="3474720"/>
            <a:ext cx="16459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2"/>
          <p:cNvSpPr/>
          <p:nvPr/>
        </p:nvSpPr>
        <p:spPr>
          <a:xfrm>
            <a:off x="4846320" y="3474720"/>
            <a:ext cx="91440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2"/>
          <p:cNvSpPr/>
          <p:nvPr/>
        </p:nvSpPr>
        <p:spPr>
          <a:xfrm>
            <a:off x="3246120" y="347472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5 Regions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2"/>
          <p:cNvSpPr/>
          <p:nvPr/>
        </p:nvSpPr>
        <p:spPr>
          <a:xfrm>
            <a:off x="4892040" y="347472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C41A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52C41A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2"/>
          <p:cNvSpPr/>
          <p:nvPr/>
        </p:nvSpPr>
        <p:spPr>
          <a:xfrm>
            <a:off x="5943600" y="1417320"/>
            <a:ext cx="2880360" cy="306324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2"/>
          <p:cNvSpPr/>
          <p:nvPr/>
        </p:nvSpPr>
        <p:spPr>
          <a:xfrm>
            <a:off x="5943600" y="1417320"/>
            <a:ext cx="2880360" cy="4114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2"/>
          <p:cNvSpPr/>
          <p:nvPr/>
        </p:nvSpPr>
        <p:spPr>
          <a:xfrm>
            <a:off x="6035040" y="14173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Tactical Plan Execution  —  Max 30 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2"/>
          <p:cNvSpPr/>
          <p:nvPr/>
        </p:nvSpPr>
        <p:spPr>
          <a:xfrm>
            <a:off x="5943600" y="1828800"/>
            <a:ext cx="1785823" cy="530352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2"/>
          <p:cNvSpPr/>
          <p:nvPr/>
        </p:nvSpPr>
        <p:spPr>
          <a:xfrm>
            <a:off x="5989320" y="1828800"/>
            <a:ext cx="1694383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Achievement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2"/>
          <p:cNvSpPr/>
          <p:nvPr/>
        </p:nvSpPr>
        <p:spPr>
          <a:xfrm>
            <a:off x="7729423" y="1828800"/>
            <a:ext cx="1094537" cy="530352"/>
          </a:xfrm>
          <a:prstGeom prst="rect">
            <a:avLst/>
          </a:prstGeom>
          <a:solidFill>
            <a:srgbClr val="E3F2FD"/>
          </a:solidFill>
          <a:ln w="9525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2"/>
          <p:cNvSpPr/>
          <p:nvPr/>
        </p:nvSpPr>
        <p:spPr>
          <a:xfrm>
            <a:off x="7775143" y="1828800"/>
            <a:ext cx="1003097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2"/>
          <p:cNvSpPr/>
          <p:nvPr/>
        </p:nvSpPr>
        <p:spPr>
          <a:xfrm>
            <a:off x="5943600" y="2359152"/>
            <a:ext cx="1785823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2"/>
          <p:cNvSpPr/>
          <p:nvPr/>
        </p:nvSpPr>
        <p:spPr>
          <a:xfrm>
            <a:off x="7729423" y="2359152"/>
            <a:ext cx="1094537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2"/>
          <p:cNvSpPr/>
          <p:nvPr/>
        </p:nvSpPr>
        <p:spPr>
          <a:xfrm>
            <a:off x="5989320" y="2359152"/>
            <a:ext cx="1694383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70-80%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2"/>
          <p:cNvSpPr/>
          <p:nvPr/>
        </p:nvSpPr>
        <p:spPr>
          <a:xfrm>
            <a:off x="7775143" y="2359152"/>
            <a:ext cx="1003097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21-24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2"/>
          <p:cNvSpPr/>
          <p:nvPr/>
        </p:nvSpPr>
        <p:spPr>
          <a:xfrm>
            <a:off x="5943600" y="2889504"/>
            <a:ext cx="1785823" cy="53035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2"/>
          <p:cNvSpPr/>
          <p:nvPr/>
        </p:nvSpPr>
        <p:spPr>
          <a:xfrm>
            <a:off x="7729423" y="2889504"/>
            <a:ext cx="1094537" cy="53035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12"/>
          <p:cNvSpPr/>
          <p:nvPr/>
        </p:nvSpPr>
        <p:spPr>
          <a:xfrm>
            <a:off x="5989320" y="2889504"/>
            <a:ext cx="1694383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81-90%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2"/>
          <p:cNvSpPr/>
          <p:nvPr/>
        </p:nvSpPr>
        <p:spPr>
          <a:xfrm>
            <a:off x="7775143" y="2889504"/>
            <a:ext cx="1003097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24.3-27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2"/>
          <p:cNvSpPr/>
          <p:nvPr/>
        </p:nvSpPr>
        <p:spPr>
          <a:xfrm>
            <a:off x="5943600" y="3419856"/>
            <a:ext cx="1785823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2"/>
          <p:cNvSpPr/>
          <p:nvPr/>
        </p:nvSpPr>
        <p:spPr>
          <a:xfrm>
            <a:off x="7729423" y="3419856"/>
            <a:ext cx="1094537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2"/>
          <p:cNvSpPr/>
          <p:nvPr/>
        </p:nvSpPr>
        <p:spPr>
          <a:xfrm>
            <a:off x="5989320" y="3419856"/>
            <a:ext cx="1694383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91-99%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2"/>
          <p:cNvSpPr/>
          <p:nvPr/>
        </p:nvSpPr>
        <p:spPr>
          <a:xfrm>
            <a:off x="7775143" y="3419856"/>
            <a:ext cx="1003097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27.3-29.7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2"/>
          <p:cNvSpPr/>
          <p:nvPr/>
        </p:nvSpPr>
        <p:spPr>
          <a:xfrm>
            <a:off x="5943600" y="3950208"/>
            <a:ext cx="1785823" cy="53035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12"/>
          <p:cNvSpPr/>
          <p:nvPr/>
        </p:nvSpPr>
        <p:spPr>
          <a:xfrm>
            <a:off x="7729423" y="3950208"/>
            <a:ext cx="1094537" cy="53035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2"/>
          <p:cNvSpPr/>
          <p:nvPr/>
        </p:nvSpPr>
        <p:spPr>
          <a:xfrm>
            <a:off x="5989320" y="3950208"/>
            <a:ext cx="1694383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2"/>
          <p:cNvSpPr/>
          <p:nvPr/>
        </p:nvSpPr>
        <p:spPr>
          <a:xfrm>
            <a:off x="7775143" y="3950208"/>
            <a:ext cx="1003097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0F2557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2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FFF7E6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2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950"/>
              <a:buFont typeface="Open Sans"/>
              <a:buNone/>
            </a:pPr>
            <a:r>
              <a:rPr lang="en-US" sz="950" b="0" i="1" u="none" strike="noStrike" cap="none">
                <a:solidFill>
                  <a:srgbClr val="FA8C16"/>
                </a:solidFill>
                <a:latin typeface="Open Sans"/>
                <a:ea typeface="Open Sans"/>
                <a:cs typeface="Open Sans"/>
                <a:sym typeface="Open Sans"/>
              </a:rPr>
              <a:t>Tactical Plan received end of each quarter and validated by BUM. Points accumulate cumulatively.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367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5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Recognition &amp; Rewards — Medical Rep / Sales Rep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5"/>
          <p:cNvSpPr/>
          <p:nvPr/>
        </p:nvSpPr>
        <p:spPr>
          <a:xfrm>
            <a:off x="274320" y="100584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15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15"/>
          <p:cNvSpPr/>
          <p:nvPr/>
        </p:nvSpPr>
        <p:spPr>
          <a:xfrm>
            <a:off x="32004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Monthly Sprint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5"/>
          <p:cNvSpPr/>
          <p:nvPr/>
        </p:nvSpPr>
        <p:spPr>
          <a:xfrm>
            <a:off x="365760" y="1508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5"/>
          <p:cNvSpPr/>
          <p:nvPr/>
        </p:nvSpPr>
        <p:spPr>
          <a:xfrm>
            <a:off x="365760" y="17556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1E50C9"/>
                </a:solidFill>
                <a:latin typeface="Montserrat"/>
                <a:ea typeface="Montserrat"/>
                <a:cs typeface="Montserrat"/>
                <a:sym typeface="Montserrat"/>
              </a:rPr>
              <a:t>2 Per 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5"/>
          <p:cNvSpPr/>
          <p:nvPr/>
        </p:nvSpPr>
        <p:spPr>
          <a:xfrm>
            <a:off x="365760" y="2148840"/>
            <a:ext cx="256032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15"/>
          <p:cNvSpPr/>
          <p:nvPr/>
        </p:nvSpPr>
        <p:spPr>
          <a:xfrm>
            <a:off x="365760" y="22128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Cash Prize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5"/>
          <p:cNvSpPr/>
          <p:nvPr/>
        </p:nvSpPr>
        <p:spPr>
          <a:xfrm>
            <a:off x="36576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1E50C9"/>
                </a:solidFill>
                <a:latin typeface="Montserrat"/>
                <a:ea typeface="Montserrat"/>
                <a:cs typeface="Montserrat"/>
                <a:sym typeface="Montserrat"/>
              </a:rPr>
              <a:t>1,000 L.E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5"/>
          <p:cNvSpPr/>
          <p:nvPr/>
        </p:nvSpPr>
        <p:spPr>
          <a:xfrm>
            <a:off x="365760" y="2999232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Cash Prize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5"/>
          <p:cNvSpPr/>
          <p:nvPr/>
        </p:nvSpPr>
        <p:spPr>
          <a:xfrm>
            <a:off x="3154680" y="100584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15"/>
          <p:cNvSpPr/>
          <p:nvPr/>
        </p:nvSpPr>
        <p:spPr>
          <a:xfrm>
            <a:off x="3154680" y="1005840"/>
            <a:ext cx="2743200" cy="457200"/>
          </a:xfrm>
          <a:prstGeom prst="rect">
            <a:avLst/>
          </a:prstGeom>
          <a:solidFill>
            <a:srgbClr val="722ED1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15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Quarterly Champions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5"/>
          <p:cNvSpPr/>
          <p:nvPr/>
        </p:nvSpPr>
        <p:spPr>
          <a:xfrm>
            <a:off x="3246120" y="1508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5"/>
          <p:cNvSpPr/>
          <p:nvPr/>
        </p:nvSpPr>
        <p:spPr>
          <a:xfrm>
            <a:off x="3246120" y="17556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22ED1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722ED1"/>
                </a:solidFill>
                <a:latin typeface="Montserrat"/>
                <a:ea typeface="Montserrat"/>
                <a:cs typeface="Montserrat"/>
                <a:sym typeface="Montserrat"/>
              </a:rPr>
              <a:t>2 Per 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5"/>
          <p:cNvSpPr/>
          <p:nvPr/>
        </p:nvSpPr>
        <p:spPr>
          <a:xfrm>
            <a:off x="3246120" y="2148840"/>
            <a:ext cx="256032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15"/>
          <p:cNvSpPr/>
          <p:nvPr/>
        </p:nvSpPr>
        <p:spPr>
          <a:xfrm>
            <a:off x="3246120" y="22128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Cash Prize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5"/>
          <p:cNvSpPr/>
          <p:nvPr/>
        </p:nvSpPr>
        <p:spPr>
          <a:xfrm>
            <a:off x="324612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22ED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722ED1"/>
                </a:solidFill>
                <a:latin typeface="Montserrat"/>
                <a:ea typeface="Montserrat"/>
                <a:cs typeface="Montserrat"/>
                <a:sym typeface="Montserrat"/>
              </a:rPr>
              <a:t>1,500 L.E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5"/>
          <p:cNvSpPr/>
          <p:nvPr/>
        </p:nvSpPr>
        <p:spPr>
          <a:xfrm>
            <a:off x="3246120" y="2999232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Cash Prize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CEO Dinner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5"/>
          <p:cNvSpPr/>
          <p:nvPr/>
        </p:nvSpPr>
        <p:spPr>
          <a:xfrm>
            <a:off x="6035040" y="100584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15"/>
          <p:cNvSpPr/>
          <p:nvPr/>
        </p:nvSpPr>
        <p:spPr>
          <a:xfrm>
            <a:off x="6035040" y="1005840"/>
            <a:ext cx="2743200" cy="457200"/>
          </a:xfrm>
          <a:prstGeom prst="rect">
            <a:avLst/>
          </a:prstGeom>
          <a:solidFill>
            <a:srgbClr val="FA8C16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15"/>
          <p:cNvSpPr/>
          <p:nvPr/>
        </p:nvSpPr>
        <p:spPr>
          <a:xfrm>
            <a:off x="608076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Annual Marathon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5"/>
          <p:cNvSpPr/>
          <p:nvPr/>
        </p:nvSpPr>
        <p:spPr>
          <a:xfrm>
            <a:off x="6126480" y="1508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5"/>
          <p:cNvSpPr/>
          <p:nvPr/>
        </p:nvSpPr>
        <p:spPr>
          <a:xfrm>
            <a:off x="6126480" y="17556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1200"/>
              <a:buFont typeface="Montserrat"/>
              <a:buNone/>
            </a:pPr>
            <a:r>
              <a:rPr lang="en-US" sz="1200" b="1" i="0" u="none" strike="noStrike" cap="none" dirty="0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2 Per Line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5"/>
          <p:cNvSpPr/>
          <p:nvPr/>
        </p:nvSpPr>
        <p:spPr>
          <a:xfrm>
            <a:off x="6126480" y="2148840"/>
            <a:ext cx="256032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15"/>
          <p:cNvSpPr/>
          <p:nvPr/>
        </p:nvSpPr>
        <p:spPr>
          <a:xfrm>
            <a:off x="6126480" y="22128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 dirty="0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1st Winner Cash</a:t>
            </a:r>
          </a:p>
        </p:txBody>
      </p:sp>
      <p:sp>
        <p:nvSpPr>
          <p:cNvPr id="717" name="Google Shape;717;p15"/>
          <p:cNvSpPr/>
          <p:nvPr/>
        </p:nvSpPr>
        <p:spPr>
          <a:xfrm>
            <a:off x="612648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2800"/>
              <a:buFont typeface="Montserrat"/>
              <a:buNone/>
            </a:pPr>
            <a:r>
              <a:rPr lang="en-US" sz="2800" b="1" i="0" u="none" strike="noStrike" cap="none" dirty="0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5,000 L.E</a:t>
            </a:r>
          </a:p>
        </p:txBody>
      </p:sp>
      <p:sp>
        <p:nvSpPr>
          <p:cNvPr id="718" name="Google Shape;718;p15"/>
          <p:cNvSpPr/>
          <p:nvPr/>
        </p:nvSpPr>
        <p:spPr>
          <a:xfrm>
            <a:off x="6126480" y="2999232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 dirty="0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CEO Dinner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 dirty="0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 dirty="0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</a:p>
        </p:txBody>
      </p:sp>
      <p:sp>
        <p:nvSpPr>
          <p:cNvPr id="2" name="Google Shape;717;p15">
            <a:extLst>
              <a:ext uri="{FF2B5EF4-FFF2-40B4-BE49-F238E27FC236}">
                <a16:creationId xmlns:a16="http://schemas.microsoft.com/office/drawing/2014/main" id="{9D315F4E-C9FA-A2DC-D74B-49F1E83CF6E6}"/>
              </a:ext>
            </a:extLst>
          </p:cNvPr>
          <p:cNvSpPr/>
          <p:nvPr/>
        </p:nvSpPr>
        <p:spPr>
          <a:xfrm>
            <a:off x="6126480" y="3034935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2800"/>
              <a:buFont typeface="Montserrat"/>
              <a:buNone/>
            </a:pPr>
            <a:r>
              <a:rPr lang="en-US" sz="2800" b="1" i="0" u="none" strike="noStrike" cap="none" dirty="0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3,000 L.E</a:t>
            </a:r>
          </a:p>
        </p:txBody>
      </p:sp>
      <p:sp>
        <p:nvSpPr>
          <p:cNvPr id="3" name="Google Shape;716;p15">
            <a:extLst>
              <a:ext uri="{FF2B5EF4-FFF2-40B4-BE49-F238E27FC236}">
                <a16:creationId xmlns:a16="http://schemas.microsoft.com/office/drawing/2014/main" id="{7E9D7EB1-BC9D-A927-FF2C-536E8321F240}"/>
              </a:ext>
            </a:extLst>
          </p:cNvPr>
          <p:cNvSpPr/>
          <p:nvPr/>
        </p:nvSpPr>
        <p:spPr>
          <a:xfrm>
            <a:off x="6080760" y="2867151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 dirty="0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2nd Winner Cash</a:t>
            </a:r>
          </a:p>
        </p:txBody>
      </p:sp>
      <p:sp>
        <p:nvSpPr>
          <p:cNvPr id="165" name="Google Shape;165;p6"/>
          <p:cNvSpPr/>
          <p:nvPr/>
        </p:nvSpPr>
        <p:spPr>
          <a:xfrm>
            <a:off x="365760" y="4790000"/>
            <a:ext cx="841248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950"/>
              <a:buFont typeface="Open Sans"/>
              <a:buNone/>
            </a:pPr>
            <a:r>
              <a:rPr lang="en-US" sz="950" b="0" i="1" u="none" strike="noStrike" cap="none" dirty="0">
                <a:solidFill>
                  <a:srgbClr val="1E50C9"/>
                </a:solidFill>
                <a:latin typeface="Open Sans"/>
                <a:ea typeface="Open Sans"/>
                <a:cs typeface="Open Sans"/>
                <a:sym typeface="Open Sans"/>
              </a:rPr>
              <a:t>Winners = eligible reps only (cleared Line Average on every required KPI). See "Winner Pool — How Winners Are Determined" for full eligibility, ranking &amp; tie rules.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7506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557"/>
        </a:solidFill>
        <a:effectLst/>
      </p:bgPr>
    </p:bg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4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14"/>
          <p:cNvSpPr/>
          <p:nvPr/>
        </p:nvSpPr>
        <p:spPr>
          <a:xfrm>
            <a:off x="731520" y="1417320"/>
            <a:ext cx="1005840" cy="1005840"/>
          </a:xfrm>
          <a:prstGeom prst="ellipse">
            <a:avLst/>
          </a:prstGeom>
          <a:solidFill>
            <a:srgbClr val="FAAD14">
              <a:alpha val="80000"/>
            </a:srgbClr>
          </a:solidFill>
          <a:ln w="254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4"/>
          <p:cNvSpPr/>
          <p:nvPr/>
        </p:nvSpPr>
        <p:spPr>
          <a:xfrm>
            <a:off x="640080" y="228600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ontserrat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Recognition &amp; Rewards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4"/>
          <p:cNvSpPr/>
          <p:nvPr/>
        </p:nvSpPr>
        <p:spPr>
          <a:xfrm>
            <a:off x="640080" y="32461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53D"/>
              </a:buClr>
              <a:buSzPts val="1600"/>
              <a:buFont typeface="Open Sans"/>
              <a:buNone/>
            </a:pPr>
            <a:r>
              <a:rPr lang="en-US" sz="1600" b="0" i="0" u="none" strike="noStrike" cap="none">
                <a:solidFill>
                  <a:srgbClr val="FFC53D"/>
                </a:solidFill>
                <a:latin typeface="Open Sans"/>
                <a:ea typeface="Open Sans"/>
                <a:cs typeface="Open Sans"/>
                <a:sym typeface="Open Sans"/>
              </a:rPr>
              <a:t>Cash Prizes  |  CEO Dinners  |  Certificates  |  Announcements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4"/>
          <p:cNvSpPr/>
          <p:nvPr/>
        </p:nvSpPr>
        <p:spPr>
          <a:xfrm>
            <a:off x="640080" y="4754880"/>
            <a:ext cx="2286000" cy="54864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7261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6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1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16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Recognition &amp; Rewards — District Manager (DSM)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6"/>
          <p:cNvSpPr/>
          <p:nvPr/>
        </p:nvSpPr>
        <p:spPr>
          <a:xfrm>
            <a:off x="274320" y="100584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16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16"/>
          <p:cNvSpPr/>
          <p:nvPr/>
        </p:nvSpPr>
        <p:spPr>
          <a:xfrm>
            <a:off x="32004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Monthly Sprint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6"/>
          <p:cNvSpPr/>
          <p:nvPr/>
        </p:nvSpPr>
        <p:spPr>
          <a:xfrm>
            <a:off x="365760" y="1508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6"/>
          <p:cNvSpPr/>
          <p:nvPr/>
        </p:nvSpPr>
        <p:spPr>
          <a:xfrm>
            <a:off x="365760" y="17556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1E50C9"/>
                </a:solidFill>
                <a:latin typeface="Montserrat"/>
                <a:ea typeface="Montserrat"/>
                <a:cs typeface="Montserrat"/>
                <a:sym typeface="Montserrat"/>
              </a:rPr>
              <a:t>2 Per BU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6"/>
          <p:cNvSpPr/>
          <p:nvPr/>
        </p:nvSpPr>
        <p:spPr>
          <a:xfrm>
            <a:off x="365760" y="2148840"/>
            <a:ext cx="256032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16"/>
          <p:cNvSpPr/>
          <p:nvPr/>
        </p:nvSpPr>
        <p:spPr>
          <a:xfrm>
            <a:off x="365760" y="22128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Cash Prize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6"/>
          <p:cNvSpPr/>
          <p:nvPr/>
        </p:nvSpPr>
        <p:spPr>
          <a:xfrm>
            <a:off x="36576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1E50C9"/>
                </a:solidFill>
                <a:latin typeface="Montserrat"/>
                <a:ea typeface="Montserrat"/>
                <a:cs typeface="Montserrat"/>
                <a:sym typeface="Montserrat"/>
              </a:rPr>
              <a:t>2,000 L.E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6"/>
          <p:cNvSpPr/>
          <p:nvPr/>
        </p:nvSpPr>
        <p:spPr>
          <a:xfrm>
            <a:off x="365760" y="2999232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Cash Prize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6"/>
          <p:cNvSpPr/>
          <p:nvPr/>
        </p:nvSpPr>
        <p:spPr>
          <a:xfrm>
            <a:off x="3154680" y="100584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6"/>
          <p:cNvSpPr/>
          <p:nvPr/>
        </p:nvSpPr>
        <p:spPr>
          <a:xfrm>
            <a:off x="3154680" y="1005840"/>
            <a:ext cx="2743200" cy="457200"/>
          </a:xfrm>
          <a:prstGeom prst="rect">
            <a:avLst/>
          </a:prstGeom>
          <a:solidFill>
            <a:srgbClr val="722ED1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16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Quarterly Champions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6"/>
          <p:cNvSpPr/>
          <p:nvPr/>
        </p:nvSpPr>
        <p:spPr>
          <a:xfrm>
            <a:off x="3246120" y="1508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6"/>
          <p:cNvSpPr/>
          <p:nvPr/>
        </p:nvSpPr>
        <p:spPr>
          <a:xfrm>
            <a:off x="3246120" y="17556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22ED1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722ED1"/>
                </a:solidFill>
                <a:latin typeface="Montserrat"/>
                <a:ea typeface="Montserrat"/>
                <a:cs typeface="Montserrat"/>
                <a:sym typeface="Montserrat"/>
              </a:rPr>
              <a:t>2 Per BU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6"/>
          <p:cNvSpPr/>
          <p:nvPr/>
        </p:nvSpPr>
        <p:spPr>
          <a:xfrm>
            <a:off x="3246120" y="2148840"/>
            <a:ext cx="256032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16"/>
          <p:cNvSpPr/>
          <p:nvPr/>
        </p:nvSpPr>
        <p:spPr>
          <a:xfrm>
            <a:off x="3246120" y="22128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Cash Prize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6"/>
          <p:cNvSpPr/>
          <p:nvPr/>
        </p:nvSpPr>
        <p:spPr>
          <a:xfrm>
            <a:off x="324612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22ED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722ED1"/>
                </a:solidFill>
                <a:latin typeface="Montserrat"/>
                <a:ea typeface="Montserrat"/>
                <a:cs typeface="Montserrat"/>
                <a:sym typeface="Montserrat"/>
              </a:rPr>
              <a:t>2,500 L.E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6"/>
          <p:cNvSpPr/>
          <p:nvPr/>
        </p:nvSpPr>
        <p:spPr>
          <a:xfrm>
            <a:off x="3246120" y="2999232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Cash Prize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CEO Dinner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6"/>
          <p:cNvSpPr/>
          <p:nvPr/>
        </p:nvSpPr>
        <p:spPr>
          <a:xfrm>
            <a:off x="6035040" y="100584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6"/>
          <p:cNvSpPr/>
          <p:nvPr/>
        </p:nvSpPr>
        <p:spPr>
          <a:xfrm>
            <a:off x="6035040" y="1005840"/>
            <a:ext cx="2743200" cy="457200"/>
          </a:xfrm>
          <a:prstGeom prst="rect">
            <a:avLst/>
          </a:prstGeom>
          <a:solidFill>
            <a:srgbClr val="FA8C16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16"/>
          <p:cNvSpPr/>
          <p:nvPr/>
        </p:nvSpPr>
        <p:spPr>
          <a:xfrm>
            <a:off x="608076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Annual Marathon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6"/>
          <p:cNvSpPr/>
          <p:nvPr/>
        </p:nvSpPr>
        <p:spPr>
          <a:xfrm>
            <a:off x="6126480" y="1508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6"/>
          <p:cNvSpPr/>
          <p:nvPr/>
        </p:nvSpPr>
        <p:spPr>
          <a:xfrm>
            <a:off x="6126480" y="17556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2 Per BU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6"/>
          <p:cNvSpPr/>
          <p:nvPr/>
        </p:nvSpPr>
        <p:spPr>
          <a:xfrm>
            <a:off x="6126480" y="2148840"/>
            <a:ext cx="256032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16"/>
          <p:cNvSpPr/>
          <p:nvPr/>
        </p:nvSpPr>
        <p:spPr>
          <a:xfrm>
            <a:off x="6126480" y="2999232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Cash Prize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CEO Dinner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16;p15">
            <a:extLst>
              <a:ext uri="{FF2B5EF4-FFF2-40B4-BE49-F238E27FC236}">
                <a16:creationId xmlns:a16="http://schemas.microsoft.com/office/drawing/2014/main" id="{A2BDB880-3FAB-914D-CDDC-6AAB99F858D0}"/>
              </a:ext>
            </a:extLst>
          </p:cNvPr>
          <p:cNvSpPr/>
          <p:nvPr/>
        </p:nvSpPr>
        <p:spPr>
          <a:xfrm>
            <a:off x="6126480" y="22128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 dirty="0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1st Winner Cash</a:t>
            </a:r>
          </a:p>
        </p:txBody>
      </p:sp>
      <p:sp>
        <p:nvSpPr>
          <p:cNvPr id="7" name="Google Shape;717;p15">
            <a:extLst>
              <a:ext uri="{FF2B5EF4-FFF2-40B4-BE49-F238E27FC236}">
                <a16:creationId xmlns:a16="http://schemas.microsoft.com/office/drawing/2014/main" id="{F695110A-FCE7-92F9-6F62-735F73C1345E}"/>
              </a:ext>
            </a:extLst>
          </p:cNvPr>
          <p:cNvSpPr/>
          <p:nvPr/>
        </p:nvSpPr>
        <p:spPr>
          <a:xfrm>
            <a:off x="612648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2800"/>
              <a:buFont typeface="Montserrat"/>
              <a:buNone/>
            </a:pPr>
            <a:r>
              <a:rPr lang="en-US" sz="2800" b="1" i="0" u="none" strike="noStrike" cap="none" dirty="0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6,000 L.E</a:t>
            </a:r>
          </a:p>
        </p:txBody>
      </p:sp>
      <p:sp>
        <p:nvSpPr>
          <p:cNvPr id="8" name="Google Shape;717;p15">
            <a:extLst>
              <a:ext uri="{FF2B5EF4-FFF2-40B4-BE49-F238E27FC236}">
                <a16:creationId xmlns:a16="http://schemas.microsoft.com/office/drawing/2014/main" id="{318477AD-3D1E-A39D-46ED-BFC97E45845D}"/>
              </a:ext>
            </a:extLst>
          </p:cNvPr>
          <p:cNvSpPr/>
          <p:nvPr/>
        </p:nvSpPr>
        <p:spPr>
          <a:xfrm>
            <a:off x="6126480" y="3034935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2800"/>
              <a:buFont typeface="Montserrat"/>
              <a:buNone/>
            </a:pPr>
            <a:r>
              <a:rPr lang="en-US" sz="2800" b="1" i="0" u="none" strike="noStrike" cap="none" dirty="0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4,000 L.E</a:t>
            </a:r>
          </a:p>
        </p:txBody>
      </p:sp>
      <p:sp>
        <p:nvSpPr>
          <p:cNvPr id="9" name="Google Shape;716;p15">
            <a:extLst>
              <a:ext uri="{FF2B5EF4-FFF2-40B4-BE49-F238E27FC236}">
                <a16:creationId xmlns:a16="http://schemas.microsoft.com/office/drawing/2014/main" id="{542C77E9-7E56-475F-8BE9-5749B9AE8F61}"/>
              </a:ext>
            </a:extLst>
          </p:cNvPr>
          <p:cNvSpPr/>
          <p:nvPr/>
        </p:nvSpPr>
        <p:spPr>
          <a:xfrm>
            <a:off x="6080760" y="2867151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 dirty="0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2nd Winner Cash</a:t>
            </a:r>
          </a:p>
        </p:txBody>
      </p:sp>
    </p:spTree>
    <p:extLst>
      <p:ext uri="{BB962C8B-B14F-4D97-AF65-F5344CB8AC3E}">
        <p14:creationId xmlns:p14="http://schemas.microsoft.com/office/powerpoint/2010/main" val="26837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7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Recognition &amp; Rewards — Area Sales Manager (ASM)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7"/>
          <p:cNvSpPr/>
          <p:nvPr/>
        </p:nvSpPr>
        <p:spPr>
          <a:xfrm>
            <a:off x="274320" y="100584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7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17"/>
          <p:cNvSpPr/>
          <p:nvPr/>
        </p:nvSpPr>
        <p:spPr>
          <a:xfrm>
            <a:off x="32004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Monthly Sprint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7"/>
          <p:cNvSpPr/>
          <p:nvPr/>
        </p:nvSpPr>
        <p:spPr>
          <a:xfrm>
            <a:off x="365760" y="1508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7"/>
          <p:cNvSpPr/>
          <p:nvPr/>
        </p:nvSpPr>
        <p:spPr>
          <a:xfrm>
            <a:off x="365760" y="17556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1E50C9"/>
                </a:solidFill>
                <a:latin typeface="Montserrat"/>
                <a:ea typeface="Montserrat"/>
                <a:cs typeface="Montserrat"/>
                <a:sym typeface="Montserrat"/>
              </a:rPr>
              <a:t>1 Corporate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7"/>
          <p:cNvSpPr/>
          <p:nvPr/>
        </p:nvSpPr>
        <p:spPr>
          <a:xfrm>
            <a:off x="365760" y="2148840"/>
            <a:ext cx="256032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17"/>
          <p:cNvSpPr/>
          <p:nvPr/>
        </p:nvSpPr>
        <p:spPr>
          <a:xfrm>
            <a:off x="365760" y="22128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Cash Prize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7"/>
          <p:cNvSpPr/>
          <p:nvPr/>
        </p:nvSpPr>
        <p:spPr>
          <a:xfrm>
            <a:off x="36576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1E50C9"/>
                </a:solidFill>
                <a:latin typeface="Montserrat"/>
                <a:ea typeface="Montserrat"/>
                <a:cs typeface="Montserrat"/>
                <a:sym typeface="Montserrat"/>
              </a:rPr>
              <a:t>3,000 L.E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7"/>
          <p:cNvSpPr/>
          <p:nvPr/>
        </p:nvSpPr>
        <p:spPr>
          <a:xfrm>
            <a:off x="365760" y="2999232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Cash Prize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7"/>
          <p:cNvSpPr/>
          <p:nvPr/>
        </p:nvSpPr>
        <p:spPr>
          <a:xfrm>
            <a:off x="3154680" y="100584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7"/>
          <p:cNvSpPr/>
          <p:nvPr/>
        </p:nvSpPr>
        <p:spPr>
          <a:xfrm>
            <a:off x="3154680" y="1005840"/>
            <a:ext cx="2743200" cy="457200"/>
          </a:xfrm>
          <a:prstGeom prst="rect">
            <a:avLst/>
          </a:prstGeom>
          <a:solidFill>
            <a:srgbClr val="722ED1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17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Quarterly Champions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7"/>
          <p:cNvSpPr/>
          <p:nvPr/>
        </p:nvSpPr>
        <p:spPr>
          <a:xfrm>
            <a:off x="3246120" y="1508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7"/>
          <p:cNvSpPr/>
          <p:nvPr/>
        </p:nvSpPr>
        <p:spPr>
          <a:xfrm>
            <a:off x="3246120" y="17556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22ED1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722ED1"/>
                </a:solidFill>
                <a:latin typeface="Montserrat"/>
                <a:ea typeface="Montserrat"/>
                <a:cs typeface="Montserrat"/>
                <a:sym typeface="Montserrat"/>
              </a:rPr>
              <a:t>1 Corporate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7"/>
          <p:cNvSpPr/>
          <p:nvPr/>
        </p:nvSpPr>
        <p:spPr>
          <a:xfrm>
            <a:off x="3246120" y="2148840"/>
            <a:ext cx="256032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17"/>
          <p:cNvSpPr/>
          <p:nvPr/>
        </p:nvSpPr>
        <p:spPr>
          <a:xfrm>
            <a:off x="3246120" y="22128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Cash Prize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7"/>
          <p:cNvSpPr/>
          <p:nvPr/>
        </p:nvSpPr>
        <p:spPr>
          <a:xfrm>
            <a:off x="324612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22ED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722ED1"/>
                </a:solidFill>
                <a:latin typeface="Montserrat"/>
                <a:ea typeface="Montserrat"/>
                <a:cs typeface="Montserrat"/>
                <a:sym typeface="Montserrat"/>
              </a:rPr>
              <a:t>3,500 L.E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7"/>
          <p:cNvSpPr/>
          <p:nvPr/>
        </p:nvSpPr>
        <p:spPr>
          <a:xfrm>
            <a:off x="3246120" y="2999232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Cash Prize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CEO Dinner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7"/>
          <p:cNvSpPr/>
          <p:nvPr/>
        </p:nvSpPr>
        <p:spPr>
          <a:xfrm>
            <a:off x="6035040" y="100584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17"/>
          <p:cNvSpPr/>
          <p:nvPr/>
        </p:nvSpPr>
        <p:spPr>
          <a:xfrm>
            <a:off x="6035040" y="1005840"/>
            <a:ext cx="2743200" cy="457200"/>
          </a:xfrm>
          <a:prstGeom prst="rect">
            <a:avLst/>
          </a:prstGeom>
          <a:solidFill>
            <a:srgbClr val="FA8C16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7"/>
          <p:cNvSpPr/>
          <p:nvPr/>
        </p:nvSpPr>
        <p:spPr>
          <a:xfrm>
            <a:off x="608076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Annual Marathon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7"/>
          <p:cNvSpPr/>
          <p:nvPr/>
        </p:nvSpPr>
        <p:spPr>
          <a:xfrm>
            <a:off x="6126480" y="1508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7"/>
          <p:cNvSpPr/>
          <p:nvPr/>
        </p:nvSpPr>
        <p:spPr>
          <a:xfrm>
            <a:off x="6126480" y="17556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1 Corporate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7"/>
          <p:cNvSpPr/>
          <p:nvPr/>
        </p:nvSpPr>
        <p:spPr>
          <a:xfrm>
            <a:off x="6126480" y="2148840"/>
            <a:ext cx="256032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17"/>
          <p:cNvSpPr/>
          <p:nvPr/>
        </p:nvSpPr>
        <p:spPr>
          <a:xfrm>
            <a:off x="6126480" y="22128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Cash Prize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7"/>
          <p:cNvSpPr/>
          <p:nvPr/>
        </p:nvSpPr>
        <p:spPr>
          <a:xfrm>
            <a:off x="612648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2800"/>
              <a:buFont typeface="Montserrat"/>
              <a:buNone/>
            </a:pPr>
            <a:r>
              <a:rPr lang="en-US" sz="2800" b="1" i="0" u="none" strike="noStrike" cap="none" dirty="0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8,000 L.E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7"/>
          <p:cNvSpPr/>
          <p:nvPr/>
        </p:nvSpPr>
        <p:spPr>
          <a:xfrm>
            <a:off x="6126480" y="2999232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Cash Prize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CEO Dinner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8615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8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18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Recognition &amp; Rewards — Nat'l Sales Manager (NSM)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8"/>
          <p:cNvSpPr/>
          <p:nvPr/>
        </p:nvSpPr>
        <p:spPr>
          <a:xfrm>
            <a:off x="274320" y="100584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18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18"/>
          <p:cNvSpPr/>
          <p:nvPr/>
        </p:nvSpPr>
        <p:spPr>
          <a:xfrm>
            <a:off x="32004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Monthly Sprint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8"/>
          <p:cNvSpPr/>
          <p:nvPr/>
        </p:nvSpPr>
        <p:spPr>
          <a:xfrm>
            <a:off x="365760" y="1508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8"/>
          <p:cNvSpPr/>
          <p:nvPr/>
        </p:nvSpPr>
        <p:spPr>
          <a:xfrm>
            <a:off x="365760" y="17556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1E50C9"/>
                </a:solidFill>
                <a:latin typeface="Montserrat"/>
                <a:ea typeface="Montserrat"/>
                <a:cs typeface="Montserrat"/>
                <a:sym typeface="Montserrat"/>
              </a:rPr>
              <a:t>1 Corporate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8"/>
          <p:cNvSpPr/>
          <p:nvPr/>
        </p:nvSpPr>
        <p:spPr>
          <a:xfrm>
            <a:off x="365760" y="2148840"/>
            <a:ext cx="256032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18"/>
          <p:cNvSpPr/>
          <p:nvPr/>
        </p:nvSpPr>
        <p:spPr>
          <a:xfrm>
            <a:off x="365760" y="22128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Cash Prize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8"/>
          <p:cNvSpPr/>
          <p:nvPr/>
        </p:nvSpPr>
        <p:spPr>
          <a:xfrm>
            <a:off x="36576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1E50C9"/>
                </a:solidFill>
                <a:latin typeface="Montserrat"/>
                <a:ea typeface="Montserrat"/>
                <a:cs typeface="Montserrat"/>
                <a:sym typeface="Montserrat"/>
              </a:rPr>
              <a:t>4,000 L.E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8"/>
          <p:cNvSpPr/>
          <p:nvPr/>
        </p:nvSpPr>
        <p:spPr>
          <a:xfrm>
            <a:off x="365760" y="2999232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Cash Prize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8"/>
          <p:cNvSpPr/>
          <p:nvPr/>
        </p:nvSpPr>
        <p:spPr>
          <a:xfrm>
            <a:off x="3154680" y="100584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18"/>
          <p:cNvSpPr/>
          <p:nvPr/>
        </p:nvSpPr>
        <p:spPr>
          <a:xfrm>
            <a:off x="3154680" y="1005840"/>
            <a:ext cx="2743200" cy="457200"/>
          </a:xfrm>
          <a:prstGeom prst="rect">
            <a:avLst/>
          </a:prstGeom>
          <a:solidFill>
            <a:srgbClr val="722ED1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18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Quarterly Champions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8"/>
          <p:cNvSpPr/>
          <p:nvPr/>
        </p:nvSpPr>
        <p:spPr>
          <a:xfrm>
            <a:off x="3246120" y="1508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8"/>
          <p:cNvSpPr/>
          <p:nvPr/>
        </p:nvSpPr>
        <p:spPr>
          <a:xfrm>
            <a:off x="3246120" y="17556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22ED1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722ED1"/>
                </a:solidFill>
                <a:latin typeface="Montserrat"/>
                <a:ea typeface="Montserrat"/>
                <a:cs typeface="Montserrat"/>
                <a:sym typeface="Montserrat"/>
              </a:rPr>
              <a:t>1 Corporate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8"/>
          <p:cNvSpPr/>
          <p:nvPr/>
        </p:nvSpPr>
        <p:spPr>
          <a:xfrm>
            <a:off x="3246120" y="2148840"/>
            <a:ext cx="256032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18"/>
          <p:cNvSpPr/>
          <p:nvPr/>
        </p:nvSpPr>
        <p:spPr>
          <a:xfrm>
            <a:off x="3246120" y="22128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Cash Prize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8"/>
          <p:cNvSpPr/>
          <p:nvPr/>
        </p:nvSpPr>
        <p:spPr>
          <a:xfrm>
            <a:off x="324612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22ED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722ED1"/>
                </a:solidFill>
                <a:latin typeface="Montserrat"/>
                <a:ea typeface="Montserrat"/>
                <a:cs typeface="Montserrat"/>
                <a:sym typeface="Montserrat"/>
              </a:rPr>
              <a:t>4,500 L.E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8"/>
          <p:cNvSpPr/>
          <p:nvPr/>
        </p:nvSpPr>
        <p:spPr>
          <a:xfrm>
            <a:off x="3246120" y="2999232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Cash Prize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CEO Dinner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8"/>
          <p:cNvSpPr/>
          <p:nvPr/>
        </p:nvSpPr>
        <p:spPr>
          <a:xfrm>
            <a:off x="6035040" y="100584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18"/>
          <p:cNvSpPr/>
          <p:nvPr/>
        </p:nvSpPr>
        <p:spPr>
          <a:xfrm>
            <a:off x="6035040" y="1005840"/>
            <a:ext cx="2743200" cy="457200"/>
          </a:xfrm>
          <a:prstGeom prst="rect">
            <a:avLst/>
          </a:prstGeom>
          <a:solidFill>
            <a:srgbClr val="FA8C16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18"/>
          <p:cNvSpPr/>
          <p:nvPr/>
        </p:nvSpPr>
        <p:spPr>
          <a:xfrm>
            <a:off x="608076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Annual Marathon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8"/>
          <p:cNvSpPr/>
          <p:nvPr/>
        </p:nvSpPr>
        <p:spPr>
          <a:xfrm>
            <a:off x="6126480" y="1508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8"/>
          <p:cNvSpPr/>
          <p:nvPr/>
        </p:nvSpPr>
        <p:spPr>
          <a:xfrm>
            <a:off x="6126480" y="17556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1 Corporate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8"/>
          <p:cNvSpPr/>
          <p:nvPr/>
        </p:nvSpPr>
        <p:spPr>
          <a:xfrm>
            <a:off x="6126480" y="2148840"/>
            <a:ext cx="256032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18"/>
          <p:cNvSpPr/>
          <p:nvPr/>
        </p:nvSpPr>
        <p:spPr>
          <a:xfrm>
            <a:off x="6126480" y="22128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Cash Prize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8"/>
          <p:cNvSpPr/>
          <p:nvPr/>
        </p:nvSpPr>
        <p:spPr>
          <a:xfrm>
            <a:off x="612648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2800"/>
              <a:buFont typeface="Montserrat"/>
              <a:buNone/>
            </a:pPr>
            <a:r>
              <a:rPr lang="en-US" sz="2800" b="1" i="0" u="none" strike="noStrike" cap="none" dirty="0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10,000 L.E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8"/>
          <p:cNvSpPr/>
          <p:nvPr/>
        </p:nvSpPr>
        <p:spPr>
          <a:xfrm>
            <a:off x="6126480" y="2999232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Cash Prize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CEO Dinner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5752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9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9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Recognition &amp; Rewards — Brand Manager (BM)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9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100"/>
              <a:buFont typeface="Open Sans"/>
              <a:buNone/>
            </a:pPr>
            <a:r>
              <a:rPr lang="en-US" sz="1100" b="0" i="1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Brand Managers compete at Quarterly and Annual levels only (no Monthly Sprint).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9"/>
          <p:cNvSpPr/>
          <p:nvPr/>
        </p:nvSpPr>
        <p:spPr>
          <a:xfrm>
            <a:off x="1371600" y="141732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19"/>
          <p:cNvSpPr/>
          <p:nvPr/>
        </p:nvSpPr>
        <p:spPr>
          <a:xfrm>
            <a:off x="1371600" y="1417320"/>
            <a:ext cx="3017520" cy="457200"/>
          </a:xfrm>
          <a:prstGeom prst="rect">
            <a:avLst/>
          </a:prstGeom>
          <a:solidFill>
            <a:srgbClr val="722ED1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19"/>
          <p:cNvSpPr/>
          <p:nvPr/>
        </p:nvSpPr>
        <p:spPr>
          <a:xfrm>
            <a:off x="1417320" y="14173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Quarterly Champions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9"/>
          <p:cNvSpPr/>
          <p:nvPr/>
        </p:nvSpPr>
        <p:spPr>
          <a:xfrm>
            <a:off x="1463040" y="1920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9"/>
          <p:cNvSpPr/>
          <p:nvPr/>
        </p:nvSpPr>
        <p:spPr>
          <a:xfrm>
            <a:off x="1463040" y="217627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22ED1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722ED1"/>
                </a:solidFill>
                <a:latin typeface="Montserrat"/>
                <a:ea typeface="Montserrat"/>
                <a:cs typeface="Montserrat"/>
                <a:sym typeface="Montserrat"/>
              </a:rPr>
              <a:t>2 Per Corporate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9"/>
          <p:cNvSpPr/>
          <p:nvPr/>
        </p:nvSpPr>
        <p:spPr>
          <a:xfrm>
            <a:off x="1463040" y="2578608"/>
            <a:ext cx="283464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19"/>
          <p:cNvSpPr/>
          <p:nvPr/>
        </p:nvSpPr>
        <p:spPr>
          <a:xfrm>
            <a:off x="1463040" y="263347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Cash Prize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9"/>
          <p:cNvSpPr/>
          <p:nvPr/>
        </p:nvSpPr>
        <p:spPr>
          <a:xfrm>
            <a:off x="1463040" y="2889504"/>
            <a:ext cx="28346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22ED1"/>
              </a:buClr>
              <a:buSzPts val="3200"/>
              <a:buFont typeface="Montserrat"/>
              <a:buNone/>
            </a:pPr>
            <a:r>
              <a:rPr lang="en-US" sz="3200" b="1" i="0" u="none" strike="noStrike" cap="none">
                <a:solidFill>
                  <a:srgbClr val="722ED1"/>
                </a:solidFill>
                <a:latin typeface="Montserrat"/>
                <a:ea typeface="Montserrat"/>
                <a:cs typeface="Montserrat"/>
                <a:sym typeface="Montserrat"/>
              </a:rPr>
              <a:t>4,500 L.E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9"/>
          <p:cNvSpPr/>
          <p:nvPr/>
        </p:nvSpPr>
        <p:spPr>
          <a:xfrm>
            <a:off x="1463040" y="349300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Cash Prize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9"/>
          <p:cNvSpPr/>
          <p:nvPr/>
        </p:nvSpPr>
        <p:spPr>
          <a:xfrm>
            <a:off x="1463040" y="37673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CEO Dinner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9"/>
          <p:cNvSpPr/>
          <p:nvPr/>
        </p:nvSpPr>
        <p:spPr>
          <a:xfrm>
            <a:off x="1463040" y="40416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9"/>
          <p:cNvSpPr/>
          <p:nvPr/>
        </p:nvSpPr>
        <p:spPr>
          <a:xfrm>
            <a:off x="1463040" y="431596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9"/>
          <p:cNvSpPr/>
          <p:nvPr/>
        </p:nvSpPr>
        <p:spPr>
          <a:xfrm>
            <a:off x="4754880" y="141732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19"/>
          <p:cNvSpPr/>
          <p:nvPr/>
        </p:nvSpPr>
        <p:spPr>
          <a:xfrm>
            <a:off x="4754880" y="1417320"/>
            <a:ext cx="3017520" cy="457200"/>
          </a:xfrm>
          <a:prstGeom prst="rect">
            <a:avLst/>
          </a:prstGeom>
          <a:solidFill>
            <a:srgbClr val="FA8C16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19"/>
          <p:cNvSpPr/>
          <p:nvPr/>
        </p:nvSpPr>
        <p:spPr>
          <a:xfrm>
            <a:off x="4800600" y="14173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Annual Marathon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9"/>
          <p:cNvSpPr/>
          <p:nvPr/>
        </p:nvSpPr>
        <p:spPr>
          <a:xfrm>
            <a:off x="4846320" y="1920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Winners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9"/>
          <p:cNvSpPr/>
          <p:nvPr/>
        </p:nvSpPr>
        <p:spPr>
          <a:xfrm>
            <a:off x="4846320" y="217627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2 Per Corporate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9"/>
          <p:cNvSpPr/>
          <p:nvPr/>
        </p:nvSpPr>
        <p:spPr>
          <a:xfrm>
            <a:off x="4846320" y="2578608"/>
            <a:ext cx="2834640" cy="18288"/>
          </a:xfrm>
          <a:prstGeom prst="rect">
            <a:avLst/>
          </a:prstGeom>
          <a:solidFill>
            <a:srgbClr val="E0E6F0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9"/>
          <p:cNvSpPr/>
          <p:nvPr/>
        </p:nvSpPr>
        <p:spPr>
          <a:xfrm>
            <a:off x="4846320" y="263347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78909C"/>
                </a:solidFill>
                <a:latin typeface="Open Sans"/>
                <a:ea typeface="Open Sans"/>
                <a:cs typeface="Open Sans"/>
                <a:sym typeface="Open Sans"/>
              </a:rPr>
              <a:t>Cash Prize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19"/>
          <p:cNvSpPr/>
          <p:nvPr/>
        </p:nvSpPr>
        <p:spPr>
          <a:xfrm>
            <a:off x="4846320" y="2889504"/>
            <a:ext cx="28346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3200"/>
              <a:buFont typeface="Montserrat"/>
              <a:buNone/>
            </a:pPr>
            <a:r>
              <a:rPr lang="en-US" sz="3200" b="1" i="0" u="none" strike="noStrike" cap="none" dirty="0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8,000 L.E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9"/>
          <p:cNvSpPr/>
          <p:nvPr/>
        </p:nvSpPr>
        <p:spPr>
          <a:xfrm>
            <a:off x="4846320" y="349300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Cash Prize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9"/>
          <p:cNvSpPr/>
          <p:nvPr/>
        </p:nvSpPr>
        <p:spPr>
          <a:xfrm>
            <a:off x="4846320" y="37673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CEO Dinner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9"/>
          <p:cNvSpPr/>
          <p:nvPr/>
        </p:nvSpPr>
        <p:spPr>
          <a:xfrm>
            <a:off x="4846320" y="40416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Digital Certificate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9"/>
          <p:cNvSpPr/>
          <p:nvPr/>
        </p:nvSpPr>
        <p:spPr>
          <a:xfrm>
            <a:off x="4846320" y="431596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+ Public Announcement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9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EFF3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19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950"/>
              <a:buFont typeface="Open Sans"/>
              <a:buNone/>
            </a:pPr>
            <a:r>
              <a:rPr lang="en-US" sz="950" b="0" i="1" u="none" strike="noStrike" cap="none">
                <a:solidFill>
                  <a:srgbClr val="1E50C9"/>
                </a:solidFill>
                <a:latin typeface="Open Sans"/>
                <a:ea typeface="Open Sans"/>
                <a:cs typeface="Open Sans"/>
                <a:sym typeface="Open Sans"/>
              </a:rPr>
              <a:t>Brand Managers: no Monthly Sprint. Points accumulate cumulatively for Annual standings.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6514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557"/>
        </a:solidFill>
        <a:effectLst/>
      </p:bgPr>
    </p:bg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20"/>
          <p:cNvSpPr/>
          <p:nvPr/>
        </p:nvSpPr>
        <p:spPr>
          <a:xfrm>
            <a:off x="731520" y="1417320"/>
            <a:ext cx="1005840" cy="1005840"/>
          </a:xfrm>
          <a:prstGeom prst="ellipse">
            <a:avLst/>
          </a:prstGeom>
          <a:solidFill>
            <a:srgbClr val="FAAD14">
              <a:alpha val="80000"/>
            </a:srgbClr>
          </a:solidFill>
          <a:ln w="254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20"/>
          <p:cNvSpPr/>
          <p:nvPr/>
        </p:nvSpPr>
        <p:spPr>
          <a:xfrm>
            <a:off x="640080" y="228600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ontserrat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Points Calculator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0"/>
          <p:cNvSpPr/>
          <p:nvPr/>
        </p:nvSpPr>
        <p:spPr>
          <a:xfrm>
            <a:off x="545739" y="32461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53D"/>
              </a:buClr>
              <a:buSzPts val="1600"/>
              <a:buFont typeface="Open Sans"/>
              <a:buNone/>
            </a:pPr>
            <a:r>
              <a:rPr lang="en-US" sz="1600" b="0" i="0" u="none" strike="noStrike" cap="none" dirty="0">
                <a:solidFill>
                  <a:srgbClr val="FFC53D"/>
                </a:solidFill>
                <a:latin typeface="Open Sans"/>
                <a:ea typeface="Open Sans"/>
                <a:cs typeface="Open Sans"/>
                <a:sym typeface="Open Sans"/>
              </a:rPr>
              <a:t>Digital Tool — Track, Simulate &amp; Share Your Score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0"/>
          <p:cNvSpPr/>
          <p:nvPr/>
        </p:nvSpPr>
        <p:spPr>
          <a:xfrm>
            <a:off x="640080" y="4754880"/>
            <a:ext cx="2286000" cy="54864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951C8B-81E5-185D-864D-7FA235689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329" y="9075"/>
            <a:ext cx="38923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27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2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21"/>
          <p:cNvSpPr/>
          <p:nvPr/>
        </p:nvSpPr>
        <p:spPr>
          <a:xfrm>
            <a:off x="320040" y="914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to Use the Calculator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1"/>
          <p:cNvSpPr/>
          <p:nvPr/>
        </p:nvSpPr>
        <p:spPr>
          <a:xfrm>
            <a:off x="274320" y="100584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21"/>
          <p:cNvSpPr/>
          <p:nvPr/>
        </p:nvSpPr>
        <p:spPr>
          <a:xfrm>
            <a:off x="411480" y="1115568"/>
            <a:ext cx="438912" cy="438912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21"/>
          <p:cNvSpPr/>
          <p:nvPr/>
        </p:nvSpPr>
        <p:spPr>
          <a:xfrm>
            <a:off x="411480" y="11155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1"/>
          <p:cNvSpPr/>
          <p:nvPr/>
        </p:nvSpPr>
        <p:spPr>
          <a:xfrm>
            <a:off x="978408" y="105156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Montserrat"/>
              <a:buNone/>
            </a:pPr>
            <a:r>
              <a:rPr lang="en-US" sz="115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Medical Rep (MSR)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1"/>
          <p:cNvSpPr/>
          <p:nvPr/>
        </p:nvSpPr>
        <p:spPr>
          <a:xfrm>
            <a:off x="978408" y="1353312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Sales 50 pts  |  Right Freq 40 pts  |  Coverage 10 pts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1"/>
          <p:cNvSpPr/>
          <p:nvPr/>
        </p:nvSpPr>
        <p:spPr>
          <a:xfrm>
            <a:off x="274320" y="1764792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21"/>
          <p:cNvSpPr/>
          <p:nvPr/>
        </p:nvSpPr>
        <p:spPr>
          <a:xfrm>
            <a:off x="411480" y="1874520"/>
            <a:ext cx="438912" cy="438912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21"/>
          <p:cNvSpPr/>
          <p:nvPr/>
        </p:nvSpPr>
        <p:spPr>
          <a:xfrm>
            <a:off x="411480" y="18745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💼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1"/>
          <p:cNvSpPr/>
          <p:nvPr/>
        </p:nvSpPr>
        <p:spPr>
          <a:xfrm>
            <a:off x="978408" y="181051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Montserrat"/>
              <a:buNone/>
            </a:pPr>
            <a:r>
              <a:rPr lang="en-US" sz="115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CHC / Sales Rep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1"/>
          <p:cNvSpPr/>
          <p:nvPr/>
        </p:nvSpPr>
        <p:spPr>
          <a:xfrm>
            <a:off x="978408" y="2112264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Sales 60 pts  |  Coverage 40 pts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1"/>
          <p:cNvSpPr/>
          <p:nvPr/>
        </p:nvSpPr>
        <p:spPr>
          <a:xfrm>
            <a:off x="274320" y="2523744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21"/>
          <p:cNvSpPr/>
          <p:nvPr/>
        </p:nvSpPr>
        <p:spPr>
          <a:xfrm>
            <a:off x="411480" y="2633472"/>
            <a:ext cx="438912" cy="438912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21"/>
          <p:cNvSpPr/>
          <p:nvPr/>
        </p:nvSpPr>
        <p:spPr>
          <a:xfrm>
            <a:off x="411480" y="263347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1"/>
          <p:cNvSpPr/>
          <p:nvPr/>
        </p:nvSpPr>
        <p:spPr>
          <a:xfrm>
            <a:off x="978408" y="256946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Montserrat"/>
              <a:buNone/>
            </a:pPr>
            <a:r>
              <a:rPr lang="en-US" sz="115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District Manager (DM)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1"/>
          <p:cNvSpPr/>
          <p:nvPr/>
        </p:nvSpPr>
        <p:spPr>
          <a:xfrm>
            <a:off x="978408" y="2871216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Team Avg 70 pts  |  Field Days 10 pts  |  DV Coverage 10 pts  |  Calls/DV 10 pts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1"/>
          <p:cNvSpPr/>
          <p:nvPr/>
        </p:nvSpPr>
        <p:spPr>
          <a:xfrm>
            <a:off x="274320" y="328269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21"/>
          <p:cNvSpPr/>
          <p:nvPr/>
        </p:nvSpPr>
        <p:spPr>
          <a:xfrm>
            <a:off x="411480" y="3392424"/>
            <a:ext cx="438912" cy="438912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21"/>
          <p:cNvSpPr/>
          <p:nvPr/>
        </p:nvSpPr>
        <p:spPr>
          <a:xfrm>
            <a:off x="411480" y="339242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1"/>
          <p:cNvSpPr/>
          <p:nvPr/>
        </p:nvSpPr>
        <p:spPr>
          <a:xfrm>
            <a:off x="978408" y="332841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Montserrat"/>
              <a:buNone/>
            </a:pPr>
            <a:r>
              <a:rPr lang="en-US" sz="115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Area Sales Manager (ASM)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1"/>
          <p:cNvSpPr/>
          <p:nvPr/>
        </p:nvSpPr>
        <p:spPr>
          <a:xfrm>
            <a:off x="978408" y="3630168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DM Team Avg 80 pts  |  Field Days 20 pts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1"/>
          <p:cNvSpPr/>
          <p:nvPr/>
        </p:nvSpPr>
        <p:spPr>
          <a:xfrm>
            <a:off x="274320" y="4041648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21"/>
          <p:cNvSpPr/>
          <p:nvPr/>
        </p:nvSpPr>
        <p:spPr>
          <a:xfrm>
            <a:off x="411480" y="4151376"/>
            <a:ext cx="438912" cy="438912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21"/>
          <p:cNvSpPr/>
          <p:nvPr/>
        </p:nvSpPr>
        <p:spPr>
          <a:xfrm>
            <a:off x="411480" y="415137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1"/>
          <p:cNvSpPr/>
          <p:nvPr/>
        </p:nvSpPr>
        <p:spPr>
          <a:xfrm>
            <a:off x="978408" y="408736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Montserrat"/>
              <a:buNone/>
            </a:pPr>
            <a:r>
              <a:rPr lang="en-US" sz="115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National Sales Manager (NSM)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1"/>
          <p:cNvSpPr/>
          <p:nvPr/>
        </p:nvSpPr>
        <p:spPr>
          <a:xfrm>
            <a:off x="978408" y="438912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ASM Team Avg 80 pts  |  Field Days 20 pts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1"/>
          <p:cNvSpPr/>
          <p:nvPr/>
        </p:nvSpPr>
        <p:spPr>
          <a:xfrm>
            <a:off x="5760720" y="1005840"/>
            <a:ext cx="3108960" cy="3886200"/>
          </a:xfrm>
          <a:prstGeom prst="roundRect">
            <a:avLst>
              <a:gd name="adj" fmla="val 2353"/>
            </a:avLst>
          </a:prstGeom>
          <a:solidFill>
            <a:srgbClr val="EFF8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21"/>
          <p:cNvSpPr/>
          <p:nvPr/>
        </p:nvSpPr>
        <p:spPr>
          <a:xfrm>
            <a:off x="5852160" y="107899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F2557"/>
                </a:solidFill>
                <a:latin typeface="Montserrat"/>
                <a:ea typeface="Montserrat"/>
                <a:cs typeface="Montserrat"/>
                <a:sym typeface="Montserrat"/>
              </a:rPr>
              <a:t>Access the Calculator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1"/>
          <p:cNvSpPr/>
          <p:nvPr/>
        </p:nvSpPr>
        <p:spPr>
          <a:xfrm>
            <a:off x="5900649" y="1481328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21"/>
          <p:cNvSpPr/>
          <p:nvPr/>
        </p:nvSpPr>
        <p:spPr>
          <a:xfrm>
            <a:off x="5774436" y="1505435"/>
            <a:ext cx="3108960" cy="47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AAD14"/>
              </a:buClr>
              <a:buSzPts val="1050"/>
              <a:buFont typeface="Open Sans"/>
              <a:buNone/>
            </a:pPr>
            <a:r>
              <a:rPr lang="en-US" sz="700" b="0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hthttps://ahmedabdallahsfe-ai.github.io/Zeta-Sprint-Points-Calculator/</a:t>
            </a:r>
            <a:endParaRPr sz="700" b="0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1"/>
          <p:cNvSpPr/>
          <p:nvPr/>
        </p:nvSpPr>
        <p:spPr>
          <a:xfrm>
            <a:off x="5852160" y="20574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Works on iPhone, Android &amp; Desktop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1"/>
          <p:cNvSpPr/>
          <p:nvPr/>
        </p:nvSpPr>
        <p:spPr>
          <a:xfrm>
            <a:off x="5852160" y="248716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0F2557"/>
                </a:solidFill>
                <a:latin typeface="Montserrat"/>
                <a:ea typeface="Montserrat"/>
                <a:cs typeface="Montserrat"/>
                <a:sym typeface="Montserrat"/>
              </a:rPr>
              <a:t>KPI Thresholds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1"/>
          <p:cNvSpPr/>
          <p:nvPr/>
        </p:nvSpPr>
        <p:spPr>
          <a:xfrm>
            <a:off x="5852160" y="2816352"/>
            <a:ext cx="283464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21"/>
          <p:cNvSpPr/>
          <p:nvPr/>
        </p:nvSpPr>
        <p:spPr>
          <a:xfrm>
            <a:off x="5897880" y="281635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Sales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1"/>
          <p:cNvSpPr/>
          <p:nvPr/>
        </p:nvSpPr>
        <p:spPr>
          <a:xfrm>
            <a:off x="7818120" y="285292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1"/>
          <p:cNvSpPr/>
          <p:nvPr/>
        </p:nvSpPr>
        <p:spPr>
          <a:xfrm>
            <a:off x="7818120" y="2852928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1"/>
          <p:cNvSpPr/>
          <p:nvPr/>
        </p:nvSpPr>
        <p:spPr>
          <a:xfrm>
            <a:off x="5852160" y="3108960"/>
            <a:ext cx="2834640" cy="2743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21"/>
          <p:cNvSpPr/>
          <p:nvPr/>
        </p:nvSpPr>
        <p:spPr>
          <a:xfrm>
            <a:off x="5897880" y="31089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Right Freq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1"/>
          <p:cNvSpPr/>
          <p:nvPr/>
        </p:nvSpPr>
        <p:spPr>
          <a:xfrm>
            <a:off x="7818120" y="3145536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21"/>
          <p:cNvSpPr/>
          <p:nvPr/>
        </p:nvSpPr>
        <p:spPr>
          <a:xfrm>
            <a:off x="7818120" y="3145536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1"/>
          <p:cNvSpPr/>
          <p:nvPr/>
        </p:nvSpPr>
        <p:spPr>
          <a:xfrm>
            <a:off x="5852160" y="3401568"/>
            <a:ext cx="283464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21"/>
          <p:cNvSpPr/>
          <p:nvPr/>
        </p:nvSpPr>
        <p:spPr>
          <a:xfrm>
            <a:off x="5897880" y="340156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Coverage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1"/>
          <p:cNvSpPr/>
          <p:nvPr/>
        </p:nvSpPr>
        <p:spPr>
          <a:xfrm>
            <a:off x="7818120" y="3438144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21"/>
          <p:cNvSpPr/>
          <p:nvPr/>
        </p:nvSpPr>
        <p:spPr>
          <a:xfrm>
            <a:off x="7818120" y="3438144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1"/>
          <p:cNvSpPr/>
          <p:nvPr/>
        </p:nvSpPr>
        <p:spPr>
          <a:xfrm>
            <a:off x="5852160" y="3694176"/>
            <a:ext cx="2834640" cy="2743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21"/>
          <p:cNvSpPr/>
          <p:nvPr/>
        </p:nvSpPr>
        <p:spPr>
          <a:xfrm>
            <a:off x="5897880" y="369417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Field Days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1"/>
          <p:cNvSpPr/>
          <p:nvPr/>
        </p:nvSpPr>
        <p:spPr>
          <a:xfrm>
            <a:off x="7818120" y="3730752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21"/>
          <p:cNvSpPr/>
          <p:nvPr/>
        </p:nvSpPr>
        <p:spPr>
          <a:xfrm>
            <a:off x="7818120" y="3730752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1"/>
          <p:cNvSpPr/>
          <p:nvPr/>
        </p:nvSpPr>
        <p:spPr>
          <a:xfrm>
            <a:off x="5852160" y="3986784"/>
            <a:ext cx="283464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21"/>
          <p:cNvSpPr/>
          <p:nvPr/>
        </p:nvSpPr>
        <p:spPr>
          <a:xfrm>
            <a:off x="5897880" y="398678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DV Coverage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1"/>
          <p:cNvSpPr/>
          <p:nvPr/>
        </p:nvSpPr>
        <p:spPr>
          <a:xfrm>
            <a:off x="7818120" y="4023360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21"/>
          <p:cNvSpPr/>
          <p:nvPr/>
        </p:nvSpPr>
        <p:spPr>
          <a:xfrm>
            <a:off x="7818120" y="4023360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1"/>
          <p:cNvSpPr/>
          <p:nvPr/>
        </p:nvSpPr>
        <p:spPr>
          <a:xfrm>
            <a:off x="5852160" y="4279392"/>
            <a:ext cx="2834640" cy="2743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21"/>
          <p:cNvSpPr/>
          <p:nvPr/>
        </p:nvSpPr>
        <p:spPr>
          <a:xfrm>
            <a:off x="5897880" y="427939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Calls/DV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1"/>
          <p:cNvSpPr/>
          <p:nvPr/>
        </p:nvSpPr>
        <p:spPr>
          <a:xfrm>
            <a:off x="7818120" y="431596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21"/>
          <p:cNvSpPr/>
          <p:nvPr/>
        </p:nvSpPr>
        <p:spPr>
          <a:xfrm>
            <a:off x="7818120" y="4315968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6998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2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22"/>
          <p:cNvSpPr/>
          <p:nvPr/>
        </p:nvSpPr>
        <p:spPr>
          <a:xfrm>
            <a:off x="320040" y="914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My Points Tracker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2"/>
          <p:cNvSpPr/>
          <p:nvPr/>
        </p:nvSpPr>
        <p:spPr>
          <a:xfrm>
            <a:off x="6766560" y="914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C53D"/>
              </a:buClr>
              <a:buSzPts val="1100"/>
              <a:buFont typeface="Open Sans"/>
              <a:buNone/>
            </a:pPr>
            <a:r>
              <a:rPr lang="en-US" sz="1100" b="0" i="0" u="none" strike="noStrike" cap="none">
                <a:solidFill>
                  <a:srgbClr val="FFC53D"/>
                </a:solidFill>
                <a:latin typeface="Open Sans"/>
                <a:ea typeface="Open Sans"/>
                <a:cs typeface="Open Sans"/>
                <a:sym typeface="Open Sans"/>
              </a:rPr>
              <a:t>5-Step Workflow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2"/>
          <p:cNvSpPr/>
          <p:nvPr/>
        </p:nvSpPr>
        <p:spPr>
          <a:xfrm>
            <a:off x="274320" y="100584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22"/>
          <p:cNvSpPr/>
          <p:nvPr/>
        </p:nvSpPr>
        <p:spPr>
          <a:xfrm>
            <a:off x="365760" y="1115568"/>
            <a:ext cx="438912" cy="438912"/>
          </a:xfrm>
          <a:prstGeom prst="ellipse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22"/>
          <p:cNvSpPr/>
          <p:nvPr/>
        </p:nvSpPr>
        <p:spPr>
          <a:xfrm>
            <a:off x="365760" y="11155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2"/>
          <p:cNvSpPr/>
          <p:nvPr/>
        </p:nvSpPr>
        <p:spPr>
          <a:xfrm>
            <a:off x="960120" y="106070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Enter Your Info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2"/>
          <p:cNvSpPr/>
          <p:nvPr/>
        </p:nvSpPr>
        <p:spPr>
          <a:xfrm>
            <a:off x="960120" y="1353312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Name  |  Role  |  Line / BUM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2"/>
          <p:cNvSpPr/>
          <p:nvPr/>
        </p:nvSpPr>
        <p:spPr>
          <a:xfrm>
            <a:off x="274320" y="1764792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22"/>
          <p:cNvSpPr/>
          <p:nvPr/>
        </p:nvSpPr>
        <p:spPr>
          <a:xfrm>
            <a:off x="365760" y="1874520"/>
            <a:ext cx="438912" cy="438912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22"/>
          <p:cNvSpPr/>
          <p:nvPr/>
        </p:nvSpPr>
        <p:spPr>
          <a:xfrm>
            <a:off x="365760" y="18745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2"/>
          <p:cNvSpPr/>
          <p:nvPr/>
        </p:nvSpPr>
        <p:spPr>
          <a:xfrm>
            <a:off x="960120" y="181965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Enter Monthly Achievement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2"/>
          <p:cNvSpPr/>
          <p:nvPr/>
        </p:nvSpPr>
        <p:spPr>
          <a:xfrm>
            <a:off x="960120" y="2112264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Use sliders to enter KPI percentages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2"/>
          <p:cNvSpPr/>
          <p:nvPr/>
        </p:nvSpPr>
        <p:spPr>
          <a:xfrm>
            <a:off x="274320" y="2523744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22"/>
          <p:cNvSpPr/>
          <p:nvPr/>
        </p:nvSpPr>
        <p:spPr>
          <a:xfrm>
            <a:off x="365760" y="2633472"/>
            <a:ext cx="438912" cy="438912"/>
          </a:xfrm>
          <a:prstGeom prst="ellipse">
            <a:avLst/>
          </a:prstGeom>
          <a:solidFill>
            <a:srgbClr val="52C41A"/>
          </a:solidFill>
          <a:ln w="12700" cap="flat" cmpd="sng">
            <a:solidFill>
              <a:srgbClr val="52C4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22"/>
          <p:cNvSpPr/>
          <p:nvPr/>
        </p:nvSpPr>
        <p:spPr>
          <a:xfrm>
            <a:off x="365760" y="263347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2"/>
          <p:cNvSpPr/>
          <p:nvPr/>
        </p:nvSpPr>
        <p:spPr>
          <a:xfrm>
            <a:off x="960120" y="257860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Save This Month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2"/>
          <p:cNvSpPr/>
          <p:nvPr/>
        </p:nvSpPr>
        <p:spPr>
          <a:xfrm>
            <a:off x="960120" y="2871216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Click Save to record your monthly score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2"/>
          <p:cNvSpPr/>
          <p:nvPr/>
        </p:nvSpPr>
        <p:spPr>
          <a:xfrm>
            <a:off x="274320" y="328269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22"/>
          <p:cNvSpPr/>
          <p:nvPr/>
        </p:nvSpPr>
        <p:spPr>
          <a:xfrm>
            <a:off x="365760" y="3392424"/>
            <a:ext cx="438912" cy="438912"/>
          </a:xfrm>
          <a:prstGeom prst="ellipse">
            <a:avLst/>
          </a:prstGeom>
          <a:solidFill>
            <a:srgbClr val="722ED1"/>
          </a:solidFill>
          <a:ln w="12700" cap="flat" cmpd="sng">
            <a:solidFill>
              <a:srgbClr val="722E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22"/>
          <p:cNvSpPr/>
          <p:nvPr/>
        </p:nvSpPr>
        <p:spPr>
          <a:xfrm>
            <a:off x="365760" y="339242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2"/>
          <p:cNvSpPr/>
          <p:nvPr/>
        </p:nvSpPr>
        <p:spPr>
          <a:xfrm>
            <a:off x="960120" y="333756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View Progress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2"/>
          <p:cNvSpPr/>
          <p:nvPr/>
        </p:nvSpPr>
        <p:spPr>
          <a:xfrm>
            <a:off x="960120" y="3630168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See Q3, Q4 &amp; Annual totals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2"/>
          <p:cNvSpPr/>
          <p:nvPr/>
        </p:nvSpPr>
        <p:spPr>
          <a:xfrm>
            <a:off x="274320" y="4041648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22"/>
          <p:cNvSpPr/>
          <p:nvPr/>
        </p:nvSpPr>
        <p:spPr>
          <a:xfrm>
            <a:off x="365760" y="4151376"/>
            <a:ext cx="438912" cy="438912"/>
          </a:xfrm>
          <a:prstGeom prst="ellipse">
            <a:avLst/>
          </a:prstGeom>
          <a:solidFill>
            <a:srgbClr val="FA8C16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22"/>
          <p:cNvSpPr/>
          <p:nvPr/>
        </p:nvSpPr>
        <p:spPr>
          <a:xfrm>
            <a:off x="365760" y="415137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2"/>
          <p:cNvSpPr/>
          <p:nvPr/>
        </p:nvSpPr>
        <p:spPr>
          <a:xfrm>
            <a:off x="960120" y="409651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Share Your Score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2"/>
          <p:cNvSpPr/>
          <p:nvPr/>
        </p:nvSpPr>
        <p:spPr>
          <a:xfrm>
            <a:off x="960120" y="438912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Copy Summary for WhatsApp or Email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2"/>
          <p:cNvSpPr/>
          <p:nvPr/>
        </p:nvSpPr>
        <p:spPr>
          <a:xfrm>
            <a:off x="5760720" y="100584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0F7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22"/>
          <p:cNvSpPr/>
          <p:nvPr/>
        </p:nvSpPr>
        <p:spPr>
          <a:xfrm>
            <a:off x="5897880" y="107899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0F2557"/>
                </a:solidFill>
                <a:latin typeface="Montserrat"/>
                <a:ea typeface="Montserrat"/>
                <a:cs typeface="Montserrat"/>
                <a:sym typeface="Montserrat"/>
              </a:rPr>
              <a:t>Target Simulator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2"/>
          <p:cNvSpPr/>
          <p:nvPr/>
        </p:nvSpPr>
        <p:spPr>
          <a:xfrm>
            <a:off x="5897880" y="150876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 cap="flat" cmpd="sng">
            <a:solidFill>
              <a:srgbClr val="FFD7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22"/>
          <p:cNvSpPr/>
          <p:nvPr/>
        </p:nvSpPr>
        <p:spPr>
          <a:xfrm>
            <a:off x="5961888" y="15544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2"/>
          <p:cNvSpPr/>
          <p:nvPr/>
        </p:nvSpPr>
        <p:spPr>
          <a:xfrm>
            <a:off x="6364224" y="154533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000"/>
              <a:buFont typeface="Montserrat"/>
              <a:buNone/>
            </a:pPr>
            <a:r>
              <a:rPr lang="en-US" sz="1000" b="1" i="0" u="none" strike="noStrike" cap="none">
                <a:solidFill>
                  <a:srgbClr val="FFD700"/>
                </a:solidFill>
                <a:latin typeface="Montserrat"/>
                <a:ea typeface="Montserrat"/>
                <a:cs typeface="Montserrat"/>
                <a:sym typeface="Montserrat"/>
              </a:rPr>
              <a:t>Champion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2"/>
          <p:cNvSpPr/>
          <p:nvPr/>
        </p:nvSpPr>
        <p:spPr>
          <a:xfrm>
            <a:off x="6364224" y="174650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88+ pts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2"/>
          <p:cNvSpPr/>
          <p:nvPr/>
        </p:nvSpPr>
        <p:spPr>
          <a:xfrm>
            <a:off x="7973568" y="160020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FFD700"/>
          </a:solidFill>
          <a:ln w="12700" cap="flat" cmpd="sng">
            <a:solidFill>
              <a:srgbClr val="FFD7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22"/>
          <p:cNvSpPr/>
          <p:nvPr/>
        </p:nvSpPr>
        <p:spPr>
          <a:xfrm>
            <a:off x="7973568" y="1600200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88+ pts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2"/>
          <p:cNvSpPr/>
          <p:nvPr/>
        </p:nvSpPr>
        <p:spPr>
          <a:xfrm>
            <a:off x="5897880" y="205740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22"/>
          <p:cNvSpPr/>
          <p:nvPr/>
        </p:nvSpPr>
        <p:spPr>
          <a:xfrm>
            <a:off x="5961888" y="21031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2"/>
          <p:cNvSpPr/>
          <p:nvPr/>
        </p:nvSpPr>
        <p:spPr>
          <a:xfrm>
            <a:off x="6364224" y="209397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8C16"/>
              </a:buClr>
              <a:buSzPts val="1000"/>
              <a:buFont typeface="Montserrat"/>
              <a:buNone/>
            </a:pPr>
            <a:r>
              <a:rPr lang="en-US" sz="1000" b="1" i="0" u="none" strike="noStrike" cap="none">
                <a:solidFill>
                  <a:srgbClr val="FA8C16"/>
                </a:solidFill>
                <a:latin typeface="Montserrat"/>
                <a:ea typeface="Montserrat"/>
                <a:cs typeface="Montserrat"/>
                <a:sym typeface="Montserrat"/>
              </a:rPr>
              <a:t>Performer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2"/>
          <p:cNvSpPr/>
          <p:nvPr/>
        </p:nvSpPr>
        <p:spPr>
          <a:xfrm>
            <a:off x="6364224" y="229514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68+ pts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2"/>
          <p:cNvSpPr/>
          <p:nvPr/>
        </p:nvSpPr>
        <p:spPr>
          <a:xfrm>
            <a:off x="7973568" y="214884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FA8C16"/>
          </a:solidFill>
          <a:ln w="12700" cap="flat" cmpd="sng">
            <a:solidFill>
              <a:srgbClr val="FA8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22"/>
          <p:cNvSpPr/>
          <p:nvPr/>
        </p:nvSpPr>
        <p:spPr>
          <a:xfrm>
            <a:off x="7973568" y="2148840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68+ pts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2"/>
          <p:cNvSpPr/>
          <p:nvPr/>
        </p:nvSpPr>
        <p:spPr>
          <a:xfrm>
            <a:off x="5897880" y="260604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22"/>
          <p:cNvSpPr/>
          <p:nvPr/>
        </p:nvSpPr>
        <p:spPr>
          <a:xfrm>
            <a:off x="5961888" y="2651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▲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2"/>
          <p:cNvSpPr/>
          <p:nvPr/>
        </p:nvSpPr>
        <p:spPr>
          <a:xfrm>
            <a:off x="6364224" y="264261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0C9"/>
              </a:buClr>
              <a:buSzPts val="1000"/>
              <a:buFont typeface="Montserrat"/>
              <a:buNone/>
            </a:pPr>
            <a:r>
              <a:rPr lang="en-US" sz="1000" b="1" i="0" u="none" strike="noStrike" cap="none">
                <a:solidFill>
                  <a:srgbClr val="1E50C9"/>
                </a:solidFill>
                <a:latin typeface="Montserrat"/>
                <a:ea typeface="Montserrat"/>
                <a:cs typeface="Montserrat"/>
                <a:sym typeface="Montserrat"/>
              </a:rPr>
              <a:t>On Track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2"/>
          <p:cNvSpPr/>
          <p:nvPr/>
        </p:nvSpPr>
        <p:spPr>
          <a:xfrm>
            <a:off x="6364224" y="284378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42+ pts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2"/>
          <p:cNvSpPr/>
          <p:nvPr/>
        </p:nvSpPr>
        <p:spPr>
          <a:xfrm>
            <a:off x="7973568" y="269748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22"/>
          <p:cNvSpPr/>
          <p:nvPr/>
        </p:nvSpPr>
        <p:spPr>
          <a:xfrm>
            <a:off x="7973568" y="2697480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42+ pts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2"/>
          <p:cNvSpPr/>
          <p:nvPr/>
        </p:nvSpPr>
        <p:spPr>
          <a:xfrm>
            <a:off x="5760720" y="3401568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22"/>
          <p:cNvSpPr/>
          <p:nvPr/>
        </p:nvSpPr>
        <p:spPr>
          <a:xfrm>
            <a:off x="5897880" y="34747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0F2557"/>
                </a:solidFill>
                <a:latin typeface="Montserrat"/>
                <a:ea typeface="Montserrat"/>
                <a:cs typeface="Montserrat"/>
                <a:sym typeface="Montserrat"/>
              </a:rPr>
              <a:t>Performance Views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2"/>
          <p:cNvSpPr/>
          <p:nvPr/>
        </p:nvSpPr>
        <p:spPr>
          <a:xfrm>
            <a:off x="5897880" y="3840480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Annual total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2"/>
          <p:cNvSpPr/>
          <p:nvPr/>
        </p:nvSpPr>
        <p:spPr>
          <a:xfrm>
            <a:off x="5897880" y="4096512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Q3: Jun - Aug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2"/>
          <p:cNvSpPr/>
          <p:nvPr/>
        </p:nvSpPr>
        <p:spPr>
          <a:xfrm>
            <a:off x="5897880" y="4352544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Q4: Sep - Dec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2"/>
          <p:cNvSpPr/>
          <p:nvPr/>
        </p:nvSpPr>
        <p:spPr>
          <a:xfrm>
            <a:off x="5897880" y="4608576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All Months breakdown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6967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557"/>
        </a:solidFill>
        <a:effectLst/>
      </p:bgPr>
    </p:bg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23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23"/>
          <p:cNvSpPr/>
          <p:nvPr/>
        </p:nvSpPr>
        <p:spPr>
          <a:xfrm>
            <a:off x="731520" y="1417320"/>
            <a:ext cx="1005840" cy="1005840"/>
          </a:xfrm>
          <a:prstGeom prst="ellipse">
            <a:avLst/>
          </a:prstGeom>
          <a:solidFill>
            <a:srgbClr val="FAAD14">
              <a:alpha val="80000"/>
            </a:srgbClr>
          </a:solidFill>
          <a:ln w="254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23"/>
          <p:cNvSpPr/>
          <p:nvPr/>
        </p:nvSpPr>
        <p:spPr>
          <a:xfrm>
            <a:off x="640080" y="228600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ontserrat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Install on Your Device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3"/>
          <p:cNvSpPr/>
          <p:nvPr/>
        </p:nvSpPr>
        <p:spPr>
          <a:xfrm>
            <a:off x="640080" y="32461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53D"/>
              </a:buClr>
              <a:buSzPts val="1600"/>
              <a:buFont typeface="Open Sans"/>
              <a:buNone/>
            </a:pPr>
            <a:r>
              <a:rPr lang="en-US" sz="1600" b="0" i="0" u="none" strike="noStrike" cap="none">
                <a:solidFill>
                  <a:srgbClr val="FFC53D"/>
                </a:solidFill>
                <a:latin typeface="Open Sans"/>
                <a:ea typeface="Open Sans"/>
                <a:cs typeface="Open Sans"/>
                <a:sym typeface="Open Sans"/>
              </a:rPr>
              <a:t>Save Zeta Sprint to your phone or desktop for quick access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3"/>
          <p:cNvSpPr/>
          <p:nvPr/>
        </p:nvSpPr>
        <p:spPr>
          <a:xfrm>
            <a:off x="640080" y="4754880"/>
            <a:ext cx="2286000" cy="54864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8424DF-337F-A18C-CF3D-67D1735B7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119" y="466863"/>
            <a:ext cx="2960881" cy="391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06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24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2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24"/>
          <p:cNvSpPr/>
          <p:nvPr/>
        </p:nvSpPr>
        <p:spPr>
          <a:xfrm>
            <a:off x="320040" y="914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Save to iPhone / iPad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4"/>
          <p:cNvSpPr/>
          <p:nvPr/>
        </p:nvSpPr>
        <p:spPr>
          <a:xfrm>
            <a:off x="6766560" y="914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C53D"/>
              </a:buClr>
              <a:buSzPts val="1100"/>
              <a:buFont typeface="Open Sans"/>
              <a:buNone/>
            </a:pPr>
            <a:r>
              <a:rPr lang="en-US" sz="1100" b="0" i="0" u="none" strike="noStrike" cap="none">
                <a:solidFill>
                  <a:srgbClr val="FFC53D"/>
                </a:solidFill>
                <a:latin typeface="Open Sans"/>
                <a:ea typeface="Open Sans"/>
                <a:cs typeface="Open Sans"/>
                <a:sym typeface="Open Sans"/>
              </a:rPr>
              <a:t>Add to Home Screen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4"/>
          <p:cNvSpPr/>
          <p:nvPr/>
        </p:nvSpPr>
        <p:spPr>
          <a:xfrm>
            <a:off x="274320" y="100584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24"/>
          <p:cNvSpPr/>
          <p:nvPr/>
        </p:nvSpPr>
        <p:spPr>
          <a:xfrm>
            <a:off x="365760" y="1078992"/>
            <a:ext cx="438912" cy="438912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24"/>
          <p:cNvSpPr/>
          <p:nvPr/>
        </p:nvSpPr>
        <p:spPr>
          <a:xfrm>
            <a:off x="365760" y="10789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4"/>
          <p:cNvSpPr/>
          <p:nvPr/>
        </p:nvSpPr>
        <p:spPr>
          <a:xfrm>
            <a:off x="896112" y="104241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Open Safari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4"/>
          <p:cNvSpPr/>
          <p:nvPr/>
        </p:nvSpPr>
        <p:spPr>
          <a:xfrm>
            <a:off x="896112" y="130759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Launch Safari browser on your iPhone or iPad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4"/>
          <p:cNvSpPr/>
          <p:nvPr/>
        </p:nvSpPr>
        <p:spPr>
          <a:xfrm>
            <a:off x="274320" y="1764792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24"/>
          <p:cNvSpPr/>
          <p:nvPr/>
        </p:nvSpPr>
        <p:spPr>
          <a:xfrm>
            <a:off x="365760" y="1837944"/>
            <a:ext cx="438912" cy="438912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24"/>
          <p:cNvSpPr/>
          <p:nvPr/>
        </p:nvSpPr>
        <p:spPr>
          <a:xfrm>
            <a:off x="365760" y="18379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4"/>
          <p:cNvSpPr/>
          <p:nvPr/>
        </p:nvSpPr>
        <p:spPr>
          <a:xfrm>
            <a:off x="896112" y="180136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Visit Website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4"/>
          <p:cNvSpPr/>
          <p:nvPr/>
        </p:nvSpPr>
        <p:spPr>
          <a:xfrm>
            <a:off x="896112" y="206654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37474F"/>
              </a:buClr>
              <a:buSzPts val="900"/>
            </a:pPr>
            <a:r>
              <a:rPr lang="en-US" sz="900" b="0" i="0" u="none" strike="noStrike" cap="none" dirty="0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Go to: </a:t>
            </a:r>
            <a:r>
              <a:rPr lang="en-US" sz="900" dirty="0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https://zeta-sprint-2026.netlify.app/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4"/>
          <p:cNvSpPr/>
          <p:nvPr/>
        </p:nvSpPr>
        <p:spPr>
          <a:xfrm>
            <a:off x="274320" y="2523744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24"/>
          <p:cNvSpPr/>
          <p:nvPr/>
        </p:nvSpPr>
        <p:spPr>
          <a:xfrm>
            <a:off x="365760" y="2596896"/>
            <a:ext cx="438912" cy="438912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24"/>
          <p:cNvSpPr/>
          <p:nvPr/>
        </p:nvSpPr>
        <p:spPr>
          <a:xfrm>
            <a:off x="365760" y="259689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4"/>
          <p:cNvSpPr/>
          <p:nvPr/>
        </p:nvSpPr>
        <p:spPr>
          <a:xfrm>
            <a:off x="896112" y="25603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Tap Share Icon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4"/>
          <p:cNvSpPr/>
          <p:nvPr/>
        </p:nvSpPr>
        <p:spPr>
          <a:xfrm>
            <a:off x="896112" y="282549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 dirty="0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Tap the Share button — square with arrow pointing up at Safari bottom bar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4"/>
          <p:cNvSpPr/>
          <p:nvPr/>
        </p:nvSpPr>
        <p:spPr>
          <a:xfrm>
            <a:off x="274320" y="3282696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24"/>
          <p:cNvSpPr/>
          <p:nvPr/>
        </p:nvSpPr>
        <p:spPr>
          <a:xfrm>
            <a:off x="365760" y="3355848"/>
            <a:ext cx="438912" cy="438912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24"/>
          <p:cNvSpPr/>
          <p:nvPr/>
        </p:nvSpPr>
        <p:spPr>
          <a:xfrm>
            <a:off x="365760" y="335584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4"/>
          <p:cNvSpPr/>
          <p:nvPr/>
        </p:nvSpPr>
        <p:spPr>
          <a:xfrm>
            <a:off x="896112" y="33192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Add to Home Screen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4"/>
          <p:cNvSpPr/>
          <p:nvPr/>
        </p:nvSpPr>
        <p:spPr>
          <a:xfrm>
            <a:off x="896112" y="358444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Scroll down and select Add to Home Screen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4"/>
          <p:cNvSpPr/>
          <p:nvPr/>
        </p:nvSpPr>
        <p:spPr>
          <a:xfrm>
            <a:off x="274320" y="4041648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24"/>
          <p:cNvSpPr/>
          <p:nvPr/>
        </p:nvSpPr>
        <p:spPr>
          <a:xfrm>
            <a:off x="365760" y="4114800"/>
            <a:ext cx="438912" cy="438912"/>
          </a:xfrm>
          <a:prstGeom prst="ellipse">
            <a:avLst/>
          </a:prstGeom>
          <a:solidFill>
            <a:srgbClr val="1E50C9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24"/>
          <p:cNvSpPr/>
          <p:nvPr/>
        </p:nvSpPr>
        <p:spPr>
          <a:xfrm>
            <a:off x="365760" y="41148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4"/>
          <p:cNvSpPr/>
          <p:nvPr/>
        </p:nvSpPr>
        <p:spPr>
          <a:xfrm>
            <a:off x="896112" y="407822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Confirm Installation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4"/>
          <p:cNvSpPr/>
          <p:nvPr/>
        </p:nvSpPr>
        <p:spPr>
          <a:xfrm>
            <a:off x="896112" y="434340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Tap Add to confirm — icon appears on home screen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4"/>
          <p:cNvSpPr/>
          <p:nvPr/>
        </p:nvSpPr>
        <p:spPr>
          <a:xfrm>
            <a:off x="4206240" y="1005840"/>
            <a:ext cx="4663440" cy="4041648"/>
          </a:xfrm>
          <a:prstGeom prst="roundRect">
            <a:avLst>
              <a:gd name="adj" fmla="val 1810"/>
            </a:avLst>
          </a:prstGeom>
          <a:solidFill>
            <a:srgbClr val="EFF8FF"/>
          </a:solidFill>
          <a:ln w="12700" cap="flat" cmpd="sng">
            <a:solidFill>
              <a:srgbClr val="1E50C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4"/>
          <p:cNvSpPr/>
          <p:nvPr/>
        </p:nvSpPr>
        <p:spPr>
          <a:xfrm>
            <a:off x="4389120" y="4471416"/>
            <a:ext cx="4297680" cy="475488"/>
          </a:xfrm>
          <a:prstGeom prst="roundRect">
            <a:avLst>
              <a:gd name="adj" fmla="val 13462"/>
            </a:avLst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4">
            <a:hlinkClick r:id="rId3"/>
          </p:cNvPr>
          <p:cNvSpPr/>
          <p:nvPr/>
        </p:nvSpPr>
        <p:spPr>
          <a:xfrm>
            <a:off x="3022554" y="4482500"/>
            <a:ext cx="7030809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AAD14"/>
              </a:buClr>
              <a:buSzPts val="1300"/>
              <a:buFont typeface="Open Sans"/>
              <a:buNone/>
            </a:pPr>
            <a:r>
              <a:rPr lang="en-US" sz="1100" b="1" i="0" u="none" strike="noStrike" cap="none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https://ahmedabdallahsfe-ai.github.io/Zeta-Sprint-Points-Calculator/</a:t>
            </a:r>
            <a:endParaRPr sz="1100" b="1" i="0" u="none" strike="noStrike" cap="none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D09E97-878F-44C8-E8D6-585AF996A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842" y="1192675"/>
            <a:ext cx="2382235" cy="314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08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2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2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25"/>
          <p:cNvSpPr/>
          <p:nvPr/>
        </p:nvSpPr>
        <p:spPr>
          <a:xfrm>
            <a:off x="320040" y="914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Save to Android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5"/>
          <p:cNvSpPr/>
          <p:nvPr/>
        </p:nvSpPr>
        <p:spPr>
          <a:xfrm>
            <a:off x="6766560" y="914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C53D"/>
              </a:buClr>
              <a:buSzPts val="1100"/>
              <a:buFont typeface="Open Sans"/>
              <a:buNone/>
            </a:pPr>
            <a:r>
              <a:rPr lang="en-US" sz="1100" b="0" i="0" u="none" strike="noStrike" cap="none">
                <a:solidFill>
                  <a:srgbClr val="FFC53D"/>
                </a:solidFill>
                <a:latin typeface="Open Sans"/>
                <a:ea typeface="Open Sans"/>
                <a:cs typeface="Open Sans"/>
                <a:sym typeface="Open Sans"/>
              </a:rPr>
              <a:t>Add to Home Screen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5"/>
          <p:cNvSpPr/>
          <p:nvPr/>
        </p:nvSpPr>
        <p:spPr>
          <a:xfrm>
            <a:off x="274320" y="100584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25"/>
          <p:cNvSpPr/>
          <p:nvPr/>
        </p:nvSpPr>
        <p:spPr>
          <a:xfrm>
            <a:off x="365760" y="1078992"/>
            <a:ext cx="438912" cy="438912"/>
          </a:xfrm>
          <a:prstGeom prst="ellipse">
            <a:avLst/>
          </a:prstGeom>
          <a:solidFill>
            <a:srgbClr val="52C41A"/>
          </a:solidFill>
          <a:ln w="12700" cap="flat" cmpd="sng">
            <a:solidFill>
              <a:srgbClr val="52C4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25"/>
          <p:cNvSpPr/>
          <p:nvPr/>
        </p:nvSpPr>
        <p:spPr>
          <a:xfrm>
            <a:off x="365760" y="10789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5"/>
          <p:cNvSpPr/>
          <p:nvPr/>
        </p:nvSpPr>
        <p:spPr>
          <a:xfrm>
            <a:off x="896112" y="104241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Open Chrome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25"/>
          <p:cNvSpPr/>
          <p:nvPr/>
        </p:nvSpPr>
        <p:spPr>
          <a:xfrm>
            <a:off x="896112" y="130759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Launch Google Chrome browser on your Android device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5"/>
          <p:cNvSpPr/>
          <p:nvPr/>
        </p:nvSpPr>
        <p:spPr>
          <a:xfrm>
            <a:off x="274320" y="1764792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25"/>
          <p:cNvSpPr/>
          <p:nvPr/>
        </p:nvSpPr>
        <p:spPr>
          <a:xfrm>
            <a:off x="365760" y="1837944"/>
            <a:ext cx="438912" cy="438912"/>
          </a:xfrm>
          <a:prstGeom prst="ellipse">
            <a:avLst/>
          </a:prstGeom>
          <a:solidFill>
            <a:srgbClr val="52C41A"/>
          </a:solidFill>
          <a:ln w="12700" cap="flat" cmpd="sng">
            <a:solidFill>
              <a:srgbClr val="52C4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25"/>
          <p:cNvSpPr/>
          <p:nvPr/>
        </p:nvSpPr>
        <p:spPr>
          <a:xfrm>
            <a:off x="365760" y="18379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25"/>
          <p:cNvSpPr/>
          <p:nvPr/>
        </p:nvSpPr>
        <p:spPr>
          <a:xfrm>
            <a:off x="896112" y="180136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Visit Website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25"/>
          <p:cNvSpPr/>
          <p:nvPr/>
        </p:nvSpPr>
        <p:spPr>
          <a:xfrm>
            <a:off x="896112" y="206654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Go to: zeta-sprint-2026.netlify.app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25"/>
          <p:cNvSpPr/>
          <p:nvPr/>
        </p:nvSpPr>
        <p:spPr>
          <a:xfrm>
            <a:off x="274320" y="2523744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25"/>
          <p:cNvSpPr/>
          <p:nvPr/>
        </p:nvSpPr>
        <p:spPr>
          <a:xfrm>
            <a:off x="365760" y="2596896"/>
            <a:ext cx="438912" cy="438912"/>
          </a:xfrm>
          <a:prstGeom prst="ellipse">
            <a:avLst/>
          </a:prstGeom>
          <a:solidFill>
            <a:srgbClr val="52C41A"/>
          </a:solidFill>
          <a:ln w="12700" cap="flat" cmpd="sng">
            <a:solidFill>
              <a:srgbClr val="52C4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25"/>
          <p:cNvSpPr/>
          <p:nvPr/>
        </p:nvSpPr>
        <p:spPr>
          <a:xfrm>
            <a:off x="365760" y="259689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5"/>
          <p:cNvSpPr/>
          <p:nvPr/>
        </p:nvSpPr>
        <p:spPr>
          <a:xfrm>
            <a:off x="896112" y="25603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Open Menu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5"/>
          <p:cNvSpPr/>
          <p:nvPr/>
        </p:nvSpPr>
        <p:spPr>
          <a:xfrm>
            <a:off x="896112" y="282549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Tap the three-dot menu icon at the top right of Chrome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5"/>
          <p:cNvSpPr/>
          <p:nvPr/>
        </p:nvSpPr>
        <p:spPr>
          <a:xfrm>
            <a:off x="274320" y="3282696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25"/>
          <p:cNvSpPr/>
          <p:nvPr/>
        </p:nvSpPr>
        <p:spPr>
          <a:xfrm>
            <a:off x="365760" y="3355848"/>
            <a:ext cx="438912" cy="438912"/>
          </a:xfrm>
          <a:prstGeom prst="ellipse">
            <a:avLst/>
          </a:prstGeom>
          <a:solidFill>
            <a:srgbClr val="52C41A"/>
          </a:solidFill>
          <a:ln w="12700" cap="flat" cmpd="sng">
            <a:solidFill>
              <a:srgbClr val="52C4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25"/>
          <p:cNvSpPr/>
          <p:nvPr/>
        </p:nvSpPr>
        <p:spPr>
          <a:xfrm>
            <a:off x="365760" y="335584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5"/>
          <p:cNvSpPr/>
          <p:nvPr/>
        </p:nvSpPr>
        <p:spPr>
          <a:xfrm>
            <a:off x="896112" y="33192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Add to Home Screen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5"/>
          <p:cNvSpPr/>
          <p:nvPr/>
        </p:nvSpPr>
        <p:spPr>
          <a:xfrm>
            <a:off x="896112" y="358444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Select Add to Home screen or Install app from the menu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5"/>
          <p:cNvSpPr/>
          <p:nvPr/>
        </p:nvSpPr>
        <p:spPr>
          <a:xfrm>
            <a:off x="274320" y="4041648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 cap="flat" cmpd="sng">
            <a:solidFill>
              <a:srgbClr val="E0E6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25"/>
          <p:cNvSpPr/>
          <p:nvPr/>
        </p:nvSpPr>
        <p:spPr>
          <a:xfrm>
            <a:off x="365760" y="4114800"/>
            <a:ext cx="438912" cy="438912"/>
          </a:xfrm>
          <a:prstGeom prst="ellipse">
            <a:avLst/>
          </a:prstGeom>
          <a:solidFill>
            <a:srgbClr val="52C41A"/>
          </a:solidFill>
          <a:ln w="12700" cap="flat" cmpd="sng">
            <a:solidFill>
              <a:srgbClr val="52C4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25"/>
          <p:cNvSpPr/>
          <p:nvPr/>
        </p:nvSpPr>
        <p:spPr>
          <a:xfrm>
            <a:off x="365760" y="41148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5"/>
          <p:cNvSpPr/>
          <p:nvPr/>
        </p:nvSpPr>
        <p:spPr>
          <a:xfrm>
            <a:off x="896112" y="407822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1A2340"/>
                </a:solidFill>
                <a:latin typeface="Montserrat"/>
                <a:ea typeface="Montserrat"/>
                <a:cs typeface="Montserrat"/>
                <a:sym typeface="Montserrat"/>
              </a:rPr>
              <a:t>Confirm Installation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25"/>
          <p:cNvSpPr/>
          <p:nvPr/>
        </p:nvSpPr>
        <p:spPr>
          <a:xfrm>
            <a:off x="896112" y="434340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37474F"/>
                </a:solidFill>
                <a:latin typeface="Open Sans"/>
                <a:ea typeface="Open Sans"/>
                <a:cs typeface="Open Sans"/>
                <a:sym typeface="Open Sans"/>
              </a:rPr>
              <a:t>Tap Install or Add — the icon appears on your home screen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5"/>
          <p:cNvSpPr/>
          <p:nvPr/>
        </p:nvSpPr>
        <p:spPr>
          <a:xfrm>
            <a:off x="4206240" y="1005840"/>
            <a:ext cx="4663440" cy="4041648"/>
          </a:xfrm>
          <a:prstGeom prst="roundRect">
            <a:avLst>
              <a:gd name="adj" fmla="val 1810"/>
            </a:avLst>
          </a:prstGeom>
          <a:solidFill>
            <a:srgbClr val="F0FFF4"/>
          </a:solidFill>
          <a:ln w="12700" cap="flat" cmpd="sng">
            <a:solidFill>
              <a:srgbClr val="52C41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045;p24">
            <a:extLst>
              <a:ext uri="{FF2B5EF4-FFF2-40B4-BE49-F238E27FC236}">
                <a16:creationId xmlns:a16="http://schemas.microsoft.com/office/drawing/2014/main" id="{F9FE20CE-E811-2FF1-6640-03A24FDD976A}"/>
              </a:ext>
            </a:extLst>
          </p:cNvPr>
          <p:cNvSpPr/>
          <p:nvPr/>
        </p:nvSpPr>
        <p:spPr>
          <a:xfrm>
            <a:off x="4389120" y="4471416"/>
            <a:ext cx="4297680" cy="475488"/>
          </a:xfrm>
          <a:prstGeom prst="roundRect">
            <a:avLst>
              <a:gd name="adj" fmla="val 13462"/>
            </a:avLst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46;p24">
            <a:extLst>
              <a:ext uri="{FF2B5EF4-FFF2-40B4-BE49-F238E27FC236}">
                <a16:creationId xmlns:a16="http://schemas.microsoft.com/office/drawing/2014/main" id="{8C688EAF-81A0-CA76-E320-71FD0E9AB459}"/>
              </a:ext>
            </a:extLst>
          </p:cNvPr>
          <p:cNvSpPr/>
          <p:nvPr/>
        </p:nvSpPr>
        <p:spPr>
          <a:xfrm>
            <a:off x="4389120" y="4471416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AAD14"/>
              </a:buClr>
              <a:buSzPts val="1300"/>
              <a:buFont typeface="Open Sans"/>
              <a:buNone/>
            </a:pPr>
            <a:r>
              <a:rPr lang="en-US" sz="1200" b="1" i="0" u="none" strike="noStrike" cap="none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https://ahmedabdallahsfe-ai.github.io/Zeta-Sprint-Points-Calculator/</a:t>
            </a:r>
            <a:endParaRPr sz="1200" b="1" i="0" u="none" strike="noStrike" cap="none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5E31A2-B4BD-1E42-FBF3-7FF549BBB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330" y="1078991"/>
            <a:ext cx="2479216" cy="327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219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557"/>
        </a:solidFill>
        <a:effectLst/>
      </p:bgPr>
    </p:bg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27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27"/>
          <p:cNvSpPr/>
          <p:nvPr/>
        </p:nvSpPr>
        <p:spPr>
          <a:xfrm>
            <a:off x="552996" y="822960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Ready to Sprint?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7"/>
          <p:cNvSpPr/>
          <p:nvPr/>
        </p:nvSpPr>
        <p:spPr>
          <a:xfrm>
            <a:off x="640080" y="1600200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53D"/>
              </a:buClr>
              <a:buSzPts val="1700"/>
              <a:buFont typeface="Open Sans"/>
              <a:buNone/>
            </a:pPr>
            <a:r>
              <a:rPr lang="en-US" sz="1700" b="0" i="0" u="none" strike="noStrike" cap="none">
                <a:solidFill>
                  <a:srgbClr val="FFC53D"/>
                </a:solidFill>
                <a:latin typeface="Open Sans"/>
                <a:ea typeface="Open Sans"/>
                <a:cs typeface="Open Sans"/>
                <a:sym typeface="Open Sans"/>
              </a:rPr>
              <a:t>Access the Zeta Sprint Points Calculator now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7"/>
          <p:cNvSpPr/>
          <p:nvPr/>
        </p:nvSpPr>
        <p:spPr>
          <a:xfrm>
            <a:off x="640080" y="212140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27"/>
          <p:cNvSpPr/>
          <p:nvPr/>
        </p:nvSpPr>
        <p:spPr>
          <a:xfrm>
            <a:off x="640080" y="2121408"/>
            <a:ext cx="4114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600"/>
              <a:buFont typeface="Montserrat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https://ahmedabdallahsfe-ai.github.io/Zeta-Sprint-Points-Calculator/</a:t>
            </a:r>
            <a:endParaRPr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7"/>
          <p:cNvSpPr/>
          <p:nvPr/>
        </p:nvSpPr>
        <p:spPr>
          <a:xfrm>
            <a:off x="640080" y="2907792"/>
            <a:ext cx="2743200" cy="45720"/>
          </a:xfrm>
          <a:prstGeom prst="rect">
            <a:avLst/>
          </a:prstGeom>
          <a:solidFill>
            <a:srgbClr val="FAAD14"/>
          </a:solidFill>
          <a:ln w="12700" cap="flat" cmpd="sng">
            <a:solidFill>
              <a:srgbClr val="FAA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27"/>
          <p:cNvSpPr/>
          <p:nvPr/>
        </p:nvSpPr>
        <p:spPr>
          <a:xfrm>
            <a:off x="640080" y="306324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Open Sans"/>
              <a:buNone/>
            </a:pPr>
            <a:r>
              <a:rPr lang="en-US" sz="1300" b="0" i="0" u="none" strike="noStrike" cap="none">
                <a:solidFill>
                  <a:srgbClr val="CADCFC"/>
                </a:solidFill>
                <a:latin typeface="Open Sans"/>
                <a:ea typeface="Open Sans"/>
                <a:cs typeface="Open Sans"/>
                <a:sym typeface="Open Sans"/>
              </a:rPr>
              <a:t>June - December 2026  |  7 Months  |  All Roles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7"/>
          <p:cNvSpPr/>
          <p:nvPr/>
        </p:nvSpPr>
        <p:spPr>
          <a:xfrm>
            <a:off x="640080" y="352044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AD14"/>
              </a:buClr>
              <a:buSzPts val="1400"/>
              <a:buFont typeface="Open Sans"/>
              <a:buNone/>
            </a:pPr>
            <a:r>
              <a:rPr lang="en-US" sz="1400" b="1" i="1" u="none" strike="noStrike" cap="none">
                <a:solidFill>
                  <a:srgbClr val="FAAD14"/>
                </a:solidFill>
                <a:latin typeface="Open Sans"/>
                <a:ea typeface="Open Sans"/>
                <a:cs typeface="Open Sans"/>
                <a:sym typeface="Open Sans"/>
              </a:rPr>
              <a:t>Perform  |  Earn Points  |  Win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7"/>
          <p:cNvSpPr/>
          <p:nvPr/>
        </p:nvSpPr>
        <p:spPr>
          <a:xfrm>
            <a:off x="640080" y="466344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Open Sans"/>
              <a:buNone/>
            </a:pPr>
            <a:r>
              <a:rPr lang="en-US" sz="1000" b="0" i="1" u="none" strike="noStrike" cap="none">
                <a:solidFill>
                  <a:srgbClr val="CADCFC"/>
                </a:solidFill>
                <a:latin typeface="Open Sans"/>
                <a:ea typeface="Open Sans"/>
                <a:cs typeface="Open Sans"/>
                <a:sym typeface="Open Sans"/>
              </a:rPr>
              <a:t>ZETA SPRINT 2026  |  Points Calculator &amp; Complete Guide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5F3FA9-5212-97CB-3B67-853EAD25B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329" y="9075"/>
            <a:ext cx="38923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50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177654712]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16D40E-EB77-4D82-BBF8-8165DC0BEA4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aec3906-8504-42ca-a66f-331297dcfdf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1956</Words>
  <Application>Microsoft Office PowerPoint</Application>
  <PresentationFormat>On-screen Show (16:9)</PresentationFormat>
  <Paragraphs>552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Montserrat</vt:lpstr>
      <vt:lpstr>Open Sans</vt:lpstr>
      <vt:lpstr>Arial</vt:lpstr>
      <vt:lpstr>Calibri</vt:lpstr>
      <vt:lpstr>Office Theme [1781177654712]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Ahmed Abdullah</cp:lastModifiedBy>
  <cp:revision>8</cp:revision>
  <dcterms:modified xsi:type="dcterms:W3CDTF">2026-09-02T07:39:36Z</dcterms:modified>
</cp:coreProperties>
</file>